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36" r:id="rId1"/>
  </p:sldMasterIdLst>
  <p:notesMasterIdLst>
    <p:notesMasterId r:id="rId53"/>
  </p:notesMasterIdLst>
  <p:sldIdLst>
    <p:sldId id="292" r:id="rId2"/>
    <p:sldId id="289" r:id="rId3"/>
    <p:sldId id="290" r:id="rId4"/>
    <p:sldId id="291" r:id="rId5"/>
    <p:sldId id="256" r:id="rId6"/>
    <p:sldId id="293" r:id="rId7"/>
    <p:sldId id="266" r:id="rId8"/>
    <p:sldId id="257" r:id="rId9"/>
    <p:sldId id="258" r:id="rId10"/>
    <p:sldId id="259" r:id="rId11"/>
    <p:sldId id="262" r:id="rId12"/>
    <p:sldId id="263" r:id="rId13"/>
    <p:sldId id="304" r:id="rId14"/>
    <p:sldId id="305" r:id="rId15"/>
    <p:sldId id="267" r:id="rId16"/>
    <p:sldId id="272" r:id="rId17"/>
    <p:sldId id="306" r:id="rId18"/>
    <p:sldId id="268" r:id="rId19"/>
    <p:sldId id="273" r:id="rId20"/>
    <p:sldId id="274" r:id="rId21"/>
    <p:sldId id="287" r:id="rId22"/>
    <p:sldId id="275" r:id="rId23"/>
    <p:sldId id="285" r:id="rId24"/>
    <p:sldId id="276" r:id="rId25"/>
    <p:sldId id="286" r:id="rId26"/>
    <p:sldId id="277" r:id="rId27"/>
    <p:sldId id="288" r:id="rId28"/>
    <p:sldId id="271" r:id="rId29"/>
    <p:sldId id="279" r:id="rId30"/>
    <p:sldId id="280" r:id="rId31"/>
    <p:sldId id="281" r:id="rId32"/>
    <p:sldId id="282" r:id="rId33"/>
    <p:sldId id="283" r:id="rId34"/>
    <p:sldId id="284" r:id="rId35"/>
    <p:sldId id="297" r:id="rId36"/>
    <p:sldId id="260" r:id="rId37"/>
    <p:sldId id="307" r:id="rId38"/>
    <p:sldId id="261" r:id="rId39"/>
    <p:sldId id="298" r:id="rId40"/>
    <p:sldId id="299" r:id="rId41"/>
    <p:sldId id="300" r:id="rId42"/>
    <p:sldId id="265" r:id="rId43"/>
    <p:sldId id="302" r:id="rId44"/>
    <p:sldId id="303" r:id="rId45"/>
    <p:sldId id="269" r:id="rId46"/>
    <p:sldId id="308" r:id="rId47"/>
    <p:sldId id="310" r:id="rId48"/>
    <p:sldId id="311" r:id="rId49"/>
    <p:sldId id="294" r:id="rId50"/>
    <p:sldId id="312" r:id="rId51"/>
    <p:sldId id="313" r:id="rId52"/>
  </p:sldIdLst>
  <p:sldSz cx="12192000" cy="6858000"/>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29" autoAdjust="0"/>
    <p:restoredTop sz="93818" autoAdjust="0"/>
  </p:normalViewPr>
  <p:slideViewPr>
    <p:cSldViewPr>
      <p:cViewPr varScale="1">
        <p:scale>
          <a:sx n="75" d="100"/>
          <a:sy n="75" d="100"/>
        </p:scale>
        <p:origin x="739" y="58"/>
      </p:cViewPr>
      <p:guideLst>
        <p:guide orient="horz" pos="2160"/>
        <p:guide pos="3840"/>
      </p:guideLst>
    </p:cSldViewPr>
  </p:slideViewPr>
  <p:outlineViewPr>
    <p:cViewPr>
      <p:scale>
        <a:sx n="40" d="100"/>
        <a:sy n="40"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0B05BE6-32EE-F1C0-585F-19F43921B9B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012883E5-36BF-3C36-E83F-975EDCC780E6}"/>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67D3742B-0F0A-40F6-930D-9E73F083F49D}" type="datetimeFigureOut">
              <a:rPr lang="en-US"/>
              <a:pPr>
                <a:defRPr/>
              </a:pPr>
              <a:t>7/10/2026</a:t>
            </a:fld>
            <a:endParaRPr lang="en-US"/>
          </a:p>
        </p:txBody>
      </p:sp>
      <p:sp>
        <p:nvSpPr>
          <p:cNvPr id="4" name="Slide Image Placeholder 3">
            <a:extLst>
              <a:ext uri="{FF2B5EF4-FFF2-40B4-BE49-F238E27FC236}">
                <a16:creationId xmlns:a16="http://schemas.microsoft.com/office/drawing/2014/main" id="{BA9728F4-5D57-E677-FF20-B714AB838785}"/>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E8E3A64A-91D8-9221-219D-81489403BD37}"/>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34629CE6-D4D6-B632-1007-5FB54AEA2BF9}"/>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id="{AA958935-A35C-AAC2-74B4-9C46D226A1CB}"/>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3D585F3-1F99-496A-B791-30C022395EE5}"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a:extLst>
              <a:ext uri="{FF2B5EF4-FFF2-40B4-BE49-F238E27FC236}">
                <a16:creationId xmlns:a16="http://schemas.microsoft.com/office/drawing/2014/main" id="{F15900B0-D636-5AF0-32FA-044E26769A6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a:extLst>
              <a:ext uri="{FF2B5EF4-FFF2-40B4-BE49-F238E27FC236}">
                <a16:creationId xmlns:a16="http://schemas.microsoft.com/office/drawing/2014/main" id="{43E4E407-5CAA-93BA-584F-60538F6EA3B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388" name="Slide Number Placeholder 3">
            <a:extLst>
              <a:ext uri="{FF2B5EF4-FFF2-40B4-BE49-F238E27FC236}">
                <a16:creationId xmlns:a16="http://schemas.microsoft.com/office/drawing/2014/main" id="{4658ADD8-8B90-BA97-1735-B459495AD5B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3F6C2E2-BEF6-47C0-9C95-8FFFE438B300}" type="slidenum">
              <a:rPr lang="en-US" altLang="en-US" sz="1200"/>
              <a:pPr/>
              <a:t>7</a:t>
            </a:fld>
            <a:endParaRPr lang="en-US" alt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64FC5385-D75E-096F-053C-36A5409620F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a:extLst>
              <a:ext uri="{FF2B5EF4-FFF2-40B4-BE49-F238E27FC236}">
                <a16:creationId xmlns:a16="http://schemas.microsoft.com/office/drawing/2014/main" id="{821ADEFF-5827-3D11-6764-6D973F7ED50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8436" name="Slide Number Placeholder 3">
            <a:extLst>
              <a:ext uri="{FF2B5EF4-FFF2-40B4-BE49-F238E27FC236}">
                <a16:creationId xmlns:a16="http://schemas.microsoft.com/office/drawing/2014/main" id="{64FD99A1-0FBE-9DE9-2056-C8D2A141DBC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F41B021-4DC1-4C5D-B209-BE32AC17DB96}" type="slidenum">
              <a:rPr lang="en-US" altLang="en-US" sz="1200"/>
              <a:pPr/>
              <a:t>8</a:t>
            </a:fld>
            <a:endParaRPr lang="en-US" altLang="en-US" sz="120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7CA2F37-716E-FF3F-65C5-CF9CDE230827}"/>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5" name="Rectangle 4">
            <a:extLst>
              <a:ext uri="{FF2B5EF4-FFF2-40B4-BE49-F238E27FC236}">
                <a16:creationId xmlns:a16="http://schemas.microsoft.com/office/drawing/2014/main" id="{1ED5F9E1-4B83-8555-49D5-3E1C6B571881}"/>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6" name="Picture 11">
            <a:extLst>
              <a:ext uri="{FF2B5EF4-FFF2-40B4-BE49-F238E27FC236}">
                <a16:creationId xmlns:a16="http://schemas.microsoft.com/office/drawing/2014/main" id="{0DD71897-FDB1-DACA-5ACE-801D6272010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324600"/>
            <a:ext cx="12192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
            <a:extLst>
              <a:ext uri="{FF2B5EF4-FFF2-40B4-BE49-F238E27FC236}">
                <a16:creationId xmlns:a16="http://schemas.microsoft.com/office/drawing/2014/main" id="{11BE632A-D024-9303-E0CF-481E23A92F43}"/>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540000" y="298450"/>
            <a:ext cx="77216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097280" y="758952"/>
            <a:ext cx="10058400" cy="3566160"/>
          </a:xfrm>
        </p:spPr>
        <p:txBody>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8" name="Date Placeholder 3">
            <a:extLst>
              <a:ext uri="{FF2B5EF4-FFF2-40B4-BE49-F238E27FC236}">
                <a16:creationId xmlns:a16="http://schemas.microsoft.com/office/drawing/2014/main" id="{C18D0920-342D-9CF3-3305-3C46789C2CB6}"/>
              </a:ext>
            </a:extLst>
          </p:cNvPr>
          <p:cNvSpPr>
            <a:spLocks noGrp="1"/>
          </p:cNvSpPr>
          <p:nvPr>
            <p:ph type="dt" sz="half" idx="10"/>
          </p:nvPr>
        </p:nvSpPr>
        <p:spPr/>
        <p:txBody>
          <a:bodyPr/>
          <a:lstStyle>
            <a:lvl1pPr>
              <a:defRPr/>
            </a:lvl1pPr>
          </a:lstStyle>
          <a:p>
            <a:pPr>
              <a:defRPr/>
            </a:pPr>
            <a:endParaRPr lang="en-US" altLang="en-US"/>
          </a:p>
        </p:txBody>
      </p:sp>
      <p:sp>
        <p:nvSpPr>
          <p:cNvPr id="9" name="Footer Placeholder 4">
            <a:extLst>
              <a:ext uri="{FF2B5EF4-FFF2-40B4-BE49-F238E27FC236}">
                <a16:creationId xmlns:a16="http://schemas.microsoft.com/office/drawing/2014/main" id="{4FCD79B0-55BD-BD7E-C888-B7FA81B89A18}"/>
              </a:ext>
            </a:extLst>
          </p:cNvPr>
          <p:cNvSpPr>
            <a:spLocks noGrp="1"/>
          </p:cNvSpPr>
          <p:nvPr>
            <p:ph type="ftr" sz="quarter" idx="11"/>
          </p:nvPr>
        </p:nvSpPr>
        <p:spPr/>
        <p:txBody>
          <a:bodyPr/>
          <a:lstStyle>
            <a:lvl1pPr>
              <a:defRPr/>
            </a:lvl1pPr>
          </a:lstStyle>
          <a:p>
            <a:pPr>
              <a:defRPr/>
            </a:pPr>
            <a:endParaRPr lang="en-US" altLang="en-US"/>
          </a:p>
        </p:txBody>
      </p:sp>
      <p:sp>
        <p:nvSpPr>
          <p:cNvPr id="10" name="Slide Number Placeholder 5">
            <a:extLst>
              <a:ext uri="{FF2B5EF4-FFF2-40B4-BE49-F238E27FC236}">
                <a16:creationId xmlns:a16="http://schemas.microsoft.com/office/drawing/2014/main" id="{D79C7B83-2C7A-A5E4-DD98-16C49FC6EE59}"/>
              </a:ext>
            </a:extLst>
          </p:cNvPr>
          <p:cNvSpPr>
            <a:spLocks noGrp="1"/>
          </p:cNvSpPr>
          <p:nvPr>
            <p:ph type="sldNum" sz="quarter" idx="12"/>
          </p:nvPr>
        </p:nvSpPr>
        <p:spPr/>
        <p:txBody>
          <a:bodyPr/>
          <a:lstStyle>
            <a:lvl1pPr>
              <a:defRPr/>
            </a:lvl1pPr>
          </a:lstStyle>
          <a:p>
            <a:fld id="{10707668-1335-4EEB-B87C-2414D33EB6D8}" type="slidenum">
              <a:rPr lang="en-US" altLang="en-US"/>
              <a:pPr/>
              <a:t>‹#›</a:t>
            </a:fld>
            <a:endParaRPr lang="en-US" altLang="en-US"/>
          </a:p>
        </p:txBody>
      </p:sp>
    </p:spTree>
    <p:extLst>
      <p:ext uri="{BB962C8B-B14F-4D97-AF65-F5344CB8AC3E}">
        <p14:creationId xmlns:p14="http://schemas.microsoft.com/office/powerpoint/2010/main" val="421357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pic>
        <p:nvPicPr>
          <p:cNvPr id="5" name="Picture 11">
            <a:extLst>
              <a:ext uri="{FF2B5EF4-FFF2-40B4-BE49-F238E27FC236}">
                <a16:creationId xmlns:a16="http://schemas.microsoft.com/office/drawing/2014/main" id="{5EDD3CB7-FB35-6DD1-408E-3AAB3D44C5B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324600"/>
            <a:ext cx="12192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0" y="0"/>
            <a:ext cx="10058400" cy="609600"/>
          </a:xfrm>
        </p:spPr>
        <p:txBody>
          <a:bodyPr>
            <a:noAutofit/>
          </a:bodyPr>
          <a:lstStyle>
            <a:lvl1pPr marL="0">
              <a:defRPr sz="36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6" name="Date Placeholder 3">
            <a:extLst>
              <a:ext uri="{FF2B5EF4-FFF2-40B4-BE49-F238E27FC236}">
                <a16:creationId xmlns:a16="http://schemas.microsoft.com/office/drawing/2014/main" id="{9A10C19E-EAB1-0CC6-C959-341D830F8881}"/>
              </a:ext>
            </a:extLst>
          </p:cNvPr>
          <p:cNvSpPr>
            <a:spLocks noGrp="1"/>
          </p:cNvSpPr>
          <p:nvPr>
            <p:ph type="dt" sz="half" idx="10"/>
          </p:nvPr>
        </p:nvSpPr>
        <p:spPr/>
        <p:txBody>
          <a:bodyPr/>
          <a:lstStyle>
            <a:lvl1pPr>
              <a:defRPr/>
            </a:lvl1pPr>
          </a:lstStyle>
          <a:p>
            <a:pPr>
              <a:defRPr/>
            </a:pPr>
            <a:endParaRPr lang="en-US" altLang="en-US"/>
          </a:p>
        </p:txBody>
      </p:sp>
      <p:sp>
        <p:nvSpPr>
          <p:cNvPr id="7" name="Footer Placeholder 4">
            <a:extLst>
              <a:ext uri="{FF2B5EF4-FFF2-40B4-BE49-F238E27FC236}">
                <a16:creationId xmlns:a16="http://schemas.microsoft.com/office/drawing/2014/main" id="{2382EE52-34A9-5A77-14D9-29FF2747CE83}"/>
              </a:ext>
            </a:extLst>
          </p:cNvPr>
          <p:cNvSpPr>
            <a:spLocks noGrp="1"/>
          </p:cNvSpPr>
          <p:nvPr>
            <p:ph type="ftr" sz="quarter" idx="11"/>
          </p:nvPr>
        </p:nvSpPr>
        <p:spPr/>
        <p:txBody>
          <a:bodyPr/>
          <a:lstStyle>
            <a:lvl1pPr>
              <a:defRPr/>
            </a:lvl1pPr>
          </a:lstStyle>
          <a:p>
            <a:pPr>
              <a:defRPr/>
            </a:pPr>
            <a:endParaRPr lang="en-US" altLang="en-US"/>
          </a:p>
        </p:txBody>
      </p:sp>
      <p:sp>
        <p:nvSpPr>
          <p:cNvPr id="8" name="Slide Number Placeholder 5">
            <a:extLst>
              <a:ext uri="{FF2B5EF4-FFF2-40B4-BE49-F238E27FC236}">
                <a16:creationId xmlns:a16="http://schemas.microsoft.com/office/drawing/2014/main" id="{89E44D93-5877-1FBF-76B5-26919C9FA90B}"/>
              </a:ext>
            </a:extLst>
          </p:cNvPr>
          <p:cNvSpPr>
            <a:spLocks noGrp="1"/>
          </p:cNvSpPr>
          <p:nvPr>
            <p:ph type="sldNum" sz="quarter" idx="12"/>
          </p:nvPr>
        </p:nvSpPr>
        <p:spPr/>
        <p:txBody>
          <a:bodyPr/>
          <a:lstStyle>
            <a:lvl1pPr>
              <a:defRPr/>
            </a:lvl1pPr>
          </a:lstStyle>
          <a:p>
            <a:fld id="{F10DC1ED-5443-458E-8FA3-EF6E6EBDAE57}" type="slidenum">
              <a:rPr lang="en-US" altLang="en-US"/>
              <a:pPr/>
              <a:t>‹#›</a:t>
            </a:fld>
            <a:endParaRPr lang="en-US" altLang="en-US"/>
          </a:p>
        </p:txBody>
      </p:sp>
      <p:sp>
        <p:nvSpPr>
          <p:cNvPr id="3" name="Content Placeholder 2"/>
          <p:cNvSpPr>
            <a:spLocks noGrp="1"/>
          </p:cNvSpPr>
          <p:nvPr>
            <p:ph idx="1"/>
          </p:nvPr>
        </p:nvSpPr>
        <p:spPr>
          <a:xfrm>
            <a:off x="29066" y="862577"/>
            <a:ext cx="12086734" cy="5428686"/>
          </a:xfrm>
        </p:spPr>
        <p:txBody>
          <a:bodyPr/>
          <a:lstStyle>
            <a:lvl1pPr>
              <a:defRPr sz="2400">
                <a:latin typeface="Times New Roman" panose="02020603050405020304" pitchFamily="18" charset="0"/>
                <a:cs typeface="Times New Roman" panose="02020603050405020304" pitchFamily="18" charset="0"/>
              </a:defRPr>
            </a:lvl1pPr>
            <a:lvl2pPr>
              <a:defRPr sz="2400">
                <a:latin typeface="Times New Roman" panose="02020603050405020304" pitchFamily="18" charset="0"/>
                <a:cs typeface="Times New Roman" panose="02020603050405020304" pitchFamily="18" charset="0"/>
              </a:defRPr>
            </a:lvl2pPr>
            <a:lvl3pPr>
              <a:defRPr sz="2400">
                <a:latin typeface="Times New Roman" panose="02020603050405020304" pitchFamily="18" charset="0"/>
                <a:cs typeface="Times New Roman" panose="02020603050405020304" pitchFamily="18" charset="0"/>
              </a:defRPr>
            </a:lvl3pPr>
            <a:lvl4pPr>
              <a:defRPr sz="2400">
                <a:latin typeface="Times New Roman" panose="02020603050405020304" pitchFamily="18" charset="0"/>
                <a:cs typeface="Times New Roman" panose="02020603050405020304" pitchFamily="18" charset="0"/>
              </a:defRPr>
            </a:lvl4pPr>
            <a:lvl5pPr>
              <a:defRPr sz="2400">
                <a:latin typeface="Times New Roman" panose="02020603050405020304" pitchFamily="18" charset="0"/>
                <a:cs typeface="Times New Roman" panose="020206030504050203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Picture 11">
            <a:extLst>
              <a:ext uri="{FF2B5EF4-FFF2-40B4-BE49-F238E27FC236}">
                <a16:creationId xmlns:a16="http://schemas.microsoft.com/office/drawing/2014/main" id="{8C57CB01-A6E6-893D-0408-738A1AA898D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055100" y="0"/>
            <a:ext cx="2136900" cy="612000"/>
          </a:xfrm>
          <a:prstGeom prst="rect">
            <a:avLst/>
          </a:prstGeom>
        </p:spPr>
      </p:pic>
      <p:cxnSp>
        <p:nvCxnSpPr>
          <p:cNvPr id="14" name="Straight Connector 13">
            <a:extLst>
              <a:ext uri="{FF2B5EF4-FFF2-40B4-BE49-F238E27FC236}">
                <a16:creationId xmlns:a16="http://schemas.microsoft.com/office/drawing/2014/main" id="{20A91B4A-D9D8-2140-5B79-86347CE8DBE0}"/>
              </a:ext>
            </a:extLst>
          </p:cNvPr>
          <p:cNvCxnSpPr/>
          <p:nvPr userDrawn="1"/>
        </p:nvCxnSpPr>
        <p:spPr>
          <a:xfrm>
            <a:off x="0" y="609600"/>
            <a:ext cx="12192000" cy="0"/>
          </a:xfrm>
          <a:prstGeom prst="line">
            <a:avLst/>
          </a:prstGeom>
          <a:ln>
            <a:solidFill>
              <a:schemeClr val="bg2">
                <a:lumMod val="50000"/>
              </a:schemeClr>
            </a:solidFill>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402567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8B1D1CE-8704-5617-89A6-3840D9E3947A}"/>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a:extLst>
              <a:ext uri="{FF2B5EF4-FFF2-40B4-BE49-F238E27FC236}">
                <a16:creationId xmlns:a16="http://schemas.microsoft.com/office/drawing/2014/main" id="{ABB7A8F0-FA64-3D0C-7BD7-22EA9A6936B6}"/>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5">
            <a:extLst>
              <a:ext uri="{FF2B5EF4-FFF2-40B4-BE49-F238E27FC236}">
                <a16:creationId xmlns:a16="http://schemas.microsoft.com/office/drawing/2014/main" id="{0A732952-5BC7-98E6-E446-8527E6449F98}"/>
              </a:ext>
            </a:extLst>
          </p:cNvPr>
          <p:cNvCxnSpPr/>
          <p:nvPr/>
        </p:nvCxnSpPr>
        <p:spPr>
          <a:xfrm>
            <a:off x="1208088" y="4343400"/>
            <a:ext cx="987583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097280" y="758952"/>
            <a:ext cx="10058400" cy="3566160"/>
          </a:xfrm>
        </p:spPr>
        <p:txBody>
          <a:bodyPr anchorCtr="0"/>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7" name="Date Placeholder 3">
            <a:extLst>
              <a:ext uri="{FF2B5EF4-FFF2-40B4-BE49-F238E27FC236}">
                <a16:creationId xmlns:a16="http://schemas.microsoft.com/office/drawing/2014/main" id="{FF164B00-4F1A-865A-E71F-BF9E7AC1370C}"/>
              </a:ext>
            </a:extLst>
          </p:cNvPr>
          <p:cNvSpPr>
            <a:spLocks noGrp="1"/>
          </p:cNvSpPr>
          <p:nvPr>
            <p:ph type="dt" sz="half" idx="10"/>
          </p:nvPr>
        </p:nvSpPr>
        <p:spPr/>
        <p:txBody>
          <a:bodyPr/>
          <a:lstStyle>
            <a:lvl1pPr>
              <a:defRPr/>
            </a:lvl1pPr>
          </a:lstStyle>
          <a:p>
            <a:pPr>
              <a:defRPr/>
            </a:pPr>
            <a:endParaRPr lang="en-US" altLang="en-US"/>
          </a:p>
        </p:txBody>
      </p:sp>
      <p:sp>
        <p:nvSpPr>
          <p:cNvPr id="8" name="Footer Placeholder 4">
            <a:extLst>
              <a:ext uri="{FF2B5EF4-FFF2-40B4-BE49-F238E27FC236}">
                <a16:creationId xmlns:a16="http://schemas.microsoft.com/office/drawing/2014/main" id="{DA0DB424-BBCC-51AD-9EDB-E7031FECAF8B}"/>
              </a:ext>
            </a:extLst>
          </p:cNvPr>
          <p:cNvSpPr>
            <a:spLocks noGrp="1"/>
          </p:cNvSpPr>
          <p:nvPr>
            <p:ph type="ftr" sz="quarter" idx="11"/>
          </p:nvPr>
        </p:nvSpPr>
        <p:spPr/>
        <p:txBody>
          <a:bodyPr/>
          <a:lstStyle>
            <a:lvl1pPr>
              <a:defRPr/>
            </a:lvl1pPr>
          </a:lstStyle>
          <a:p>
            <a:pPr>
              <a:defRPr/>
            </a:pPr>
            <a:endParaRPr lang="en-US" altLang="en-US"/>
          </a:p>
        </p:txBody>
      </p:sp>
      <p:sp>
        <p:nvSpPr>
          <p:cNvPr id="9" name="Slide Number Placeholder 5">
            <a:extLst>
              <a:ext uri="{FF2B5EF4-FFF2-40B4-BE49-F238E27FC236}">
                <a16:creationId xmlns:a16="http://schemas.microsoft.com/office/drawing/2014/main" id="{3C528FCC-8318-6200-6E1A-DBD2E5BD5167}"/>
              </a:ext>
            </a:extLst>
          </p:cNvPr>
          <p:cNvSpPr>
            <a:spLocks noGrp="1"/>
          </p:cNvSpPr>
          <p:nvPr>
            <p:ph type="sldNum" sz="quarter" idx="12"/>
          </p:nvPr>
        </p:nvSpPr>
        <p:spPr/>
        <p:txBody>
          <a:bodyPr/>
          <a:lstStyle>
            <a:lvl1pPr>
              <a:defRPr/>
            </a:lvl1pPr>
          </a:lstStyle>
          <a:p>
            <a:fld id="{D79FEE23-F055-4237-9C37-44895F21754D}" type="slidenum">
              <a:rPr lang="en-US" altLang="en-US"/>
              <a:pPr/>
              <a:t>‹#›</a:t>
            </a:fld>
            <a:endParaRPr lang="en-US" altLang="en-US"/>
          </a:p>
        </p:txBody>
      </p:sp>
    </p:spTree>
    <p:extLst>
      <p:ext uri="{BB962C8B-B14F-4D97-AF65-F5344CB8AC3E}">
        <p14:creationId xmlns:p14="http://schemas.microsoft.com/office/powerpoint/2010/main" val="2770724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3">
            <a:extLst>
              <a:ext uri="{FF2B5EF4-FFF2-40B4-BE49-F238E27FC236}">
                <a16:creationId xmlns:a16="http://schemas.microsoft.com/office/drawing/2014/main" id="{82130C1D-6352-2ADA-D6BE-408D6852DA3E}"/>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7C27E576-4104-96F2-1677-B5A420D6557B}"/>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7D8B50E3-5F20-2FDE-E980-120A763DD4A6}"/>
              </a:ext>
            </a:extLst>
          </p:cNvPr>
          <p:cNvSpPr>
            <a:spLocks noGrp="1"/>
          </p:cNvSpPr>
          <p:nvPr>
            <p:ph type="sldNum" sz="quarter" idx="12"/>
          </p:nvPr>
        </p:nvSpPr>
        <p:spPr/>
        <p:txBody>
          <a:bodyPr/>
          <a:lstStyle>
            <a:lvl1pPr>
              <a:defRPr/>
            </a:lvl1pPr>
          </a:lstStyle>
          <a:p>
            <a:fld id="{FA98B648-85D9-40D6-9E2F-45E5FBC7C9BF}" type="slidenum">
              <a:rPr lang="en-US" altLang="en-US"/>
              <a:pPr/>
              <a:t>‹#›</a:t>
            </a:fld>
            <a:endParaRPr lang="en-US" altLang="en-US"/>
          </a:p>
        </p:txBody>
      </p:sp>
    </p:spTree>
    <p:extLst>
      <p:ext uri="{BB962C8B-B14F-4D97-AF65-F5344CB8AC3E}">
        <p14:creationId xmlns:p14="http://schemas.microsoft.com/office/powerpoint/2010/main" val="10727098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3">
            <a:extLst>
              <a:ext uri="{FF2B5EF4-FFF2-40B4-BE49-F238E27FC236}">
                <a16:creationId xmlns:a16="http://schemas.microsoft.com/office/drawing/2014/main" id="{2AA9363A-C019-DFC1-D62C-7508BCA4FFED}"/>
              </a:ext>
            </a:extLst>
          </p:cNvPr>
          <p:cNvSpPr>
            <a:spLocks noGrp="1"/>
          </p:cNvSpPr>
          <p:nvPr>
            <p:ph type="dt" sz="half" idx="10"/>
          </p:nvPr>
        </p:nvSpPr>
        <p:spPr/>
        <p:txBody>
          <a:bodyPr/>
          <a:lstStyle>
            <a:lvl1pPr>
              <a:defRPr/>
            </a:lvl1pPr>
          </a:lstStyle>
          <a:p>
            <a:pPr>
              <a:defRPr/>
            </a:pPr>
            <a:endParaRPr lang="en-US" altLang="en-US"/>
          </a:p>
        </p:txBody>
      </p:sp>
      <p:sp>
        <p:nvSpPr>
          <p:cNvPr id="7" name="Footer Placeholder 4">
            <a:extLst>
              <a:ext uri="{FF2B5EF4-FFF2-40B4-BE49-F238E27FC236}">
                <a16:creationId xmlns:a16="http://schemas.microsoft.com/office/drawing/2014/main" id="{C4B9CC89-EB92-934A-AB70-CDA1B1EFE6D8}"/>
              </a:ext>
            </a:extLst>
          </p:cNvPr>
          <p:cNvSpPr>
            <a:spLocks noGrp="1"/>
          </p:cNvSpPr>
          <p:nvPr>
            <p:ph type="ftr" sz="quarter" idx="11"/>
          </p:nvPr>
        </p:nvSpPr>
        <p:spPr/>
        <p:txBody>
          <a:bodyPr/>
          <a:lstStyle>
            <a:lvl1pPr>
              <a:defRPr/>
            </a:lvl1pPr>
          </a:lstStyle>
          <a:p>
            <a:pPr>
              <a:defRPr/>
            </a:pPr>
            <a:endParaRPr lang="en-US" altLang="en-US"/>
          </a:p>
        </p:txBody>
      </p:sp>
      <p:sp>
        <p:nvSpPr>
          <p:cNvPr id="8" name="Slide Number Placeholder 5">
            <a:extLst>
              <a:ext uri="{FF2B5EF4-FFF2-40B4-BE49-F238E27FC236}">
                <a16:creationId xmlns:a16="http://schemas.microsoft.com/office/drawing/2014/main" id="{D8D95777-78FB-4CBB-172D-B7342B86B5A0}"/>
              </a:ext>
            </a:extLst>
          </p:cNvPr>
          <p:cNvSpPr>
            <a:spLocks noGrp="1"/>
          </p:cNvSpPr>
          <p:nvPr>
            <p:ph type="sldNum" sz="quarter" idx="12"/>
          </p:nvPr>
        </p:nvSpPr>
        <p:spPr/>
        <p:txBody>
          <a:bodyPr/>
          <a:lstStyle>
            <a:lvl1pPr>
              <a:defRPr/>
            </a:lvl1pPr>
          </a:lstStyle>
          <a:p>
            <a:fld id="{803FB283-0452-4911-ACF3-809215785C74}" type="slidenum">
              <a:rPr lang="en-US" altLang="en-US"/>
              <a:pPr/>
              <a:t>‹#›</a:t>
            </a:fld>
            <a:endParaRPr lang="en-US" altLang="en-US"/>
          </a:p>
        </p:txBody>
      </p:sp>
    </p:spTree>
    <p:extLst>
      <p:ext uri="{BB962C8B-B14F-4D97-AF65-F5344CB8AC3E}">
        <p14:creationId xmlns:p14="http://schemas.microsoft.com/office/powerpoint/2010/main" val="65896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B31B3ECF-345B-91BE-06EC-4A775DD87967}"/>
              </a:ext>
            </a:extLst>
          </p:cNvPr>
          <p:cNvSpPr>
            <a:spLocks noGrp="1"/>
          </p:cNvSpPr>
          <p:nvPr>
            <p:ph type="dt" sz="half" idx="10"/>
          </p:nvPr>
        </p:nvSpPr>
        <p:spPr/>
        <p:txBody>
          <a:bodyPr/>
          <a:lstStyle>
            <a:lvl1pPr>
              <a:defRPr/>
            </a:lvl1pPr>
          </a:lstStyle>
          <a:p>
            <a:pPr>
              <a:defRPr/>
            </a:pPr>
            <a:endParaRPr lang="en-US" altLang="en-US"/>
          </a:p>
        </p:txBody>
      </p:sp>
      <p:sp>
        <p:nvSpPr>
          <p:cNvPr id="4" name="Footer Placeholder 4">
            <a:extLst>
              <a:ext uri="{FF2B5EF4-FFF2-40B4-BE49-F238E27FC236}">
                <a16:creationId xmlns:a16="http://schemas.microsoft.com/office/drawing/2014/main" id="{771BCFB0-2D22-15A7-5125-18023128F737}"/>
              </a:ext>
            </a:extLst>
          </p:cNvPr>
          <p:cNvSpPr>
            <a:spLocks noGrp="1"/>
          </p:cNvSpPr>
          <p:nvPr>
            <p:ph type="ftr" sz="quarter" idx="11"/>
          </p:nvPr>
        </p:nvSpPr>
        <p:spPr/>
        <p:txBody>
          <a:bodyPr/>
          <a:lstStyle>
            <a:lvl1pPr>
              <a:defRPr/>
            </a:lvl1pPr>
          </a:lstStyle>
          <a:p>
            <a:pPr>
              <a:defRPr/>
            </a:pPr>
            <a:endParaRPr lang="en-US" altLang="en-US"/>
          </a:p>
        </p:txBody>
      </p:sp>
      <p:sp>
        <p:nvSpPr>
          <p:cNvPr id="5" name="Slide Number Placeholder 5">
            <a:extLst>
              <a:ext uri="{FF2B5EF4-FFF2-40B4-BE49-F238E27FC236}">
                <a16:creationId xmlns:a16="http://schemas.microsoft.com/office/drawing/2014/main" id="{D0E2CE2E-02BD-FE6D-1DC6-C8C76241F159}"/>
              </a:ext>
            </a:extLst>
          </p:cNvPr>
          <p:cNvSpPr>
            <a:spLocks noGrp="1"/>
          </p:cNvSpPr>
          <p:nvPr>
            <p:ph type="sldNum" sz="quarter" idx="12"/>
          </p:nvPr>
        </p:nvSpPr>
        <p:spPr/>
        <p:txBody>
          <a:bodyPr/>
          <a:lstStyle>
            <a:lvl1pPr>
              <a:defRPr/>
            </a:lvl1pPr>
          </a:lstStyle>
          <a:p>
            <a:fld id="{96A14898-F8D6-4030-BB9F-51E0441C1BBD}" type="slidenum">
              <a:rPr lang="en-US" altLang="en-US"/>
              <a:pPr/>
              <a:t>‹#›</a:t>
            </a:fld>
            <a:endParaRPr lang="en-US" altLang="en-US"/>
          </a:p>
        </p:txBody>
      </p:sp>
    </p:spTree>
    <p:extLst>
      <p:ext uri="{BB962C8B-B14F-4D97-AF65-F5344CB8AC3E}">
        <p14:creationId xmlns:p14="http://schemas.microsoft.com/office/powerpoint/2010/main" val="3097317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B59BFA8-EB26-E90B-765A-013B5B9A093E}"/>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2">
            <a:extLst>
              <a:ext uri="{FF2B5EF4-FFF2-40B4-BE49-F238E27FC236}">
                <a16:creationId xmlns:a16="http://schemas.microsoft.com/office/drawing/2014/main" id="{2A97BDE5-0D49-C3C5-DF88-9A404C3FCFED}"/>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6">
            <a:extLst>
              <a:ext uri="{FF2B5EF4-FFF2-40B4-BE49-F238E27FC236}">
                <a16:creationId xmlns:a16="http://schemas.microsoft.com/office/drawing/2014/main" id="{B2EBA728-C528-707C-3A6C-455B54F8A897}"/>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7">
            <a:extLst>
              <a:ext uri="{FF2B5EF4-FFF2-40B4-BE49-F238E27FC236}">
                <a16:creationId xmlns:a16="http://schemas.microsoft.com/office/drawing/2014/main" id="{C5F3502B-63EE-3463-FF22-943B5E94B2F6}"/>
              </a:ext>
            </a:extLst>
          </p:cNvPr>
          <p:cNvSpPr>
            <a:spLocks noGrp="1"/>
          </p:cNvSpPr>
          <p:nvPr>
            <p:ph type="ftr" sz="quarter" idx="11"/>
          </p:nvPr>
        </p:nvSpPr>
        <p:spPr/>
        <p:txBody>
          <a:bodyPr/>
          <a:lstStyle>
            <a:lvl1pPr>
              <a:defRPr>
                <a:solidFill>
                  <a:srgbClr val="FFFFFF"/>
                </a:solidFill>
              </a:defRPr>
            </a:lvl1pPr>
          </a:lstStyle>
          <a:p>
            <a:pPr>
              <a:defRPr/>
            </a:pPr>
            <a:endParaRPr lang="en-US" altLang="en-US"/>
          </a:p>
        </p:txBody>
      </p:sp>
      <p:sp>
        <p:nvSpPr>
          <p:cNvPr id="6" name="Slide Number Placeholder 8">
            <a:extLst>
              <a:ext uri="{FF2B5EF4-FFF2-40B4-BE49-F238E27FC236}">
                <a16:creationId xmlns:a16="http://schemas.microsoft.com/office/drawing/2014/main" id="{DE0E0F44-FF27-5133-9253-7A825A3E08C2}"/>
              </a:ext>
            </a:extLst>
          </p:cNvPr>
          <p:cNvSpPr>
            <a:spLocks noGrp="1"/>
          </p:cNvSpPr>
          <p:nvPr>
            <p:ph type="sldNum" sz="quarter" idx="12"/>
          </p:nvPr>
        </p:nvSpPr>
        <p:spPr/>
        <p:txBody>
          <a:bodyPr/>
          <a:lstStyle>
            <a:lvl1pPr>
              <a:defRPr/>
            </a:lvl1pPr>
          </a:lstStyle>
          <a:p>
            <a:fld id="{DBAB6D9C-86AF-46F6-8FEB-45C2FC6F31BC}" type="slidenum">
              <a:rPr lang="en-US" altLang="en-US"/>
              <a:pPr/>
              <a:t>‹#›</a:t>
            </a:fld>
            <a:endParaRPr lang="en-US" altLang="en-US"/>
          </a:p>
        </p:txBody>
      </p:sp>
    </p:spTree>
    <p:extLst>
      <p:ext uri="{BB962C8B-B14F-4D97-AF65-F5344CB8AC3E}">
        <p14:creationId xmlns:p14="http://schemas.microsoft.com/office/powerpoint/2010/main" val="3092235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6CF36FD-EDBD-A8ED-3EDA-64F6F062CF42}"/>
              </a:ext>
            </a:extLst>
          </p:cNvPr>
          <p:cNvSpPr/>
          <p:nvPr/>
        </p:nvSpPr>
        <p:spPr>
          <a:xfrm>
            <a:off x="0" y="0"/>
            <a:ext cx="40513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95FF43B7-6A14-CF55-3330-461EAC864F99}"/>
              </a:ext>
            </a:extLst>
          </p:cNvPr>
          <p:cNvSpPr/>
          <p:nvPr/>
        </p:nvSpPr>
        <p:spPr>
          <a:xfrm>
            <a:off x="4040188" y="0"/>
            <a:ext cx="635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a:extLst>
              <a:ext uri="{FF2B5EF4-FFF2-40B4-BE49-F238E27FC236}">
                <a16:creationId xmlns:a16="http://schemas.microsoft.com/office/drawing/2014/main" id="{41B3E1F2-A6F3-9714-5776-8ECB6D897B2E}"/>
              </a:ext>
            </a:extLst>
          </p:cNvPr>
          <p:cNvSpPr>
            <a:spLocks noGrp="1"/>
          </p:cNvSpPr>
          <p:nvPr>
            <p:ph type="dt" sz="half" idx="10"/>
          </p:nvPr>
        </p:nvSpPr>
        <p:spPr>
          <a:xfrm>
            <a:off x="465138" y="6459538"/>
            <a:ext cx="2619375" cy="365125"/>
          </a:xfrm>
        </p:spPr>
        <p:txBody>
          <a:bodyPr/>
          <a:lstStyle>
            <a:lvl1pPr algn="l">
              <a:defRPr/>
            </a:lvl1pPr>
          </a:lstStyle>
          <a:p>
            <a:pPr>
              <a:defRPr/>
            </a:pPr>
            <a:endParaRPr lang="en-US" altLang="en-US"/>
          </a:p>
        </p:txBody>
      </p:sp>
      <p:sp>
        <p:nvSpPr>
          <p:cNvPr id="8" name="Footer Placeholder 5">
            <a:extLst>
              <a:ext uri="{FF2B5EF4-FFF2-40B4-BE49-F238E27FC236}">
                <a16:creationId xmlns:a16="http://schemas.microsoft.com/office/drawing/2014/main" id="{7A5A5EA2-30E3-6FFD-B26C-BD092DC2732E}"/>
              </a:ext>
            </a:extLst>
          </p:cNvPr>
          <p:cNvSpPr>
            <a:spLocks noGrp="1"/>
          </p:cNvSpPr>
          <p:nvPr>
            <p:ph type="ftr" sz="quarter" idx="11"/>
          </p:nvPr>
        </p:nvSpPr>
        <p:spPr>
          <a:xfrm>
            <a:off x="4800600" y="6459538"/>
            <a:ext cx="4648200" cy="365125"/>
          </a:xfrm>
        </p:spPr>
        <p:txBody>
          <a:bodyPr/>
          <a:lstStyle>
            <a:lvl1pPr algn="l">
              <a:defRPr>
                <a:solidFill>
                  <a:schemeClr val="tx2"/>
                </a:solidFill>
              </a:defRPr>
            </a:lvl1pPr>
          </a:lstStyle>
          <a:p>
            <a:pPr>
              <a:defRPr/>
            </a:pPr>
            <a:endParaRPr lang="en-US" altLang="en-US"/>
          </a:p>
        </p:txBody>
      </p:sp>
      <p:sp>
        <p:nvSpPr>
          <p:cNvPr id="9" name="Slide Number Placeholder 6">
            <a:extLst>
              <a:ext uri="{FF2B5EF4-FFF2-40B4-BE49-F238E27FC236}">
                <a16:creationId xmlns:a16="http://schemas.microsoft.com/office/drawing/2014/main" id="{8C2697D2-246A-C63B-41D5-1C711AF2E672}"/>
              </a:ext>
            </a:extLst>
          </p:cNvPr>
          <p:cNvSpPr>
            <a:spLocks noGrp="1"/>
          </p:cNvSpPr>
          <p:nvPr>
            <p:ph type="sldNum" sz="quarter" idx="12"/>
          </p:nvPr>
        </p:nvSpPr>
        <p:spPr/>
        <p:txBody>
          <a:bodyPr/>
          <a:lstStyle>
            <a:lvl1pPr>
              <a:defRPr>
                <a:solidFill>
                  <a:schemeClr val="tx2"/>
                </a:solidFill>
              </a:defRPr>
            </a:lvl1pPr>
          </a:lstStyle>
          <a:p>
            <a:fld id="{D51C5565-9D05-43D9-99C7-F20A0DE61FE6}" type="slidenum">
              <a:rPr lang="en-US" altLang="en-US"/>
              <a:pPr/>
              <a:t>‹#›</a:t>
            </a:fld>
            <a:endParaRPr lang="en-US" altLang="en-US"/>
          </a:p>
        </p:txBody>
      </p:sp>
    </p:spTree>
    <p:extLst>
      <p:ext uri="{BB962C8B-B14F-4D97-AF65-F5344CB8AC3E}">
        <p14:creationId xmlns:p14="http://schemas.microsoft.com/office/powerpoint/2010/main" val="7866963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C50D316-B773-EA55-7CFE-BAC27D43A406}"/>
              </a:ext>
            </a:extLst>
          </p:cNvPr>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39C14444-09B4-BBA0-1FC6-916AE1526A08}"/>
              </a:ext>
            </a:extLst>
          </p:cNvPr>
          <p:cNvSpPr/>
          <p:nvPr/>
        </p:nvSpPr>
        <p:spPr>
          <a:xfrm>
            <a:off x="0" y="4914900"/>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tIns="0" bIns="0">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rtlCol="0">
            <a:normAutofit/>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a:extLst>
              <a:ext uri="{FF2B5EF4-FFF2-40B4-BE49-F238E27FC236}">
                <a16:creationId xmlns:a16="http://schemas.microsoft.com/office/drawing/2014/main" id="{18C23517-BE3F-104B-78F9-9FA9F0830872}"/>
              </a:ext>
            </a:extLst>
          </p:cNvPr>
          <p:cNvSpPr>
            <a:spLocks noGrp="1"/>
          </p:cNvSpPr>
          <p:nvPr>
            <p:ph type="dt" sz="half" idx="10"/>
          </p:nvPr>
        </p:nvSpPr>
        <p:spPr/>
        <p:txBody>
          <a:bodyPr/>
          <a:lstStyle>
            <a:lvl1pPr>
              <a:defRPr/>
            </a:lvl1pPr>
          </a:lstStyle>
          <a:p>
            <a:pPr>
              <a:defRPr/>
            </a:pPr>
            <a:endParaRPr lang="en-US" altLang="en-US"/>
          </a:p>
        </p:txBody>
      </p:sp>
      <p:sp>
        <p:nvSpPr>
          <p:cNvPr id="8" name="Footer Placeholder 5">
            <a:extLst>
              <a:ext uri="{FF2B5EF4-FFF2-40B4-BE49-F238E27FC236}">
                <a16:creationId xmlns:a16="http://schemas.microsoft.com/office/drawing/2014/main" id="{412F679F-C093-10C1-2DE8-10D36DC995B0}"/>
              </a:ext>
            </a:extLst>
          </p:cNvPr>
          <p:cNvSpPr>
            <a:spLocks noGrp="1"/>
          </p:cNvSpPr>
          <p:nvPr>
            <p:ph type="ftr" sz="quarter" idx="11"/>
          </p:nvPr>
        </p:nvSpPr>
        <p:spPr/>
        <p:txBody>
          <a:bodyPr/>
          <a:lstStyle>
            <a:lvl1pPr>
              <a:defRPr/>
            </a:lvl1pPr>
          </a:lstStyle>
          <a:p>
            <a:pPr>
              <a:defRPr/>
            </a:pPr>
            <a:endParaRPr lang="en-US" altLang="en-US"/>
          </a:p>
        </p:txBody>
      </p:sp>
      <p:sp>
        <p:nvSpPr>
          <p:cNvPr id="9" name="Slide Number Placeholder 6">
            <a:extLst>
              <a:ext uri="{FF2B5EF4-FFF2-40B4-BE49-F238E27FC236}">
                <a16:creationId xmlns:a16="http://schemas.microsoft.com/office/drawing/2014/main" id="{95469FB8-B657-2ECA-CFF4-CDCB6A1924C7}"/>
              </a:ext>
            </a:extLst>
          </p:cNvPr>
          <p:cNvSpPr>
            <a:spLocks noGrp="1"/>
          </p:cNvSpPr>
          <p:nvPr>
            <p:ph type="sldNum" sz="quarter" idx="12"/>
          </p:nvPr>
        </p:nvSpPr>
        <p:spPr/>
        <p:txBody>
          <a:bodyPr/>
          <a:lstStyle>
            <a:lvl1pPr>
              <a:defRPr/>
            </a:lvl1pPr>
          </a:lstStyle>
          <a:p>
            <a:fld id="{EFBBEF21-98DE-428D-B4EA-6AEEA659C251}" type="slidenum">
              <a:rPr lang="en-US" altLang="en-US"/>
              <a:pPr/>
              <a:t>‹#›</a:t>
            </a:fld>
            <a:endParaRPr lang="en-US" altLang="en-US"/>
          </a:p>
        </p:txBody>
      </p:sp>
    </p:spTree>
    <p:extLst>
      <p:ext uri="{BB962C8B-B14F-4D97-AF65-F5344CB8AC3E}">
        <p14:creationId xmlns:p14="http://schemas.microsoft.com/office/powerpoint/2010/main" val="403095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707BEF4-B425-B7B0-B12B-7F791FF72C69}"/>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17B795FA-8ED7-8793-E90A-765B032E5B1E}"/>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9CF3D031-896A-7140-3846-3ECE0C70CAEE}"/>
              </a:ext>
            </a:extLst>
          </p:cNvPr>
          <p:cNvSpPr>
            <a:spLocks noGrp="1"/>
          </p:cNvSpPr>
          <p:nvPr>
            <p:ph type="sldNum" sz="quarter" idx="12"/>
          </p:nvPr>
        </p:nvSpPr>
        <p:spPr/>
        <p:txBody>
          <a:bodyPr/>
          <a:lstStyle>
            <a:lvl1pPr>
              <a:defRPr/>
            </a:lvl1pPr>
          </a:lstStyle>
          <a:p>
            <a:fld id="{C15A6EE3-D4CF-42A2-A245-0107DD56B4AF}" type="slidenum">
              <a:rPr lang="en-US" altLang="en-US"/>
              <a:pPr/>
              <a:t>‹#›</a:t>
            </a:fld>
            <a:endParaRPr lang="en-US" altLang="en-US"/>
          </a:p>
        </p:txBody>
      </p:sp>
    </p:spTree>
    <p:extLst>
      <p:ext uri="{BB962C8B-B14F-4D97-AF65-F5344CB8AC3E}">
        <p14:creationId xmlns:p14="http://schemas.microsoft.com/office/powerpoint/2010/main" val="652979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B88E53D-6AD0-FCB3-576D-519E5C6C2D69}"/>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a:extLst>
              <a:ext uri="{FF2B5EF4-FFF2-40B4-BE49-F238E27FC236}">
                <a16:creationId xmlns:a16="http://schemas.microsoft.com/office/drawing/2014/main" id="{B6AB759E-4181-3060-6900-6F83B46C2C21}"/>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3">
            <a:extLst>
              <a:ext uri="{FF2B5EF4-FFF2-40B4-BE49-F238E27FC236}">
                <a16:creationId xmlns:a16="http://schemas.microsoft.com/office/drawing/2014/main" id="{76C74DC4-93C0-1CAC-A2AE-C7ADC5C53E4B}"/>
              </a:ext>
            </a:extLst>
          </p:cNvPr>
          <p:cNvSpPr>
            <a:spLocks noGrp="1"/>
          </p:cNvSpPr>
          <p:nvPr>
            <p:ph type="dt" sz="half" idx="10"/>
          </p:nvPr>
        </p:nvSpPr>
        <p:spPr/>
        <p:txBody>
          <a:bodyPr/>
          <a:lstStyle>
            <a:lvl1pPr>
              <a:defRPr/>
            </a:lvl1pPr>
          </a:lstStyle>
          <a:p>
            <a:pPr>
              <a:defRPr/>
            </a:pPr>
            <a:endParaRPr lang="en-US" altLang="en-US"/>
          </a:p>
        </p:txBody>
      </p:sp>
      <p:sp>
        <p:nvSpPr>
          <p:cNvPr id="7" name="Footer Placeholder 4">
            <a:extLst>
              <a:ext uri="{FF2B5EF4-FFF2-40B4-BE49-F238E27FC236}">
                <a16:creationId xmlns:a16="http://schemas.microsoft.com/office/drawing/2014/main" id="{39E8AA56-C3D5-DC0E-6852-22EE7C9CEA7C}"/>
              </a:ext>
            </a:extLst>
          </p:cNvPr>
          <p:cNvSpPr>
            <a:spLocks noGrp="1"/>
          </p:cNvSpPr>
          <p:nvPr>
            <p:ph type="ftr" sz="quarter" idx="11"/>
          </p:nvPr>
        </p:nvSpPr>
        <p:spPr/>
        <p:txBody>
          <a:bodyPr/>
          <a:lstStyle>
            <a:lvl1pPr>
              <a:defRPr/>
            </a:lvl1pPr>
          </a:lstStyle>
          <a:p>
            <a:pPr>
              <a:defRPr/>
            </a:pPr>
            <a:endParaRPr lang="en-US" altLang="en-US"/>
          </a:p>
        </p:txBody>
      </p:sp>
      <p:sp>
        <p:nvSpPr>
          <p:cNvPr id="8" name="Slide Number Placeholder 5">
            <a:extLst>
              <a:ext uri="{FF2B5EF4-FFF2-40B4-BE49-F238E27FC236}">
                <a16:creationId xmlns:a16="http://schemas.microsoft.com/office/drawing/2014/main" id="{B2616927-5962-61CB-F1B1-CBB7EFA11061}"/>
              </a:ext>
            </a:extLst>
          </p:cNvPr>
          <p:cNvSpPr>
            <a:spLocks noGrp="1"/>
          </p:cNvSpPr>
          <p:nvPr>
            <p:ph type="sldNum" sz="quarter" idx="12"/>
          </p:nvPr>
        </p:nvSpPr>
        <p:spPr/>
        <p:txBody>
          <a:bodyPr/>
          <a:lstStyle>
            <a:lvl1pPr>
              <a:defRPr/>
            </a:lvl1pPr>
          </a:lstStyle>
          <a:p>
            <a:fld id="{4E12A966-51C9-47DA-BD28-9A19BB7C6F74}" type="slidenum">
              <a:rPr lang="en-US" altLang="en-US"/>
              <a:pPr/>
              <a:t>‹#›</a:t>
            </a:fld>
            <a:endParaRPr lang="en-US" altLang="en-US"/>
          </a:p>
        </p:txBody>
      </p:sp>
    </p:spTree>
    <p:extLst>
      <p:ext uri="{BB962C8B-B14F-4D97-AF65-F5344CB8AC3E}">
        <p14:creationId xmlns:p14="http://schemas.microsoft.com/office/powerpoint/2010/main" val="3924608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BE70C77-D3FB-0DDA-EBC2-6A5AF03F5ACE}"/>
              </a:ext>
            </a:extLst>
          </p:cNvPr>
          <p:cNvSpPr/>
          <p:nvPr/>
        </p:nvSpPr>
        <p:spPr>
          <a:xfrm>
            <a:off x="0"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a:extLst>
              <a:ext uri="{FF2B5EF4-FFF2-40B4-BE49-F238E27FC236}">
                <a16:creationId xmlns:a16="http://schemas.microsoft.com/office/drawing/2014/main" id="{09935198-2178-BDCB-BF63-1FBA54AF2CC5}"/>
              </a:ext>
            </a:extLst>
          </p:cNvPr>
          <p:cNvSpPr/>
          <p:nvPr/>
        </p:nvSpPr>
        <p:spPr>
          <a:xfrm>
            <a:off x="0" y="6334125"/>
            <a:ext cx="12192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a:extLst>
              <a:ext uri="{FF2B5EF4-FFF2-40B4-BE49-F238E27FC236}">
                <a16:creationId xmlns:a16="http://schemas.microsoft.com/office/drawing/2014/main" id="{DAD7ADB2-9987-7092-2417-123819FF2D33}"/>
              </a:ext>
            </a:extLst>
          </p:cNvPr>
          <p:cNvSpPr>
            <a:spLocks noGrp="1"/>
          </p:cNvSpPr>
          <p:nvPr>
            <p:ph type="title"/>
          </p:nvPr>
        </p:nvSpPr>
        <p:spPr>
          <a:xfrm>
            <a:off x="1096963" y="287338"/>
            <a:ext cx="10058400" cy="144938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1029" name="Text Placeholder 2">
            <a:extLst>
              <a:ext uri="{FF2B5EF4-FFF2-40B4-BE49-F238E27FC236}">
                <a16:creationId xmlns:a16="http://schemas.microsoft.com/office/drawing/2014/main" id="{9CD7AB26-EDCE-9AA9-8393-B09563855823}"/>
              </a:ext>
            </a:extLst>
          </p:cNvPr>
          <p:cNvSpPr>
            <a:spLocks noGrp="1"/>
          </p:cNvSpPr>
          <p:nvPr>
            <p:ph type="body" idx="1"/>
          </p:nvPr>
        </p:nvSpPr>
        <p:spPr bwMode="auto">
          <a:xfrm>
            <a:off x="1096963" y="1846263"/>
            <a:ext cx="100584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2C06B6FE-F4A1-950B-754E-656DDE733183}"/>
              </a:ext>
            </a:extLst>
          </p:cNvPr>
          <p:cNvSpPr>
            <a:spLocks noGrp="1"/>
          </p:cNvSpPr>
          <p:nvPr>
            <p:ph type="dt" sz="half" idx="2"/>
          </p:nvPr>
        </p:nvSpPr>
        <p:spPr>
          <a:xfrm>
            <a:off x="1096963" y="6459538"/>
            <a:ext cx="2473325" cy="365125"/>
          </a:xfrm>
          <a:prstGeom prst="rect">
            <a:avLst/>
          </a:prstGeom>
        </p:spPr>
        <p:txBody>
          <a:bodyPr vert="horz" lIns="91440" tIns="45720" rIns="91440" bIns="45720" rtlCol="0" anchor="ctr"/>
          <a:lstStyle>
            <a:lvl1pPr algn="l">
              <a:defRPr sz="900">
                <a:solidFill>
                  <a:srgbClr val="FFFFFF"/>
                </a:solidFill>
              </a:defRPr>
            </a:lvl1pPr>
          </a:lstStyle>
          <a:p>
            <a:pPr>
              <a:defRPr/>
            </a:pPr>
            <a:endParaRPr lang="en-US" altLang="en-US"/>
          </a:p>
        </p:txBody>
      </p:sp>
      <p:sp>
        <p:nvSpPr>
          <p:cNvPr id="5" name="Footer Placeholder 4">
            <a:extLst>
              <a:ext uri="{FF2B5EF4-FFF2-40B4-BE49-F238E27FC236}">
                <a16:creationId xmlns:a16="http://schemas.microsoft.com/office/drawing/2014/main" id="{83446227-EAB1-D231-A2E4-0B899CD95B89}"/>
              </a:ext>
            </a:extLst>
          </p:cNvPr>
          <p:cNvSpPr>
            <a:spLocks noGrp="1"/>
          </p:cNvSpPr>
          <p:nvPr>
            <p:ph type="ftr" sz="quarter" idx="3"/>
          </p:nvPr>
        </p:nvSpPr>
        <p:spPr>
          <a:xfrm>
            <a:off x="3686175" y="6459538"/>
            <a:ext cx="4822825"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endParaRPr lang="en-US" altLang="en-US"/>
          </a:p>
        </p:txBody>
      </p:sp>
      <p:sp>
        <p:nvSpPr>
          <p:cNvPr id="6" name="Slide Number Placeholder 5">
            <a:extLst>
              <a:ext uri="{FF2B5EF4-FFF2-40B4-BE49-F238E27FC236}">
                <a16:creationId xmlns:a16="http://schemas.microsoft.com/office/drawing/2014/main" id="{7E40D9E3-08F3-A54C-C946-733F51BBDBD4}"/>
              </a:ext>
            </a:extLst>
          </p:cNvPr>
          <p:cNvSpPr>
            <a:spLocks noGrp="1"/>
          </p:cNvSpPr>
          <p:nvPr>
            <p:ph type="sldNum" sz="quarter" idx="4"/>
          </p:nvPr>
        </p:nvSpPr>
        <p:spPr>
          <a:xfrm>
            <a:off x="9901238" y="6459538"/>
            <a:ext cx="1311275" cy="365125"/>
          </a:xfrm>
          <a:prstGeom prst="rect">
            <a:avLst/>
          </a:prstGeom>
        </p:spPr>
        <p:txBody>
          <a:bodyPr vert="horz" wrap="square" lIns="91440" tIns="45720" rIns="91440" bIns="45720" numCol="1" anchor="ctr" anchorCtr="0" compatLnSpc="1">
            <a:prstTxWarp prst="textNoShape">
              <a:avLst/>
            </a:prstTxWarp>
          </a:bodyPr>
          <a:lstStyle>
            <a:lvl1pPr algn="r">
              <a:defRPr sz="1000">
                <a:solidFill>
                  <a:srgbClr val="FFFFFF"/>
                </a:solidFill>
              </a:defRPr>
            </a:lvl1pPr>
          </a:lstStyle>
          <a:p>
            <a:fld id="{287ED860-F62D-4F89-93E9-E9F9AD80A75C}" type="slidenum">
              <a:rPr lang="en-US" altLang="en-US"/>
              <a:pPr/>
              <a:t>‹#›</a:t>
            </a:fld>
            <a:endParaRPr lang="en-US" altLang="en-US"/>
          </a:p>
        </p:txBody>
      </p:sp>
      <p:cxnSp>
        <p:nvCxnSpPr>
          <p:cNvPr id="10" name="Straight Connector 9">
            <a:extLst>
              <a:ext uri="{FF2B5EF4-FFF2-40B4-BE49-F238E27FC236}">
                <a16:creationId xmlns:a16="http://schemas.microsoft.com/office/drawing/2014/main" id="{2A3FBFEE-996E-1650-1671-098E14F3BCAE}"/>
              </a:ext>
            </a:extLst>
          </p:cNvPr>
          <p:cNvCxnSpPr/>
          <p:nvPr/>
        </p:nvCxnSpPr>
        <p:spPr>
          <a:xfrm>
            <a:off x="1193800" y="1738313"/>
            <a:ext cx="996632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1" r:id="rId4"/>
    <p:sldLayoutId id="2147483792" r:id="rId5"/>
    <p:sldLayoutId id="2147483793" r:id="rId6"/>
    <p:sldLayoutId id="2147483798" r:id="rId7"/>
    <p:sldLayoutId id="2147483799" r:id="rId8"/>
    <p:sldLayoutId id="2147483800" r:id="rId9"/>
    <p:sldLayoutId id="2147483794" r:id="rId10"/>
    <p:sldLayoutId id="2147483801" r:id="rId11"/>
  </p:sldLayoutIdLst>
  <p:txStyles>
    <p:title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defRPr>
      </a:lvl9pPr>
    </p:titleStyle>
    <p:body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28266-2DF7-D6EF-C42A-5554EAF1A283}"/>
              </a:ext>
            </a:extLst>
          </p:cNvPr>
          <p:cNvSpPr>
            <a:spLocks noGrp="1"/>
          </p:cNvSpPr>
          <p:nvPr>
            <p:ph type="ctrTitle"/>
          </p:nvPr>
        </p:nvSpPr>
        <p:spPr>
          <a:xfrm>
            <a:off x="2133600" y="1600200"/>
            <a:ext cx="8153400" cy="2343150"/>
          </a:xfrm>
        </p:spPr>
        <p:txBody>
          <a:bodyPr>
            <a:noAutofit/>
          </a:bodyPr>
          <a:lstStyle/>
          <a:p>
            <a:pPr eaLnBrk="1" fontAlgn="auto" hangingPunct="1">
              <a:spcAft>
                <a:spcPts val="0"/>
              </a:spcAft>
              <a:defRPr/>
            </a:pPr>
            <a:r>
              <a:rPr lang="en-US" sz="7200" dirty="0"/>
              <a:t>		    </a:t>
            </a:r>
            <a:r>
              <a:rPr lang="en-US" sz="5400" dirty="0"/>
              <a:t>Chapter1</a:t>
            </a:r>
            <a:br>
              <a:rPr lang="en-US" sz="5400" dirty="0"/>
            </a:br>
            <a:r>
              <a:rPr lang="en-IN" sz="5400" b="1" dirty="0"/>
              <a:t>Introduction to Data Structure</a:t>
            </a:r>
            <a:endParaRPr lang="en-US" sz="5400" dirty="0"/>
          </a:p>
        </p:txBody>
      </p:sp>
      <p:sp>
        <p:nvSpPr>
          <p:cNvPr id="10243" name="TextBox 1">
            <a:extLst>
              <a:ext uri="{FF2B5EF4-FFF2-40B4-BE49-F238E27FC236}">
                <a16:creationId xmlns:a16="http://schemas.microsoft.com/office/drawing/2014/main" id="{FE58EBF7-1ACE-713B-3F6C-3E4E0FFCD6C9}"/>
              </a:ext>
            </a:extLst>
          </p:cNvPr>
          <p:cNvSpPr txBox="1">
            <a:spLocks noChangeArrowheads="1"/>
          </p:cNvSpPr>
          <p:nvPr/>
        </p:nvSpPr>
        <p:spPr bwMode="auto">
          <a:xfrm>
            <a:off x="3278188" y="4343400"/>
            <a:ext cx="58642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a:t>Prof.Mrunal Fatangare</a:t>
            </a:r>
          </a:p>
          <a:p>
            <a:pPr algn="ctr"/>
            <a:r>
              <a:rPr lang="en-US" altLang="en-US"/>
              <a:t>     Department of Computer Engineering</a:t>
            </a:r>
          </a:p>
          <a:p>
            <a:pPr algn="ctr"/>
            <a:r>
              <a:rPr lang="en-US" altLang="en-US"/>
              <a:t> School of Polytechnic &amp; Skill Development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FA03F-D570-D3C9-9180-77E12341A1AE}"/>
              </a:ext>
            </a:extLst>
          </p:cNvPr>
          <p:cNvSpPr>
            <a:spLocks noGrp="1"/>
          </p:cNvSpPr>
          <p:nvPr>
            <p:ph type="title"/>
          </p:nvPr>
        </p:nvSpPr>
        <p:spPr>
          <a:xfrm>
            <a:off x="0" y="25401"/>
            <a:ext cx="10058400" cy="660400"/>
          </a:xfrm>
        </p:spPr>
        <p:txBody>
          <a:bodyPr>
            <a:normAutofit/>
          </a:bodyPr>
          <a:lstStyle/>
          <a:p>
            <a:pPr eaLnBrk="1" fontAlgn="auto" hangingPunct="1">
              <a:spcAft>
                <a:spcPts val="0"/>
              </a:spcAft>
              <a:defRPr/>
            </a:pPr>
            <a:r>
              <a:rPr lang="en-US" dirty="0">
                <a:solidFill>
                  <a:schemeClr val="tx1">
                    <a:lumMod val="75000"/>
                    <a:lumOff val="25000"/>
                  </a:schemeClr>
                </a:solidFill>
              </a:rPr>
              <a:t>Course Outcome</a:t>
            </a:r>
          </a:p>
        </p:txBody>
      </p:sp>
      <p:sp>
        <p:nvSpPr>
          <p:cNvPr id="11267" name="Content Placeholder 2">
            <a:extLst>
              <a:ext uri="{FF2B5EF4-FFF2-40B4-BE49-F238E27FC236}">
                <a16:creationId xmlns:a16="http://schemas.microsoft.com/office/drawing/2014/main" id="{1FA720EB-25E1-8FD0-FFFC-C7901C7C1656}"/>
              </a:ext>
            </a:extLst>
          </p:cNvPr>
          <p:cNvSpPr>
            <a:spLocks noGrp="1"/>
          </p:cNvSpPr>
          <p:nvPr>
            <p:ph idx="1"/>
          </p:nvPr>
        </p:nvSpPr>
        <p:spPr>
          <a:xfrm>
            <a:off x="0" y="762000"/>
            <a:ext cx="10058400" cy="2878137"/>
          </a:xfrm>
        </p:spPr>
        <p:txBody>
          <a:bodyPr/>
          <a:lstStyle/>
          <a:p>
            <a:pPr eaLnBrk="1" hangingPunct="1"/>
            <a:r>
              <a:rPr lang="en-IN" altLang="en-US" sz="2400" dirty="0"/>
              <a:t>CO1: </a:t>
            </a:r>
            <a:r>
              <a:rPr lang="en-IN" sz="2400" dirty="0"/>
              <a:t>To gain knowledge of Various types of Data Structure </a:t>
            </a:r>
          </a:p>
          <a:p>
            <a:pPr eaLnBrk="1" hangingPunct="1"/>
            <a:endParaRPr lang="en-US" alt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32C22-5EAE-7A6E-0902-A3CF43FF801F}"/>
              </a:ext>
            </a:extLst>
          </p:cNvPr>
          <p:cNvSpPr>
            <a:spLocks noGrp="1"/>
          </p:cNvSpPr>
          <p:nvPr>
            <p:ph type="title"/>
          </p:nvPr>
        </p:nvSpPr>
        <p:spPr/>
        <p:txBody>
          <a:bodyPr>
            <a:normAutofit/>
          </a:bodyPr>
          <a:lstStyle/>
          <a:p>
            <a:pPr eaLnBrk="1" fontAlgn="auto" hangingPunct="1">
              <a:spcAft>
                <a:spcPts val="0"/>
              </a:spcAft>
              <a:defRPr/>
            </a:pPr>
            <a:r>
              <a:rPr lang="en-US" dirty="0">
                <a:solidFill>
                  <a:schemeClr val="tx1">
                    <a:lumMod val="75000"/>
                    <a:lumOff val="25000"/>
                  </a:schemeClr>
                </a:solidFill>
              </a:rPr>
              <a:t>Learning Outcomes </a:t>
            </a:r>
          </a:p>
        </p:txBody>
      </p:sp>
      <p:sp>
        <p:nvSpPr>
          <p:cNvPr id="4" name="TextBox 3">
            <a:extLst>
              <a:ext uri="{FF2B5EF4-FFF2-40B4-BE49-F238E27FC236}">
                <a16:creationId xmlns:a16="http://schemas.microsoft.com/office/drawing/2014/main" id="{81DA3BCD-E9A2-2BF2-3165-CE4E5AD3CD62}"/>
              </a:ext>
            </a:extLst>
          </p:cNvPr>
          <p:cNvSpPr txBox="1"/>
          <p:nvPr/>
        </p:nvSpPr>
        <p:spPr>
          <a:xfrm>
            <a:off x="1142999" y="1905506"/>
            <a:ext cx="10012363" cy="1938992"/>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TLO 1.1 Classify the given type of Data Structures based on their characteristics and space. </a:t>
            </a:r>
          </a:p>
          <a:p>
            <a:r>
              <a:rPr lang="en-IN" sz="2400" dirty="0">
                <a:latin typeface="Times New Roman" panose="02020603050405020304" pitchFamily="18" charset="0"/>
                <a:cs typeface="Times New Roman" panose="02020603050405020304" pitchFamily="18" charset="0"/>
              </a:rPr>
              <a:t>TLO 1.2 Perform operations on the given type of Data Structure.</a:t>
            </a:r>
          </a:p>
          <a:p>
            <a:r>
              <a:rPr lang="en-IN" sz="2400" dirty="0">
                <a:latin typeface="Times New Roman" panose="02020603050405020304" pitchFamily="18" charset="0"/>
                <a:cs typeface="Times New Roman" panose="02020603050405020304" pitchFamily="18" charset="0"/>
              </a:rPr>
              <a:t>TLO 1.3 Describe the concept of time and space complexity</a:t>
            </a:r>
          </a:p>
          <a:p>
            <a:r>
              <a:rPr lang="en-IN" sz="2400" dirty="0">
                <a:latin typeface="Times New Roman" panose="02020603050405020304" pitchFamily="18" charset="0"/>
                <a:cs typeface="Times New Roman" panose="02020603050405020304" pitchFamily="18" charset="0"/>
              </a:rPr>
              <a:t>TLO 1.4 Implement various string functions</a:t>
            </a:r>
            <a:endParaRPr lang="en-US" sz="3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C58CB-DC6A-637A-4B6C-EC4FD609D904}"/>
              </a:ext>
            </a:extLst>
          </p:cNvPr>
          <p:cNvSpPr>
            <a:spLocks noGrp="1"/>
          </p:cNvSpPr>
          <p:nvPr>
            <p:ph type="title"/>
          </p:nvPr>
        </p:nvSpPr>
        <p:spPr/>
        <p:txBody>
          <a:bodyPr>
            <a:normAutofit/>
          </a:bodyPr>
          <a:lstStyle/>
          <a:p>
            <a:pPr eaLnBrk="1" fontAlgn="auto" hangingPunct="1">
              <a:spcAft>
                <a:spcPts val="0"/>
              </a:spcAft>
              <a:defRPr/>
            </a:pPr>
            <a:r>
              <a:rPr lang="en-US" dirty="0">
                <a:solidFill>
                  <a:schemeClr val="tx1">
                    <a:lumMod val="75000"/>
                    <a:lumOff val="25000"/>
                  </a:schemeClr>
                </a:solidFill>
              </a:rPr>
              <a:t>What will we Learn</a:t>
            </a:r>
          </a:p>
        </p:txBody>
      </p:sp>
      <p:sp>
        <p:nvSpPr>
          <p:cNvPr id="6" name="TextBox 5">
            <a:extLst>
              <a:ext uri="{FF2B5EF4-FFF2-40B4-BE49-F238E27FC236}">
                <a16:creationId xmlns:a16="http://schemas.microsoft.com/office/drawing/2014/main" id="{A45403A3-D94B-B674-4B0F-3D40357960B5}"/>
              </a:ext>
            </a:extLst>
          </p:cNvPr>
          <p:cNvSpPr txBox="1"/>
          <p:nvPr/>
        </p:nvSpPr>
        <p:spPr>
          <a:xfrm>
            <a:off x="609600" y="990600"/>
            <a:ext cx="11353800" cy="3903954"/>
          </a:xfrm>
          <a:prstGeom prst="rect">
            <a:avLst/>
          </a:prstGeom>
          <a:noFill/>
        </p:spPr>
        <p:txBody>
          <a:bodyPr wrap="square">
            <a:spAutoFit/>
          </a:bodyPr>
          <a:lstStyle>
            <a:defPPr>
              <a:defRPr lang="en-US"/>
            </a:defPPr>
            <a:lvl1pPr>
              <a:defRPr>
                <a:cs typeface="Times New Roman" panose="02020603050405020304" pitchFamily="18" charset="0"/>
              </a:defRPr>
            </a:lvl1pPr>
          </a:lstStyle>
          <a:p>
            <a:pPr>
              <a:lnSpc>
                <a:spcPct val="150000"/>
              </a:lnSpc>
            </a:pPr>
            <a:r>
              <a:rPr lang="en-IN" dirty="0"/>
              <a:t>1.1 Introduction: Concept and Need of Data Structure, Definition, Abstract Data Type </a:t>
            </a:r>
          </a:p>
          <a:p>
            <a:pPr>
              <a:lnSpc>
                <a:spcPct val="150000"/>
              </a:lnSpc>
            </a:pPr>
            <a:r>
              <a:rPr lang="en-IN" dirty="0"/>
              <a:t>1.2 Types of Data Structures: (</a:t>
            </a:r>
            <a:r>
              <a:rPr lang="en-IN" dirty="0" err="1"/>
              <a:t>i</a:t>
            </a:r>
            <a:r>
              <a:rPr lang="en-IN" dirty="0"/>
              <a:t>) Linear Data Structures (ii) Non-Linear Data Structures </a:t>
            </a:r>
          </a:p>
          <a:p>
            <a:pPr>
              <a:lnSpc>
                <a:spcPct val="150000"/>
              </a:lnSpc>
            </a:pPr>
            <a:r>
              <a:rPr lang="en-IN" dirty="0"/>
              <a:t>1.3 Operations on Data Structures: (</a:t>
            </a:r>
            <a:r>
              <a:rPr lang="en-IN" dirty="0" err="1"/>
              <a:t>i</a:t>
            </a:r>
            <a:r>
              <a:rPr lang="en-IN" dirty="0"/>
              <a:t>) Traversing (ii) Insertion (iii) Deletion</a:t>
            </a:r>
          </a:p>
          <a:p>
            <a:pPr>
              <a:lnSpc>
                <a:spcPct val="150000"/>
              </a:lnSpc>
            </a:pPr>
            <a:r>
              <a:rPr lang="en-IN" dirty="0"/>
              <a:t>1.4 Control Structures used in Algorithms, Analysis of algorithms, Time and Space Complexity-Worst Case, Average Case, Best Case and Amortized String functions. </a:t>
            </a:r>
          </a:p>
          <a:p>
            <a:pPr>
              <a:lnSpc>
                <a:spcPct val="150000"/>
              </a:lnSpc>
            </a:pPr>
            <a:r>
              <a:rPr lang="en-IN" dirty="0"/>
              <a:t>1.5 Bitwise Operators -1, Bitwise Operators- 2, Bit Manipulation using Bitwise Operators-1, Bit Manipulation using Bitwise Operators-2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4411E12C-5D9E-1851-0E53-C30480D45B9D}"/>
              </a:ext>
            </a:extLst>
          </p:cNvPr>
          <p:cNvSpPr>
            <a:spLocks noGrp="1" noChangeArrowheads="1"/>
          </p:cNvSpPr>
          <p:nvPr>
            <p:ph type="title"/>
          </p:nvPr>
        </p:nvSpPr>
        <p:spPr>
          <a:xfrm>
            <a:off x="0" y="0"/>
            <a:ext cx="10134600" cy="609601"/>
          </a:xfrm>
        </p:spPr>
        <p:txBody>
          <a:bodyPr/>
          <a:lstStyle/>
          <a:p>
            <a:pPr eaLnBrk="1" fontAlgn="auto" hangingPunct="1">
              <a:spcAft>
                <a:spcPts val="0"/>
              </a:spcAft>
              <a:defRPr/>
            </a:pPr>
            <a:br>
              <a:rPr lang="en-US" altLang="en-US" dirty="0">
                <a:solidFill>
                  <a:schemeClr val="tx1">
                    <a:lumMod val="75000"/>
                    <a:lumOff val="25000"/>
                  </a:schemeClr>
                </a:solidFill>
              </a:rPr>
            </a:br>
            <a:r>
              <a:rPr lang="en-US" altLang="en-US" dirty="0">
                <a:solidFill>
                  <a:schemeClr val="tx1">
                    <a:lumMod val="75000"/>
                    <a:lumOff val="25000"/>
                  </a:schemeClr>
                </a:solidFill>
              </a:rPr>
              <a:t>The Need for Data Structures</a:t>
            </a:r>
          </a:p>
        </p:txBody>
      </p:sp>
      <p:sp>
        <p:nvSpPr>
          <p:cNvPr id="10243" name="Rectangle 3">
            <a:extLst>
              <a:ext uri="{FF2B5EF4-FFF2-40B4-BE49-F238E27FC236}">
                <a16:creationId xmlns:a16="http://schemas.microsoft.com/office/drawing/2014/main" id="{88920B86-F191-D8E2-F80E-C323B99EBBFB}"/>
              </a:ext>
            </a:extLst>
          </p:cNvPr>
          <p:cNvSpPr>
            <a:spLocks noGrp="1" noChangeArrowheads="1"/>
          </p:cNvSpPr>
          <p:nvPr>
            <p:ph idx="1"/>
          </p:nvPr>
        </p:nvSpPr>
        <p:spPr>
          <a:xfrm>
            <a:off x="457200" y="914400"/>
            <a:ext cx="11201400" cy="4103688"/>
          </a:xfrm>
        </p:spPr>
        <p:txBody>
          <a:bodyPr rtlCol="0">
            <a:noAutofit/>
          </a:bodyPr>
          <a:lstStyle/>
          <a:p>
            <a:pPr marL="0" indent="0" algn="just" eaLnBrk="1" fontAlgn="auto" hangingPunct="1">
              <a:buNone/>
              <a:defRPr/>
            </a:pPr>
            <a:r>
              <a:rPr lang="en-IN" dirty="0"/>
              <a:t>A </a:t>
            </a:r>
            <a:r>
              <a:rPr lang="en-IN" b="1" dirty="0"/>
              <a:t>data structure</a:t>
            </a:r>
            <a:r>
              <a:rPr lang="en-IN" dirty="0"/>
              <a:t> is a specialized format designed to organize, manage, process, and store data in a computer's memory so it can be accessed and modified efficiently. It acts as a logical blueprint that defines the relationship between data elements and the permissible operations that can be performed on them</a:t>
            </a:r>
          </a:p>
          <a:p>
            <a:pPr marL="0" indent="0" algn="just" eaLnBrk="1" fontAlgn="auto" hangingPunct="1">
              <a:buNone/>
              <a:defRPr/>
            </a:pPr>
            <a:r>
              <a:rPr lang="en-US" altLang="en-US" b="1" dirty="0">
                <a:solidFill>
                  <a:schemeClr val="tx1">
                    <a:lumMod val="75000"/>
                    <a:lumOff val="25000"/>
                  </a:schemeClr>
                </a:solidFill>
              </a:rPr>
              <a:t>Data management</a:t>
            </a:r>
          </a:p>
          <a:p>
            <a:pPr marL="384048" lvl="1" indent="-182880" algn="just" eaLnBrk="1" fontAlgn="auto" hangingPunct="1">
              <a:defRPr/>
            </a:pPr>
            <a:r>
              <a:rPr lang="en-US" altLang="en-US" sz="2000" dirty="0">
                <a:solidFill>
                  <a:schemeClr val="tx1">
                    <a:lumMod val="75000"/>
                    <a:lumOff val="25000"/>
                  </a:schemeClr>
                </a:solidFill>
              </a:rPr>
              <a:t>data collection</a:t>
            </a:r>
          </a:p>
          <a:p>
            <a:pPr marL="384048" lvl="1" indent="-182880" algn="just" eaLnBrk="1" fontAlgn="auto" hangingPunct="1">
              <a:defRPr/>
            </a:pPr>
            <a:r>
              <a:rPr lang="en-US" altLang="en-US" sz="2000" dirty="0">
                <a:solidFill>
                  <a:schemeClr val="tx1">
                    <a:lumMod val="75000"/>
                    <a:lumOff val="25000"/>
                  </a:schemeClr>
                </a:solidFill>
              </a:rPr>
              <a:t>organization of data into appropriate </a:t>
            </a:r>
            <a:r>
              <a:rPr lang="en-US" altLang="en-US" sz="2000" b="1" dirty="0">
                <a:solidFill>
                  <a:schemeClr val="tx1">
                    <a:lumMod val="75000"/>
                    <a:lumOff val="25000"/>
                  </a:schemeClr>
                </a:solidFill>
              </a:rPr>
              <a:t>structures</a:t>
            </a:r>
          </a:p>
          <a:p>
            <a:pPr marL="384048" lvl="1" indent="-182880" algn="just" eaLnBrk="1" fontAlgn="auto" hangingPunct="1">
              <a:defRPr/>
            </a:pPr>
            <a:r>
              <a:rPr lang="en-US" altLang="en-US" sz="2000" dirty="0">
                <a:solidFill>
                  <a:schemeClr val="tx1">
                    <a:lumMod val="75000"/>
                    <a:lumOff val="25000"/>
                  </a:schemeClr>
                </a:solidFill>
              </a:rPr>
              <a:t>developing and maintaining routines for quality assurance.</a:t>
            </a:r>
          </a:p>
          <a:p>
            <a:pPr marL="0" indent="0" algn="just" eaLnBrk="1" fontAlgn="auto" hangingPunct="1">
              <a:buFont typeface="Calibri" panose="020F0502020204030204" pitchFamily="34" charset="0"/>
              <a:buNone/>
              <a:defRPr/>
            </a:pPr>
            <a:endParaRPr lang="en-US" altLang="en-US" sz="2000" dirty="0">
              <a:solidFill>
                <a:schemeClr val="tx1">
                  <a:lumMod val="75000"/>
                  <a:lumOff val="25000"/>
                </a:schemeClr>
              </a:solidFill>
            </a:endParaRPr>
          </a:p>
          <a:p>
            <a:pPr marL="0" indent="0" algn="just" eaLnBrk="1" fontAlgn="auto" hangingPunct="1">
              <a:buFont typeface="Calibri" panose="020F0502020204030204" pitchFamily="34" charset="0"/>
              <a:buNone/>
              <a:defRPr/>
            </a:pPr>
            <a:r>
              <a:rPr lang="en-US" altLang="en-US" dirty="0">
                <a:solidFill>
                  <a:schemeClr val="tx1">
                    <a:lumMod val="75000"/>
                    <a:lumOff val="25000"/>
                  </a:schemeClr>
                </a:solidFill>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B4C3A-7A87-7414-5E4C-86B4A6D905E2}"/>
              </a:ext>
            </a:extLst>
          </p:cNvPr>
          <p:cNvSpPr>
            <a:spLocks noGrp="1"/>
          </p:cNvSpPr>
          <p:nvPr>
            <p:ph type="title"/>
          </p:nvPr>
        </p:nvSpPr>
        <p:spPr/>
        <p:txBody>
          <a:bodyPr>
            <a:normAutofit/>
          </a:bodyPr>
          <a:lstStyle/>
          <a:p>
            <a:r>
              <a:rPr lang="en-US" altLang="en-US" dirty="0">
                <a:solidFill>
                  <a:schemeClr val="tx1">
                    <a:lumMod val="75000"/>
                    <a:lumOff val="25000"/>
                  </a:schemeClr>
                </a:solidFill>
              </a:rPr>
              <a:t>The Need for Data Structures</a:t>
            </a:r>
            <a:endParaRPr lang="en-IN" dirty="0"/>
          </a:p>
        </p:txBody>
      </p:sp>
      <p:sp>
        <p:nvSpPr>
          <p:cNvPr id="3" name="Content Placeholder 2">
            <a:extLst>
              <a:ext uri="{FF2B5EF4-FFF2-40B4-BE49-F238E27FC236}">
                <a16:creationId xmlns:a16="http://schemas.microsoft.com/office/drawing/2014/main" id="{A1B19013-C3CB-3B9F-4F0B-8BB1C746D91E}"/>
              </a:ext>
            </a:extLst>
          </p:cNvPr>
          <p:cNvSpPr>
            <a:spLocks noGrp="1"/>
          </p:cNvSpPr>
          <p:nvPr>
            <p:ph idx="1"/>
          </p:nvPr>
        </p:nvSpPr>
        <p:spPr>
          <a:xfrm>
            <a:off x="304800" y="914400"/>
            <a:ext cx="12086734" cy="5428686"/>
          </a:xfrm>
        </p:spPr>
        <p:txBody>
          <a:bodyPr/>
          <a:lstStyle/>
          <a:p>
            <a:pPr marL="0" indent="0" algn="just" eaLnBrk="1" fontAlgn="auto" hangingPunct="1">
              <a:buNone/>
              <a:defRPr/>
            </a:pPr>
            <a:r>
              <a:rPr lang="en-US" altLang="en-US" b="1" dirty="0">
                <a:solidFill>
                  <a:schemeClr val="tx1">
                    <a:lumMod val="75000"/>
                    <a:lumOff val="25000"/>
                  </a:schemeClr>
                </a:solidFill>
              </a:rPr>
              <a:t>Data structure</a:t>
            </a:r>
          </a:p>
          <a:p>
            <a:pPr marL="384048" lvl="1" indent="-182880" algn="just" eaLnBrk="1" fontAlgn="auto" hangingPunct="1">
              <a:buFont typeface="Arial" panose="020B0604020202020204" pitchFamily="34" charset="0"/>
              <a:buChar char="•"/>
              <a:defRPr/>
            </a:pPr>
            <a:r>
              <a:rPr lang="en-US" altLang="en-US" sz="2000" dirty="0">
                <a:solidFill>
                  <a:schemeClr val="tx1">
                    <a:lumMod val="75000"/>
                    <a:lumOff val="25000"/>
                  </a:schemeClr>
                </a:solidFill>
              </a:rPr>
              <a:t>One name</a:t>
            </a:r>
          </a:p>
          <a:p>
            <a:pPr marL="384048" lvl="1" indent="-182880" algn="just" eaLnBrk="1" fontAlgn="auto" hangingPunct="1">
              <a:buFont typeface="Arial" panose="020B0604020202020204" pitchFamily="34" charset="0"/>
              <a:buChar char="•"/>
              <a:defRPr/>
            </a:pPr>
            <a:r>
              <a:rPr lang="en-US" altLang="en-US" sz="2000" dirty="0">
                <a:solidFill>
                  <a:schemeClr val="tx1">
                    <a:lumMod val="75000"/>
                    <a:lumOff val="25000"/>
                  </a:schemeClr>
                </a:solidFill>
              </a:rPr>
              <a:t>Particular way of storing and organizing data</a:t>
            </a:r>
          </a:p>
          <a:p>
            <a:pPr marL="384048" lvl="1" indent="-182880" algn="just" eaLnBrk="1" fontAlgn="auto" hangingPunct="1">
              <a:buFont typeface="Arial" panose="020B0604020202020204" pitchFamily="34" charset="0"/>
              <a:buChar char="•"/>
              <a:defRPr/>
            </a:pPr>
            <a:r>
              <a:rPr lang="en-US" altLang="en-US" sz="2000" dirty="0">
                <a:solidFill>
                  <a:schemeClr val="tx1">
                    <a:lumMod val="75000"/>
                    <a:lumOff val="25000"/>
                  </a:schemeClr>
                </a:solidFill>
              </a:rPr>
              <a:t>Efficient use </a:t>
            </a:r>
          </a:p>
          <a:p>
            <a:pPr marL="384048" lvl="1" indent="-182880" algn="just" eaLnBrk="1" fontAlgn="auto" hangingPunct="1">
              <a:buFont typeface="Arial" panose="020B0604020202020204" pitchFamily="34" charset="0"/>
              <a:buChar char="•"/>
              <a:defRPr/>
            </a:pPr>
            <a:r>
              <a:rPr lang="en-US" altLang="en-US" sz="2000" dirty="0">
                <a:solidFill>
                  <a:schemeClr val="tx1">
                    <a:lumMod val="75000"/>
                    <a:lumOff val="25000"/>
                  </a:schemeClr>
                </a:solidFill>
              </a:rPr>
              <a:t>More efficient programmes</a:t>
            </a:r>
          </a:p>
          <a:p>
            <a:pPr marL="384048" lvl="1" indent="-182880" algn="just" eaLnBrk="1" fontAlgn="auto" hangingPunct="1">
              <a:buFont typeface="Arial" panose="020B0604020202020204" pitchFamily="34" charset="0"/>
              <a:buChar char="•"/>
              <a:defRPr/>
            </a:pPr>
            <a:r>
              <a:rPr lang="en-US" altLang="en-US" sz="2000" dirty="0">
                <a:solidFill>
                  <a:schemeClr val="tx1">
                    <a:lumMod val="75000"/>
                    <a:lumOff val="25000"/>
                  </a:schemeClr>
                </a:solidFill>
              </a:rPr>
              <a:t>Complex operations</a:t>
            </a:r>
          </a:p>
          <a:p>
            <a:pPr marL="384048" lvl="1" indent="-182880" algn="just" eaLnBrk="1" fontAlgn="auto" hangingPunct="1">
              <a:buFont typeface="Arial" panose="020B0604020202020204" pitchFamily="34" charset="0"/>
              <a:buChar char="•"/>
              <a:defRPr/>
            </a:pPr>
            <a:r>
              <a:rPr lang="en-US" altLang="en-US" sz="2000" dirty="0">
                <a:solidFill>
                  <a:schemeClr val="tx1">
                    <a:lumMod val="75000"/>
                    <a:lumOff val="25000"/>
                  </a:schemeClr>
                </a:solidFill>
              </a:rPr>
              <a:t>More calculations within less time and energy</a:t>
            </a:r>
            <a:endParaRPr lang="en-IN" dirty="0"/>
          </a:p>
        </p:txBody>
      </p:sp>
    </p:spTree>
    <p:extLst>
      <p:ext uri="{BB962C8B-B14F-4D97-AF65-F5344CB8AC3E}">
        <p14:creationId xmlns:p14="http://schemas.microsoft.com/office/powerpoint/2010/main" val="3078445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7005B563-D4DA-D0EA-922D-20C1951B2ACB}"/>
              </a:ext>
            </a:extLst>
          </p:cNvPr>
          <p:cNvSpPr>
            <a:spLocks noGrp="1"/>
          </p:cNvSpPr>
          <p:nvPr>
            <p:ph type="title"/>
          </p:nvPr>
        </p:nvSpPr>
        <p:spPr/>
        <p:txBody>
          <a:bodyPr>
            <a:normAutofit/>
          </a:bodyPr>
          <a:lstStyle/>
          <a:p>
            <a:pPr eaLnBrk="1" fontAlgn="auto" hangingPunct="1">
              <a:spcAft>
                <a:spcPts val="0"/>
              </a:spcAft>
              <a:defRPr/>
            </a:pPr>
            <a:r>
              <a:rPr lang="en-US" altLang="en-US" dirty="0">
                <a:solidFill>
                  <a:schemeClr val="tx1">
                    <a:lumMod val="75000"/>
                    <a:lumOff val="25000"/>
                  </a:schemeClr>
                </a:solidFill>
              </a:rPr>
              <a:t>Applications</a:t>
            </a:r>
          </a:p>
        </p:txBody>
      </p:sp>
      <p:sp>
        <p:nvSpPr>
          <p:cNvPr id="15363" name="Content Placeholder 2">
            <a:extLst>
              <a:ext uri="{FF2B5EF4-FFF2-40B4-BE49-F238E27FC236}">
                <a16:creationId xmlns:a16="http://schemas.microsoft.com/office/drawing/2014/main" id="{93BD95E0-CCDF-EB3C-7349-F4E8495C2D45}"/>
              </a:ext>
            </a:extLst>
          </p:cNvPr>
          <p:cNvSpPr>
            <a:spLocks noGrp="1"/>
          </p:cNvSpPr>
          <p:nvPr>
            <p:ph idx="1"/>
          </p:nvPr>
        </p:nvSpPr>
        <p:spPr>
          <a:xfrm>
            <a:off x="609600" y="1066800"/>
            <a:ext cx="4283075" cy="4022725"/>
          </a:xfrm>
        </p:spPr>
        <p:txBody>
          <a:bodyPr/>
          <a:lstStyle/>
          <a:p>
            <a:pPr algn="just" eaLnBrk="1" hangingPunct="1">
              <a:buFont typeface="Arial" panose="020B0604020202020204" pitchFamily="34" charset="0"/>
              <a:buChar char="•"/>
            </a:pPr>
            <a:r>
              <a:rPr lang="en-US" altLang="en-US" sz="2400" dirty="0"/>
              <a:t> Compiler design</a:t>
            </a:r>
          </a:p>
          <a:p>
            <a:pPr algn="just" eaLnBrk="1" hangingPunct="1">
              <a:buFont typeface="Arial" panose="020B0604020202020204" pitchFamily="34" charset="0"/>
              <a:buChar char="•"/>
            </a:pPr>
            <a:r>
              <a:rPr lang="en-US" altLang="en-US" sz="2400" dirty="0"/>
              <a:t> Operating system</a:t>
            </a:r>
          </a:p>
          <a:p>
            <a:pPr algn="just" eaLnBrk="1" hangingPunct="1">
              <a:buFont typeface="Arial" panose="020B0604020202020204" pitchFamily="34" charset="0"/>
              <a:buChar char="•"/>
            </a:pPr>
            <a:r>
              <a:rPr lang="en-US" altLang="en-US" sz="2400" dirty="0"/>
              <a:t> Statistical analysis package</a:t>
            </a:r>
          </a:p>
          <a:p>
            <a:pPr algn="just" eaLnBrk="1" hangingPunct="1">
              <a:buFont typeface="Arial" panose="020B0604020202020204" pitchFamily="34" charset="0"/>
              <a:buChar char="•"/>
            </a:pPr>
            <a:r>
              <a:rPr lang="en-US" altLang="en-US" sz="2400" dirty="0"/>
              <a:t> DBMS </a:t>
            </a:r>
          </a:p>
          <a:p>
            <a:pPr algn="just" eaLnBrk="1" hangingPunct="1">
              <a:buFont typeface="Arial" panose="020B0604020202020204" pitchFamily="34" charset="0"/>
              <a:buChar char="•"/>
            </a:pPr>
            <a:r>
              <a:rPr lang="en-US" altLang="en-US" sz="2400" dirty="0"/>
              <a:t> Numerical analysis </a:t>
            </a:r>
          </a:p>
          <a:p>
            <a:pPr algn="just" eaLnBrk="1" hangingPunct="1">
              <a:buFont typeface="Arial" panose="020B0604020202020204" pitchFamily="34" charset="0"/>
              <a:buChar char="•"/>
            </a:pPr>
            <a:r>
              <a:rPr lang="en-US" altLang="en-US" sz="2400" dirty="0"/>
              <a:t> Simulation </a:t>
            </a:r>
          </a:p>
          <a:p>
            <a:pPr algn="just" eaLnBrk="1" hangingPunct="1">
              <a:buFont typeface="Arial" panose="020B0604020202020204" pitchFamily="34" charset="0"/>
              <a:buChar char="•"/>
            </a:pPr>
            <a:r>
              <a:rPr lang="en-US" altLang="en-US" sz="2400" dirty="0"/>
              <a:t> Artificial intelligence </a:t>
            </a:r>
          </a:p>
          <a:p>
            <a:pPr algn="just" eaLnBrk="1" hangingPunct="1">
              <a:buFont typeface="Arial" panose="020B0604020202020204" pitchFamily="34" charset="0"/>
              <a:buChar char="•"/>
            </a:pPr>
            <a:r>
              <a:rPr lang="en-US" altLang="en-US" sz="2400" dirty="0"/>
              <a:t> Graphics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1B549B4D-4F17-64FE-91AB-9321129F0A5E}"/>
              </a:ext>
            </a:extLst>
          </p:cNvPr>
          <p:cNvSpPr>
            <a:spLocks noGrp="1" noChangeArrowheads="1"/>
          </p:cNvSpPr>
          <p:nvPr>
            <p:ph type="title"/>
          </p:nvPr>
        </p:nvSpPr>
        <p:spPr>
          <a:xfrm>
            <a:off x="-15240" y="-15240"/>
            <a:ext cx="9982200" cy="614362"/>
          </a:xfrm>
        </p:spPr>
        <p:txBody>
          <a:bodyPr/>
          <a:lstStyle/>
          <a:p>
            <a:pPr eaLnBrk="1" fontAlgn="auto" hangingPunct="1">
              <a:spcAft>
                <a:spcPts val="0"/>
              </a:spcAft>
              <a:defRPr/>
            </a:pPr>
            <a:r>
              <a:rPr lang="en-US" altLang="en-US" dirty="0">
                <a:solidFill>
                  <a:schemeClr val="tx1">
                    <a:lumMod val="75000"/>
                    <a:lumOff val="25000"/>
                  </a:schemeClr>
                </a:solidFill>
              </a:rPr>
              <a:t>Need of Organization</a:t>
            </a:r>
          </a:p>
        </p:txBody>
      </p:sp>
      <p:sp>
        <p:nvSpPr>
          <p:cNvPr id="2" name="Content Placeholder 1">
            <a:extLst>
              <a:ext uri="{FF2B5EF4-FFF2-40B4-BE49-F238E27FC236}">
                <a16:creationId xmlns:a16="http://schemas.microsoft.com/office/drawing/2014/main" id="{DA4ABCA7-CD14-18AA-7329-0A77891379C8}"/>
              </a:ext>
            </a:extLst>
          </p:cNvPr>
          <p:cNvSpPr>
            <a:spLocks noGrp="1"/>
          </p:cNvSpPr>
          <p:nvPr>
            <p:ph idx="1"/>
          </p:nvPr>
        </p:nvSpPr>
        <p:spPr>
          <a:xfrm>
            <a:off x="228600" y="762000"/>
            <a:ext cx="11811000" cy="5428686"/>
          </a:xfrm>
        </p:spPr>
        <p:txBody>
          <a:bodyPr/>
          <a:lstStyle/>
          <a:p>
            <a:pPr algn="just"/>
            <a:r>
              <a:rPr lang="en-IN" dirty="0"/>
              <a:t>Data organization is the process of structuring, categorising, and managing raw facts so they are easily accessible, understandable, and </a:t>
            </a:r>
            <a:r>
              <a:rPr lang="en-IN" dirty="0" err="1"/>
              <a:t>analyzable</a:t>
            </a:r>
            <a:r>
              <a:rPr lang="en-IN" dirty="0"/>
              <a:t>. It is essential for eliminating the confusion of raw numbers, allowing you to extract actionable insights, spot trends, and make informed decisions efficiently. </a:t>
            </a:r>
          </a:p>
          <a:p>
            <a:r>
              <a:rPr lang="en-IN" dirty="0"/>
              <a:t>The fundamental needs and benefits of data organization include:</a:t>
            </a:r>
          </a:p>
          <a:p>
            <a:r>
              <a:rPr lang="en-IN" sz="2000" b="1" dirty="0"/>
              <a:t>Time-Saving Retrieval:</a:t>
            </a:r>
            <a:r>
              <a:rPr lang="en-IN" sz="2000" dirty="0"/>
              <a:t> As datasets grow, finding specific information in unorganized records wastes significant time. Organizing data systematically allows for rapid searches and quick filtering. </a:t>
            </a:r>
          </a:p>
          <a:p>
            <a:r>
              <a:rPr lang="en-IN" sz="2000" b="1" dirty="0"/>
              <a:t>Enhanced Decision-Making:</a:t>
            </a:r>
            <a:r>
              <a:rPr lang="en-IN" sz="2000" dirty="0"/>
              <a:t> Clear, structured data (like grouped frequency distributions or charts) reveals patterns and relationships that raw, unstructured observations conceal. </a:t>
            </a:r>
          </a:p>
          <a:p>
            <a:r>
              <a:rPr lang="en-IN" sz="2000" b="1" dirty="0"/>
              <a:t>Improved Accuracy:</a:t>
            </a:r>
            <a:r>
              <a:rPr lang="en-IN" sz="2000" dirty="0"/>
              <a:t> Organizing data upfront using consistent naming, standardized categories, and version control reduces inconsistencies and costly human errors. </a:t>
            </a:r>
          </a:p>
          <a:p>
            <a:r>
              <a:rPr lang="en-IN" sz="2000" b="1" dirty="0"/>
              <a:t>Streamlined Collaboration:</a:t>
            </a:r>
            <a:r>
              <a:rPr lang="en-IN" sz="2000" dirty="0"/>
              <a:t> Consistent formatting and clear documentation ensure teams and researchers can easily share, interpret, and build upon the same information. </a:t>
            </a:r>
          </a:p>
          <a:p>
            <a:r>
              <a:rPr lang="en-IN" sz="2000" b="1" dirty="0"/>
              <a:t>Better Visualization:</a:t>
            </a:r>
            <a:r>
              <a:rPr lang="en-IN" sz="2000" dirty="0"/>
              <a:t> Well-organized data is much easier to translate into effective visual aids like bar graphs, pie charts, and dashboards.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ECE81DDF-EFAF-88CE-2660-9B903D437911}"/>
              </a:ext>
            </a:extLst>
          </p:cNvPr>
          <p:cNvSpPr>
            <a:spLocks noGrp="1" noChangeArrowheads="1"/>
          </p:cNvSpPr>
          <p:nvPr>
            <p:ph type="title"/>
          </p:nvPr>
        </p:nvSpPr>
        <p:spPr/>
        <p:txBody>
          <a:bodyPr>
            <a:normAutofit/>
          </a:bodyPr>
          <a:lstStyle/>
          <a:p>
            <a:pPr eaLnBrk="1" fontAlgn="auto" hangingPunct="1">
              <a:spcAft>
                <a:spcPts val="0"/>
              </a:spcAft>
              <a:defRPr/>
            </a:pPr>
            <a:r>
              <a:rPr lang="en-US" altLang="en-US" b="1" dirty="0">
                <a:solidFill>
                  <a:schemeClr val="tx1">
                    <a:lumMod val="75000"/>
                    <a:lumOff val="25000"/>
                  </a:schemeClr>
                </a:solidFill>
              </a:rPr>
              <a:t>Selecting A Data Structure</a:t>
            </a:r>
          </a:p>
        </p:txBody>
      </p:sp>
      <p:sp>
        <p:nvSpPr>
          <p:cNvPr id="19459" name="Rectangle 3">
            <a:extLst>
              <a:ext uri="{FF2B5EF4-FFF2-40B4-BE49-F238E27FC236}">
                <a16:creationId xmlns:a16="http://schemas.microsoft.com/office/drawing/2014/main" id="{543F606D-84E3-EBCC-EE08-780BF5AB178F}"/>
              </a:ext>
            </a:extLst>
          </p:cNvPr>
          <p:cNvSpPr>
            <a:spLocks noGrp="1" noChangeArrowheads="1"/>
          </p:cNvSpPr>
          <p:nvPr>
            <p:ph idx="1"/>
          </p:nvPr>
        </p:nvSpPr>
        <p:spPr>
          <a:xfrm>
            <a:off x="533400" y="990600"/>
            <a:ext cx="7543800" cy="3487738"/>
          </a:xfrm>
        </p:spPr>
        <p:txBody>
          <a:bodyPr/>
          <a:lstStyle/>
          <a:p>
            <a:pPr marL="0" indent="0" eaLnBrk="1" hangingPunct="1">
              <a:buFont typeface="Calibri" panose="020F0502020204030204" pitchFamily="34" charset="0"/>
              <a:buNone/>
            </a:pPr>
            <a:r>
              <a:rPr lang="en-US" altLang="en-US" sz="2400" dirty="0"/>
              <a:t>Select a data structure as follows</a:t>
            </a:r>
          </a:p>
          <a:p>
            <a:pPr marL="0" indent="0" eaLnBrk="1" hangingPunct="1">
              <a:buFont typeface="Calibri" panose="020F0502020204030204" pitchFamily="34" charset="0"/>
              <a:buNone/>
            </a:pPr>
            <a:endParaRPr lang="en-US" altLang="en-US" sz="2400" dirty="0"/>
          </a:p>
          <a:p>
            <a:pPr marL="542925" lvl="1" indent="-342900" eaLnBrk="1" hangingPunct="1">
              <a:buFont typeface="Arial" panose="020B0604020202020204" pitchFamily="34" charset="0"/>
              <a:buChar char="•"/>
            </a:pPr>
            <a:r>
              <a:rPr lang="en-US" altLang="en-US" sz="2400" dirty="0"/>
              <a:t>Analyze the problem to determine the resource constraints a solution must meet.</a:t>
            </a:r>
          </a:p>
          <a:p>
            <a:pPr marL="542925" lvl="1" indent="-342900" eaLnBrk="1" hangingPunct="1">
              <a:buFont typeface="Arial" panose="020B0604020202020204" pitchFamily="34" charset="0"/>
              <a:buChar char="•"/>
            </a:pPr>
            <a:r>
              <a:rPr lang="en-US" altLang="en-US" sz="2400" dirty="0"/>
              <a:t>Determine basic operations that must be supported.</a:t>
            </a:r>
          </a:p>
          <a:p>
            <a:pPr marL="542925" lvl="1" indent="-342900" eaLnBrk="1" hangingPunct="1">
              <a:buFont typeface="Arial" panose="020B0604020202020204" pitchFamily="34" charset="0"/>
              <a:buChar char="•"/>
            </a:pPr>
            <a:r>
              <a:rPr lang="en-US" altLang="en-US" sz="2400" dirty="0"/>
              <a:t>Select the data structure that best meets these requirements.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21F50B8D-B723-EB90-9998-CD3CDBC14A13}"/>
              </a:ext>
            </a:extLst>
          </p:cNvPr>
          <p:cNvSpPr>
            <a:spLocks noGrp="1" noChangeArrowheads="1"/>
          </p:cNvSpPr>
          <p:nvPr>
            <p:ph type="title"/>
          </p:nvPr>
        </p:nvSpPr>
        <p:spPr/>
        <p:txBody>
          <a:bodyPr>
            <a:normAutofit/>
          </a:bodyPr>
          <a:lstStyle/>
          <a:p>
            <a:pPr eaLnBrk="1" fontAlgn="auto" hangingPunct="1">
              <a:spcAft>
                <a:spcPts val="0"/>
              </a:spcAft>
              <a:defRPr/>
            </a:pPr>
            <a:r>
              <a:rPr lang="en-US" altLang="en-US" b="1" dirty="0">
                <a:solidFill>
                  <a:schemeClr val="tx1">
                    <a:lumMod val="75000"/>
                    <a:lumOff val="25000"/>
                  </a:schemeClr>
                </a:solidFill>
              </a:rPr>
              <a:t>Data Structure Philosophy</a:t>
            </a:r>
          </a:p>
        </p:txBody>
      </p:sp>
      <p:sp>
        <p:nvSpPr>
          <p:cNvPr id="8195" name="Rectangle 3">
            <a:extLst>
              <a:ext uri="{FF2B5EF4-FFF2-40B4-BE49-F238E27FC236}">
                <a16:creationId xmlns:a16="http://schemas.microsoft.com/office/drawing/2014/main" id="{0A5E3900-8A69-F22C-0730-B9DF1EC7A22F}"/>
              </a:ext>
            </a:extLst>
          </p:cNvPr>
          <p:cNvSpPr>
            <a:spLocks noGrp="1" noChangeArrowheads="1"/>
          </p:cNvSpPr>
          <p:nvPr>
            <p:ph idx="1"/>
          </p:nvPr>
        </p:nvSpPr>
        <p:spPr>
          <a:xfrm>
            <a:off x="609600" y="914400"/>
            <a:ext cx="7680325" cy="3962400"/>
          </a:xfrm>
        </p:spPr>
        <p:txBody>
          <a:bodyPr rtlCol="0">
            <a:normAutofit/>
          </a:bodyPr>
          <a:lstStyle/>
          <a:p>
            <a:pPr marL="91440" indent="-91440" eaLnBrk="1" fontAlgn="auto" hangingPunct="1">
              <a:defRPr/>
            </a:pPr>
            <a:r>
              <a:rPr lang="en-US" altLang="en-US" sz="2400" dirty="0">
                <a:solidFill>
                  <a:schemeClr val="tx1">
                    <a:lumMod val="75000"/>
                    <a:lumOff val="25000"/>
                  </a:schemeClr>
                </a:solidFill>
              </a:rPr>
              <a:t>Each data structure has costs and benefits.</a:t>
            </a:r>
          </a:p>
          <a:p>
            <a:pPr marL="91440" indent="-91440" eaLnBrk="1" fontAlgn="auto" hangingPunct="1">
              <a:defRPr/>
            </a:pPr>
            <a:r>
              <a:rPr lang="en-US" altLang="en-US" sz="2400" dirty="0">
                <a:solidFill>
                  <a:schemeClr val="tx1">
                    <a:lumMod val="75000"/>
                    <a:lumOff val="25000"/>
                  </a:schemeClr>
                </a:solidFill>
              </a:rPr>
              <a:t>Rarely is one data structure better than another in all situations.</a:t>
            </a:r>
          </a:p>
          <a:p>
            <a:pPr marL="91440" indent="-91440" eaLnBrk="1" fontAlgn="auto" hangingPunct="1">
              <a:defRPr/>
            </a:pPr>
            <a:r>
              <a:rPr lang="en-US" altLang="en-US" sz="2400" dirty="0">
                <a:solidFill>
                  <a:schemeClr val="tx1">
                    <a:lumMod val="75000"/>
                    <a:lumOff val="25000"/>
                  </a:schemeClr>
                </a:solidFill>
              </a:rPr>
              <a:t>A data structure requires:</a:t>
            </a:r>
          </a:p>
          <a:p>
            <a:pPr marL="544068" lvl="1" indent="-342900" eaLnBrk="1" fontAlgn="auto" hangingPunct="1">
              <a:buFont typeface="Arial" panose="020B0604020202020204" pitchFamily="34" charset="0"/>
              <a:buChar char="•"/>
              <a:defRPr/>
            </a:pPr>
            <a:r>
              <a:rPr lang="en-US" altLang="en-US" sz="2400" dirty="0">
                <a:solidFill>
                  <a:schemeClr val="tx1">
                    <a:lumMod val="75000"/>
                    <a:lumOff val="25000"/>
                  </a:schemeClr>
                </a:solidFill>
              </a:rPr>
              <a:t>space for each data item it stores,</a:t>
            </a:r>
          </a:p>
          <a:p>
            <a:pPr marL="544068" lvl="1" indent="-342900" eaLnBrk="1" fontAlgn="auto" hangingPunct="1">
              <a:buFont typeface="Arial" panose="020B0604020202020204" pitchFamily="34" charset="0"/>
              <a:buChar char="•"/>
              <a:defRPr/>
            </a:pPr>
            <a:r>
              <a:rPr lang="en-US" altLang="en-US" sz="2400" dirty="0">
                <a:solidFill>
                  <a:schemeClr val="tx1">
                    <a:lumMod val="75000"/>
                    <a:lumOff val="25000"/>
                  </a:schemeClr>
                </a:solidFill>
              </a:rPr>
              <a:t>time to perform each basic operation,</a:t>
            </a:r>
          </a:p>
          <a:p>
            <a:pPr marL="544068" lvl="1" indent="-342900" eaLnBrk="1" fontAlgn="auto" hangingPunct="1">
              <a:buFont typeface="Arial" panose="020B0604020202020204" pitchFamily="34" charset="0"/>
              <a:buChar char="•"/>
              <a:defRPr/>
            </a:pPr>
            <a:r>
              <a:rPr lang="en-US" altLang="en-US" sz="2400" dirty="0">
                <a:solidFill>
                  <a:schemeClr val="tx1">
                    <a:lumMod val="75000"/>
                    <a:lumOff val="25000"/>
                  </a:schemeClr>
                </a:solidFill>
              </a:rPr>
              <a:t>programming effort.</a:t>
            </a:r>
          </a:p>
          <a:p>
            <a:pPr marL="0" indent="0" eaLnBrk="1" fontAlgn="auto" hangingPunct="1">
              <a:buFont typeface="Calibri" panose="020F0502020204030204" pitchFamily="34" charset="0"/>
              <a:buNone/>
              <a:defRPr/>
            </a:pPr>
            <a:r>
              <a:rPr lang="en-US" altLang="en-US" sz="2400" dirty="0">
                <a:solidFill>
                  <a:schemeClr val="tx1">
                    <a:lumMod val="75000"/>
                    <a:lumOff val="25000"/>
                  </a:schemeClr>
                </a:solidFill>
              </a:rPr>
              <a:t> Each problem has constraints on available time and space.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B324EB9B-6E4A-6240-D08D-30DAC9171906}"/>
              </a:ext>
            </a:extLst>
          </p:cNvPr>
          <p:cNvSpPr>
            <a:spLocks noGrp="1" noChangeArrowheads="1"/>
          </p:cNvSpPr>
          <p:nvPr>
            <p:ph type="title"/>
          </p:nvPr>
        </p:nvSpPr>
        <p:spPr/>
        <p:txBody>
          <a:bodyPr>
            <a:normAutofit/>
          </a:bodyPr>
          <a:lstStyle/>
          <a:p>
            <a:pPr eaLnBrk="1" fontAlgn="auto" hangingPunct="1">
              <a:spcAft>
                <a:spcPts val="0"/>
              </a:spcAft>
              <a:defRPr/>
            </a:pPr>
            <a:r>
              <a:rPr lang="en-US" altLang="en-US" b="1" dirty="0">
                <a:solidFill>
                  <a:schemeClr val="tx1">
                    <a:lumMod val="75000"/>
                    <a:lumOff val="25000"/>
                  </a:schemeClr>
                </a:solidFill>
              </a:rPr>
              <a:t>Definitions</a:t>
            </a:r>
          </a:p>
        </p:txBody>
      </p:sp>
      <p:sp>
        <p:nvSpPr>
          <p:cNvPr id="21507" name="Rectangle 3">
            <a:extLst>
              <a:ext uri="{FF2B5EF4-FFF2-40B4-BE49-F238E27FC236}">
                <a16:creationId xmlns:a16="http://schemas.microsoft.com/office/drawing/2014/main" id="{C922EA8B-4A4F-E251-8713-D690DD672526}"/>
              </a:ext>
            </a:extLst>
          </p:cNvPr>
          <p:cNvSpPr>
            <a:spLocks noGrp="1" noChangeArrowheads="1"/>
          </p:cNvSpPr>
          <p:nvPr>
            <p:ph idx="1"/>
          </p:nvPr>
        </p:nvSpPr>
        <p:spPr>
          <a:xfrm>
            <a:off x="914400" y="838200"/>
            <a:ext cx="9601200" cy="5105400"/>
          </a:xfrm>
        </p:spPr>
        <p:txBody>
          <a:bodyPr/>
          <a:lstStyle/>
          <a:p>
            <a:pPr eaLnBrk="1" hangingPunct="1"/>
            <a:r>
              <a:rPr lang="en-US" altLang="en-US" dirty="0"/>
              <a:t>A </a:t>
            </a:r>
            <a:r>
              <a:rPr lang="en-US" altLang="en-US" b="1" i="1" dirty="0"/>
              <a:t>type</a:t>
            </a:r>
            <a:r>
              <a:rPr lang="en-US" altLang="en-US" dirty="0"/>
              <a:t> is a set of values.</a:t>
            </a:r>
          </a:p>
          <a:p>
            <a:pPr lvl="1" eaLnBrk="1" hangingPunct="1"/>
            <a:r>
              <a:rPr lang="en-US" altLang="en-US" dirty="0"/>
              <a:t>E.g., </a:t>
            </a:r>
            <a:r>
              <a:rPr lang="en-US" altLang="en-US" dirty="0" err="1"/>
              <a:t>boolean</a:t>
            </a:r>
            <a:r>
              <a:rPr lang="en-US" altLang="en-US" dirty="0"/>
              <a:t>, int</a:t>
            </a:r>
          </a:p>
          <a:p>
            <a:pPr lvl="1" eaLnBrk="1" hangingPunct="1"/>
            <a:r>
              <a:rPr lang="en-US" altLang="en-US" dirty="0"/>
              <a:t>Can be an infinite set (but not on a computer)</a:t>
            </a:r>
          </a:p>
          <a:p>
            <a:pPr eaLnBrk="1" hangingPunct="1"/>
            <a:r>
              <a:rPr lang="en-US" altLang="en-US" dirty="0"/>
              <a:t>A </a:t>
            </a:r>
            <a:r>
              <a:rPr lang="en-US" altLang="en-US" b="1" i="1" dirty="0"/>
              <a:t>data type</a:t>
            </a:r>
            <a:r>
              <a:rPr lang="en-US" altLang="en-US" dirty="0"/>
              <a:t> is a type and a collection of operations that manipulate the type.</a:t>
            </a:r>
          </a:p>
          <a:p>
            <a:pPr eaLnBrk="1" hangingPunct="1"/>
            <a:r>
              <a:rPr lang="en-US" altLang="en-US" dirty="0"/>
              <a:t>A </a:t>
            </a:r>
            <a:r>
              <a:rPr lang="en-US" altLang="en-US" b="1" i="1" dirty="0"/>
              <a:t>data element</a:t>
            </a:r>
            <a:r>
              <a:rPr lang="en-US" altLang="en-US" dirty="0"/>
              <a:t> or </a:t>
            </a:r>
            <a:r>
              <a:rPr lang="en-US" altLang="en-US" b="1" i="1" dirty="0"/>
              <a:t>element</a:t>
            </a:r>
            <a:r>
              <a:rPr lang="en-US" altLang="en-US" dirty="0"/>
              <a:t> is a piece of information in a record.</a:t>
            </a:r>
          </a:p>
          <a:p>
            <a:pPr eaLnBrk="1" hangingPunct="1"/>
            <a:r>
              <a:rPr lang="en-US" altLang="en-US" dirty="0"/>
              <a:t>A </a:t>
            </a:r>
            <a:r>
              <a:rPr lang="en-US" altLang="en-US" b="1" i="1" dirty="0"/>
              <a:t>simple data item</a:t>
            </a:r>
            <a:r>
              <a:rPr lang="en-US" altLang="en-US" dirty="0"/>
              <a:t> contains no subparts.</a:t>
            </a:r>
          </a:p>
          <a:p>
            <a:pPr eaLnBrk="1" hangingPunct="1"/>
            <a:r>
              <a:rPr lang="en-US" altLang="en-US" dirty="0"/>
              <a:t>An </a:t>
            </a:r>
            <a:r>
              <a:rPr lang="en-US" altLang="en-US" b="1" i="1" dirty="0"/>
              <a:t>aggregate data item</a:t>
            </a:r>
            <a:r>
              <a:rPr lang="en-US" altLang="en-US" dirty="0"/>
              <a:t> may contain several pieces of information.</a:t>
            </a:r>
          </a:p>
          <a:p>
            <a:pPr eaLnBrk="1" hangingPunct="1"/>
            <a:r>
              <a:rPr lang="en-US" altLang="en-US" b="1" dirty="0"/>
              <a:t>Record</a:t>
            </a:r>
            <a:r>
              <a:rPr lang="en-US" altLang="en-US" dirty="0"/>
              <a:t> – collection of data items</a:t>
            </a:r>
          </a:p>
          <a:p>
            <a:pPr eaLnBrk="1" hangingPunct="1"/>
            <a:r>
              <a:rPr lang="en-US" altLang="en-US" b="1" dirty="0"/>
              <a:t>File </a:t>
            </a:r>
            <a:r>
              <a:rPr lang="en-US" altLang="en-US" dirty="0"/>
              <a:t>– Collection of records</a:t>
            </a:r>
          </a:p>
          <a:p>
            <a:pPr eaLnBrk="1" hangingPunct="1"/>
            <a:endParaRPr lang="en-US"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F3F3E892-64D3-02C1-B0B5-4440261701C4}"/>
              </a:ext>
            </a:extLst>
          </p:cNvPr>
          <p:cNvSpPr>
            <a:spLocks noGrp="1" noChangeArrowheads="1"/>
          </p:cNvSpPr>
          <p:nvPr>
            <p:ph type="title"/>
          </p:nvPr>
        </p:nvSpPr>
        <p:spPr/>
        <p:txBody>
          <a:bodyPr>
            <a:normAutofit/>
          </a:bodyPr>
          <a:lstStyle/>
          <a:p>
            <a:pPr eaLnBrk="1" fontAlgn="auto" hangingPunct="1">
              <a:spcAft>
                <a:spcPts val="0"/>
              </a:spcAft>
              <a:defRPr/>
            </a:pPr>
            <a:r>
              <a:rPr lang="en-US" altLang="en-US" b="1" dirty="0">
                <a:solidFill>
                  <a:schemeClr val="tx1">
                    <a:lumMod val="75000"/>
                    <a:lumOff val="25000"/>
                  </a:schemeClr>
                </a:solidFill>
              </a:rPr>
              <a:t>Abstract Data Types</a:t>
            </a:r>
          </a:p>
        </p:txBody>
      </p:sp>
      <p:sp>
        <p:nvSpPr>
          <p:cNvPr id="22531" name="Rectangle 3">
            <a:extLst>
              <a:ext uri="{FF2B5EF4-FFF2-40B4-BE49-F238E27FC236}">
                <a16:creationId xmlns:a16="http://schemas.microsoft.com/office/drawing/2014/main" id="{4D0F9D87-6DB8-A548-D2F7-5B64683B43E0}"/>
              </a:ext>
            </a:extLst>
          </p:cNvPr>
          <p:cNvSpPr>
            <a:spLocks noGrp="1" noChangeArrowheads="1"/>
          </p:cNvSpPr>
          <p:nvPr>
            <p:ph idx="1"/>
          </p:nvPr>
        </p:nvSpPr>
        <p:spPr>
          <a:xfrm>
            <a:off x="319333" y="838200"/>
            <a:ext cx="11553334" cy="5428686"/>
          </a:xfrm>
        </p:spPr>
        <p:txBody>
          <a:bodyPr/>
          <a:lstStyle/>
          <a:p>
            <a:pPr algn="just" eaLnBrk="1" hangingPunct="1"/>
            <a:r>
              <a:rPr lang="en-US" altLang="en-US" sz="2000" b="1" i="1" dirty="0"/>
              <a:t>Abstract Data Type (ADT):</a:t>
            </a:r>
            <a:r>
              <a:rPr lang="en-US" altLang="en-US" sz="2000" dirty="0"/>
              <a:t> a definition for a data type solely in terms of a set of values and a set of operations on that data type.</a:t>
            </a:r>
          </a:p>
          <a:p>
            <a:pPr algn="just" eaLnBrk="1" hangingPunct="1"/>
            <a:r>
              <a:rPr lang="en-IN" sz="2000" dirty="0"/>
              <a:t>An </a:t>
            </a:r>
            <a:r>
              <a:rPr lang="en-IN" sz="2000" b="1" dirty="0"/>
              <a:t>Abstract Data Type (ADT)</a:t>
            </a:r>
            <a:r>
              <a:rPr lang="en-IN" sz="2000" dirty="0"/>
              <a:t> is a conceptual model that defines a data type solely by its behaviour and the operations that can be performed on it, completely independent of its underlying implementation. It serves as a contract or "blueprint" that tells you </a:t>
            </a:r>
            <a:r>
              <a:rPr lang="en-IN" sz="2000" b="1" dirty="0"/>
              <a:t>what</a:t>
            </a:r>
            <a:r>
              <a:rPr lang="en-IN" sz="2000" dirty="0"/>
              <a:t> the data type does, but not </a:t>
            </a:r>
            <a:r>
              <a:rPr lang="en-IN" sz="2000" b="1" dirty="0"/>
              <a:t>how</a:t>
            </a:r>
            <a:r>
              <a:rPr lang="en-IN" sz="2000" dirty="0"/>
              <a:t> it does it.</a:t>
            </a:r>
          </a:p>
          <a:p>
            <a:pPr algn="just" eaLnBrk="1" hangingPunct="1"/>
            <a:r>
              <a:rPr lang="en-IN" sz="2000" b="1" u="none" strike="noStrike" dirty="0">
                <a:effectLst/>
                <a:latin typeface="Google Sans"/>
              </a:rPr>
              <a:t>Properties:</a:t>
            </a:r>
          </a:p>
          <a:p>
            <a:pPr algn="just" eaLnBrk="1" hangingPunct="1"/>
            <a:r>
              <a:rPr lang="en-IN" sz="2000" b="1" u="none" strike="noStrike" dirty="0">
                <a:effectLst/>
                <a:latin typeface="Google Sans"/>
              </a:rPr>
              <a:t>Abstraction</a:t>
            </a:r>
            <a:r>
              <a:rPr lang="en-IN" sz="2000" b="0" u="none" strike="noStrike" dirty="0">
                <a:effectLst/>
                <a:latin typeface="Google Sans"/>
              </a:rPr>
              <a:t>: Hides complex, low-level details behind a simpler, high-level interface.</a:t>
            </a:r>
          </a:p>
          <a:p>
            <a:pPr algn="just" eaLnBrk="1" hangingPunct="1"/>
            <a:r>
              <a:rPr lang="en-IN" sz="2000" b="1" u="none" strike="noStrike" dirty="0">
                <a:effectLst/>
                <a:latin typeface="Google Sans"/>
              </a:rPr>
              <a:t>Encapsulation</a:t>
            </a:r>
            <a:r>
              <a:rPr lang="en-IN" sz="2000" b="0" u="none" strike="noStrike" dirty="0">
                <a:effectLst/>
                <a:latin typeface="Google Sans"/>
              </a:rPr>
              <a:t>: Bundles the data and its valid operations together into a single conceptual unit.</a:t>
            </a:r>
          </a:p>
          <a:p>
            <a:pPr algn="just" eaLnBrk="1" hangingPunct="1"/>
            <a:r>
              <a:rPr lang="en-IN" sz="2000" b="1" u="none" strike="noStrike" dirty="0">
                <a:effectLst/>
                <a:latin typeface="Google Sans"/>
              </a:rPr>
              <a:t>Data Independence</a:t>
            </a:r>
            <a:r>
              <a:rPr lang="en-IN" sz="2000" b="0" u="none" strike="noStrike" dirty="0">
                <a:effectLst/>
                <a:latin typeface="Google Sans"/>
              </a:rPr>
              <a:t>: You can swap the internal implementation (e.g., switching from an array to a linked list) without breaking any external code that uses the ADT</a:t>
            </a:r>
          </a:p>
          <a:p>
            <a:r>
              <a:rPr lang="en-IN" sz="2000" b="1" dirty="0">
                <a:latin typeface="Google Sans"/>
              </a:rPr>
              <a:t>Examples:</a:t>
            </a:r>
          </a:p>
          <a:p>
            <a:r>
              <a:rPr lang="en-IN" sz="2000" b="1" dirty="0">
                <a:latin typeface="Google Sans"/>
              </a:rPr>
              <a:t>Stack, Queue, List, Map / Dictionary, Set</a:t>
            </a:r>
            <a:endParaRPr lang="en-US" alt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B1DDB-1979-9B0A-E82A-0A5237E10F7D}"/>
              </a:ext>
            </a:extLst>
          </p:cNvPr>
          <p:cNvSpPr>
            <a:spLocks noGrp="1"/>
          </p:cNvSpPr>
          <p:nvPr>
            <p:ph type="title"/>
          </p:nvPr>
        </p:nvSpPr>
        <p:spPr/>
        <p:txBody>
          <a:bodyPr/>
          <a:lstStyle/>
          <a:p>
            <a:r>
              <a:rPr lang="en-US" dirty="0"/>
              <a:t>Difference between ADT and Data Structure</a:t>
            </a:r>
            <a:endParaRPr lang="en-IN" dirty="0"/>
          </a:p>
        </p:txBody>
      </p:sp>
      <p:graphicFrame>
        <p:nvGraphicFramePr>
          <p:cNvPr id="10" name="Content Placeholder 9">
            <a:extLst>
              <a:ext uri="{FF2B5EF4-FFF2-40B4-BE49-F238E27FC236}">
                <a16:creationId xmlns:a16="http://schemas.microsoft.com/office/drawing/2014/main" id="{9C81B97B-5787-AED7-2734-AF37CD109C12}"/>
              </a:ext>
            </a:extLst>
          </p:cNvPr>
          <p:cNvGraphicFramePr>
            <a:graphicFrameLocks noGrp="1"/>
          </p:cNvGraphicFramePr>
          <p:nvPr>
            <p:ph idx="1"/>
            <p:extLst>
              <p:ext uri="{D42A27DB-BD31-4B8C-83A1-F6EECF244321}">
                <p14:modId xmlns:p14="http://schemas.microsoft.com/office/powerpoint/2010/main" val="1525969236"/>
              </p:ext>
            </p:extLst>
          </p:nvPr>
        </p:nvGraphicFramePr>
        <p:xfrm>
          <a:off x="1219494" y="820420"/>
          <a:ext cx="9753011" cy="3048000"/>
        </p:xfrm>
        <a:graphic>
          <a:graphicData uri="http://schemas.openxmlformats.org/drawingml/2006/table">
            <a:tbl>
              <a:tblPr firstRow="1" firstCol="1" bandRow="1">
                <a:tableStyleId>{68D230F3-CF80-4859-8CE7-A43EE81993B5}</a:tableStyleId>
              </a:tblPr>
              <a:tblGrid>
                <a:gridCol w="2057400">
                  <a:extLst>
                    <a:ext uri="{9D8B030D-6E8A-4147-A177-3AD203B41FA5}">
                      <a16:colId xmlns:a16="http://schemas.microsoft.com/office/drawing/2014/main" val="811431877"/>
                    </a:ext>
                  </a:extLst>
                </a:gridCol>
                <a:gridCol w="3790370">
                  <a:extLst>
                    <a:ext uri="{9D8B030D-6E8A-4147-A177-3AD203B41FA5}">
                      <a16:colId xmlns:a16="http://schemas.microsoft.com/office/drawing/2014/main" val="3488437605"/>
                    </a:ext>
                  </a:extLst>
                </a:gridCol>
                <a:gridCol w="3905241">
                  <a:extLst>
                    <a:ext uri="{9D8B030D-6E8A-4147-A177-3AD203B41FA5}">
                      <a16:colId xmlns:a16="http://schemas.microsoft.com/office/drawing/2014/main" val="2642617568"/>
                    </a:ext>
                  </a:extLst>
                </a:gridCol>
              </a:tblGrid>
              <a:tr h="379698">
                <a:tc>
                  <a:txBody>
                    <a:bodyPr/>
                    <a:lstStyle/>
                    <a:p>
                      <a:pP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Feature</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Abstract Data Type (ADT)</a:t>
                      </a:r>
                      <a:endParaRPr lang="en-IN"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Data Structure</a:t>
                      </a:r>
                      <a:endParaRPr lang="en-IN"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934259063"/>
                  </a:ext>
                </a:extLst>
              </a:tr>
              <a:tr h="762868">
                <a:tc>
                  <a:txBody>
                    <a:bodyPr/>
                    <a:lstStyle/>
                    <a:p>
                      <a:pP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Perspective</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User's view: Focuses on the logical behavior and operations.</a:t>
                      </a:r>
                      <a:endParaRPr lang="en-IN"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Implementer's view: Focuses on memory organization and code.</a:t>
                      </a:r>
                      <a:endParaRPr lang="en-IN"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9647329"/>
                  </a:ext>
                </a:extLst>
              </a:tr>
              <a:tr h="379698">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Nature</a:t>
                      </a:r>
                      <a:endParaRPr lang="en-IN"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Theoretical and conceptual.</a:t>
                      </a:r>
                      <a:endParaRPr lang="en-IN"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Concrete and physical.</a:t>
                      </a:r>
                      <a:endParaRPr lang="en-IN"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11625515"/>
                  </a:ext>
                </a:extLst>
              </a:tr>
              <a:tr h="762868">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Language Feature</a:t>
                      </a:r>
                      <a:endParaRPr lang="en-IN"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Represented by Interfaces or Abstract Classes.</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Represented by Classes, Structs, or Arrays.</a:t>
                      </a:r>
                      <a:endParaRPr lang="en-IN"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16146493"/>
                  </a:ext>
                </a:extLst>
              </a:tr>
              <a:tr h="762868">
                <a:tc>
                  <a:txBody>
                    <a:bodyPr/>
                    <a:lstStyle/>
                    <a:p>
                      <a:pP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Example</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Stack (supports push and pop).</a:t>
                      </a:r>
                      <a:endParaRPr lang="en-IN"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Linked List or Array (used to build the stack).</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97044477"/>
                  </a:ext>
                </a:extLst>
              </a:tr>
            </a:tbl>
          </a:graphicData>
        </a:graphic>
      </p:graphicFrame>
      <p:pic>
        <p:nvPicPr>
          <p:cNvPr id="12" name="Picture 11">
            <a:extLst>
              <a:ext uri="{FF2B5EF4-FFF2-40B4-BE49-F238E27FC236}">
                <a16:creationId xmlns:a16="http://schemas.microsoft.com/office/drawing/2014/main" id="{322450E9-1530-7E3B-E282-359D5A19D45D}"/>
              </a:ext>
            </a:extLst>
          </p:cNvPr>
          <p:cNvPicPr>
            <a:picLocks noChangeAspect="1"/>
          </p:cNvPicPr>
          <p:nvPr/>
        </p:nvPicPr>
        <p:blipFill>
          <a:blip r:embed="rId2"/>
          <a:stretch>
            <a:fillRect/>
          </a:stretch>
        </p:blipFill>
        <p:spPr>
          <a:xfrm>
            <a:off x="3526025" y="4038600"/>
            <a:ext cx="5139950" cy="2268000"/>
          </a:xfrm>
          <a:prstGeom prst="rect">
            <a:avLst/>
          </a:prstGeom>
        </p:spPr>
      </p:pic>
    </p:spTree>
    <p:extLst>
      <p:ext uri="{BB962C8B-B14F-4D97-AF65-F5344CB8AC3E}">
        <p14:creationId xmlns:p14="http://schemas.microsoft.com/office/powerpoint/2010/main" val="885004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75F8C-332C-2FE0-3868-971B9CF4DA19}"/>
              </a:ext>
            </a:extLst>
          </p:cNvPr>
          <p:cNvSpPr>
            <a:spLocks noGrp="1"/>
          </p:cNvSpPr>
          <p:nvPr>
            <p:ph type="title"/>
          </p:nvPr>
        </p:nvSpPr>
        <p:spPr/>
        <p:txBody>
          <a:bodyPr/>
          <a:lstStyle/>
          <a:p>
            <a:r>
              <a:rPr lang="en-US" dirty="0"/>
              <a:t>Difference between ADT and UDT</a:t>
            </a:r>
            <a:endParaRPr lang="en-IN" dirty="0"/>
          </a:p>
        </p:txBody>
      </p:sp>
      <p:graphicFrame>
        <p:nvGraphicFramePr>
          <p:cNvPr id="7" name="Content Placeholder 6">
            <a:extLst>
              <a:ext uri="{FF2B5EF4-FFF2-40B4-BE49-F238E27FC236}">
                <a16:creationId xmlns:a16="http://schemas.microsoft.com/office/drawing/2014/main" id="{311F963E-F5E1-AE38-92C3-C72D76946CD8}"/>
              </a:ext>
            </a:extLst>
          </p:cNvPr>
          <p:cNvGraphicFramePr>
            <a:graphicFrameLocks noGrp="1"/>
          </p:cNvGraphicFramePr>
          <p:nvPr>
            <p:ph idx="1"/>
            <p:extLst>
              <p:ext uri="{D42A27DB-BD31-4B8C-83A1-F6EECF244321}">
                <p14:modId xmlns:p14="http://schemas.microsoft.com/office/powerpoint/2010/main" val="2048341359"/>
              </p:ext>
            </p:extLst>
          </p:nvPr>
        </p:nvGraphicFramePr>
        <p:xfrm>
          <a:off x="744708" y="1143000"/>
          <a:ext cx="10702584" cy="4151760"/>
        </p:xfrm>
        <a:graphic>
          <a:graphicData uri="http://schemas.openxmlformats.org/drawingml/2006/table">
            <a:tbl>
              <a:tblPr firstRow="1" firstCol="1" bandRow="1">
                <a:tableStyleId>{68D230F3-CF80-4859-8CE7-A43EE81993B5}</a:tableStyleId>
              </a:tblPr>
              <a:tblGrid>
                <a:gridCol w="1752600">
                  <a:extLst>
                    <a:ext uri="{9D8B030D-6E8A-4147-A177-3AD203B41FA5}">
                      <a16:colId xmlns:a16="http://schemas.microsoft.com/office/drawing/2014/main" val="1732280441"/>
                    </a:ext>
                  </a:extLst>
                </a:gridCol>
                <a:gridCol w="4589292">
                  <a:extLst>
                    <a:ext uri="{9D8B030D-6E8A-4147-A177-3AD203B41FA5}">
                      <a16:colId xmlns:a16="http://schemas.microsoft.com/office/drawing/2014/main" val="382970990"/>
                    </a:ext>
                  </a:extLst>
                </a:gridCol>
                <a:gridCol w="4360692">
                  <a:extLst>
                    <a:ext uri="{9D8B030D-6E8A-4147-A177-3AD203B41FA5}">
                      <a16:colId xmlns:a16="http://schemas.microsoft.com/office/drawing/2014/main" val="4144809523"/>
                    </a:ext>
                  </a:extLst>
                </a:gridCol>
              </a:tblGrid>
              <a:tr h="0">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Feature</a:t>
                      </a:r>
                      <a:endParaRPr lang="en-IN"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Abstract Data Types (ADTs)</a:t>
                      </a:r>
                      <a:endParaRPr lang="en-IN"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User-Defined Data Types (UDTs)</a:t>
                      </a:r>
                      <a:endParaRPr lang="en-IN"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00522503"/>
                  </a:ext>
                </a:extLst>
              </a:tr>
              <a:tr h="0">
                <a:tc>
                  <a:txBody>
                    <a:bodyPr/>
                    <a:lstStyle/>
                    <a:p>
                      <a:pP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Definition</a:t>
                      </a:r>
                      <a:endParaRPr lang="en-IN" sz="2000" kern="100" dirty="0">
                        <a:effectLst/>
                        <a:latin typeface="Times New Roman" panose="02020603050405020304" pitchFamily="18" charset="0"/>
                        <a:ea typeface="+mn-ea"/>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Defines the logical behavior of a data type without specifying its implementation.</a:t>
                      </a:r>
                      <a:endParaRPr lang="en-IN" sz="2000" kern="100">
                        <a:effectLst/>
                        <a:latin typeface="Times New Roman" panose="02020603050405020304" pitchFamily="18" charset="0"/>
                        <a:ea typeface="+mn-ea"/>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Defines custom data types created by programmers using programming language constructs.</a:t>
                      </a:r>
                      <a:endParaRPr lang="en-IN" sz="2000" kern="100">
                        <a:effectLst/>
                        <a:latin typeface="Times New Roman" panose="02020603050405020304" pitchFamily="18" charset="0"/>
                        <a:ea typeface="+mn-ea"/>
                        <a:cs typeface="Times New Roman" panose="02020603050405020304" pitchFamily="18" charset="0"/>
                      </a:endParaRPr>
                    </a:p>
                  </a:txBody>
                  <a:tcPr marL="9525" marR="9525" marT="9525" marB="9525" anchor="ctr"/>
                </a:tc>
                <a:extLst>
                  <a:ext uri="{0D108BD9-81ED-4DB2-BD59-A6C34878D82A}">
                    <a16:rowId xmlns:a16="http://schemas.microsoft.com/office/drawing/2014/main" val="2353469350"/>
                  </a:ext>
                </a:extLst>
              </a:tr>
              <a:tr h="0">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Focus</a:t>
                      </a:r>
                      <a:endParaRPr lang="en-IN" sz="2000" kern="100">
                        <a:effectLst/>
                        <a:latin typeface="Times New Roman" panose="02020603050405020304" pitchFamily="18" charset="0"/>
                        <a:ea typeface="+mn-ea"/>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Focuses on allowed operations and their </a:t>
                      </a:r>
                      <a:r>
                        <a:rPr lang="en-IN" sz="2000" kern="100" dirty="0" err="1">
                          <a:effectLst/>
                          <a:latin typeface="Times New Roman" panose="02020603050405020304" pitchFamily="18" charset="0"/>
                          <a:cs typeface="Times New Roman" panose="02020603050405020304" pitchFamily="18" charset="0"/>
                        </a:rPr>
                        <a:t>behavior</a:t>
                      </a:r>
                      <a:r>
                        <a:rPr lang="en-IN" sz="2000" kern="100" dirty="0">
                          <a:effectLst/>
                          <a:latin typeface="Times New Roman" panose="02020603050405020304" pitchFamily="18" charset="0"/>
                          <a:cs typeface="Times New Roman" panose="02020603050405020304" pitchFamily="18" charset="0"/>
                        </a:rPr>
                        <a:t>, without implementation details.</a:t>
                      </a:r>
                      <a:endParaRPr lang="en-IN" sz="2000" kern="100" dirty="0">
                        <a:effectLst/>
                        <a:latin typeface="Times New Roman" panose="02020603050405020304" pitchFamily="18" charset="0"/>
                        <a:ea typeface="+mn-ea"/>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Focuses on how data is organized in memory and how operations are executed.</a:t>
                      </a:r>
                      <a:endParaRPr lang="en-IN" sz="2000" kern="100">
                        <a:effectLst/>
                        <a:latin typeface="Times New Roman" panose="02020603050405020304" pitchFamily="18" charset="0"/>
                        <a:ea typeface="+mn-ea"/>
                        <a:cs typeface="Times New Roman" panose="02020603050405020304" pitchFamily="18" charset="0"/>
                      </a:endParaRPr>
                    </a:p>
                  </a:txBody>
                  <a:tcPr marL="9525" marR="9525" marT="9525" marB="9525" anchor="ctr"/>
                </a:tc>
                <a:extLst>
                  <a:ext uri="{0D108BD9-81ED-4DB2-BD59-A6C34878D82A}">
                    <a16:rowId xmlns:a16="http://schemas.microsoft.com/office/drawing/2014/main" val="4009674571"/>
                  </a:ext>
                </a:extLst>
              </a:tr>
              <a:tr h="0">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Purpose</a:t>
                      </a:r>
                      <a:endParaRPr lang="en-IN" sz="2000" kern="100">
                        <a:effectLst/>
                        <a:latin typeface="Times New Roman" panose="02020603050405020304" pitchFamily="18" charset="0"/>
                        <a:ea typeface="+mn-ea"/>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Provides an abstract model for defining data structures conceptually.</a:t>
                      </a:r>
                      <a:endParaRPr lang="en-IN" sz="2000" kern="100" dirty="0">
                        <a:effectLst/>
                        <a:latin typeface="Times New Roman" panose="02020603050405020304" pitchFamily="18" charset="0"/>
                        <a:ea typeface="+mn-ea"/>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Allows programmers to create concrete implementations of data structures using primitive types.</a:t>
                      </a:r>
                      <a:endParaRPr lang="en-IN" sz="2000" kern="100">
                        <a:effectLst/>
                        <a:latin typeface="Times New Roman" panose="02020603050405020304" pitchFamily="18" charset="0"/>
                        <a:ea typeface="+mn-ea"/>
                        <a:cs typeface="Times New Roman" panose="02020603050405020304" pitchFamily="18" charset="0"/>
                      </a:endParaRPr>
                    </a:p>
                  </a:txBody>
                  <a:tcPr marL="9525" marR="9525" marT="9525" marB="9525" anchor="ctr"/>
                </a:tc>
                <a:extLst>
                  <a:ext uri="{0D108BD9-81ED-4DB2-BD59-A6C34878D82A}">
                    <a16:rowId xmlns:a16="http://schemas.microsoft.com/office/drawing/2014/main" val="1049205952"/>
                  </a:ext>
                </a:extLst>
              </a:tr>
              <a:tr h="0">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Implementation</a:t>
                      </a:r>
                      <a:endParaRPr lang="en-IN" sz="2000" kern="100">
                        <a:effectLst/>
                        <a:latin typeface="Times New Roman" panose="02020603050405020304" pitchFamily="18" charset="0"/>
                        <a:ea typeface="+mn-ea"/>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Does not define the implementation of operations or data structure.</a:t>
                      </a:r>
                      <a:endParaRPr lang="en-IN" sz="2000" kern="100">
                        <a:effectLst/>
                        <a:latin typeface="Times New Roman" panose="02020603050405020304" pitchFamily="18" charset="0"/>
                        <a:ea typeface="+mn-ea"/>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Specifies how to create and organize data types for implementing the structure.</a:t>
                      </a:r>
                      <a:endParaRPr lang="en-IN" sz="2000" kern="100" dirty="0">
                        <a:effectLst/>
                        <a:latin typeface="Times New Roman" panose="02020603050405020304" pitchFamily="18" charset="0"/>
                        <a:ea typeface="+mn-ea"/>
                        <a:cs typeface="Times New Roman" panose="02020603050405020304" pitchFamily="18" charset="0"/>
                      </a:endParaRPr>
                    </a:p>
                  </a:txBody>
                  <a:tcPr marL="9525" marR="9525" marT="9525" marB="9525" anchor="ctr"/>
                </a:tc>
                <a:extLst>
                  <a:ext uri="{0D108BD9-81ED-4DB2-BD59-A6C34878D82A}">
                    <a16:rowId xmlns:a16="http://schemas.microsoft.com/office/drawing/2014/main" val="4026357904"/>
                  </a:ext>
                </a:extLst>
              </a:tr>
              <a:tr h="0">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Examples</a:t>
                      </a:r>
                      <a:endParaRPr lang="en-IN" sz="2000" kern="100">
                        <a:effectLst/>
                        <a:latin typeface="Times New Roman" panose="02020603050405020304" pitchFamily="18" charset="0"/>
                        <a:ea typeface="+mn-ea"/>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List, Stack, Queue</a:t>
                      </a:r>
                      <a:endParaRPr lang="en-IN" sz="2000" kern="100">
                        <a:effectLst/>
                        <a:latin typeface="Times New Roman" panose="02020603050405020304" pitchFamily="18" charset="0"/>
                        <a:ea typeface="+mn-ea"/>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Classes, Structs, Enumerations</a:t>
                      </a:r>
                      <a:endParaRPr lang="en-IN" sz="2000" kern="100" dirty="0">
                        <a:effectLst/>
                        <a:latin typeface="Times New Roman" panose="02020603050405020304" pitchFamily="18" charset="0"/>
                        <a:ea typeface="+mn-ea"/>
                        <a:cs typeface="Times New Roman" panose="02020603050405020304" pitchFamily="18" charset="0"/>
                      </a:endParaRPr>
                    </a:p>
                  </a:txBody>
                  <a:tcPr marL="9525" marR="9525" marT="9525" marB="9525" anchor="ctr"/>
                </a:tc>
                <a:extLst>
                  <a:ext uri="{0D108BD9-81ED-4DB2-BD59-A6C34878D82A}">
                    <a16:rowId xmlns:a16="http://schemas.microsoft.com/office/drawing/2014/main" val="4245430941"/>
                  </a:ext>
                </a:extLst>
              </a:tr>
            </a:tbl>
          </a:graphicData>
        </a:graphic>
      </p:graphicFrame>
    </p:spTree>
    <p:extLst>
      <p:ext uri="{BB962C8B-B14F-4D97-AF65-F5344CB8AC3E}">
        <p14:creationId xmlns:p14="http://schemas.microsoft.com/office/powerpoint/2010/main" val="39600348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D69D2C48-3804-497A-85A7-50E06DEFF167}"/>
              </a:ext>
            </a:extLst>
          </p:cNvPr>
          <p:cNvSpPr>
            <a:spLocks noGrp="1"/>
          </p:cNvSpPr>
          <p:nvPr>
            <p:ph type="title"/>
          </p:nvPr>
        </p:nvSpPr>
        <p:spPr/>
        <p:txBody>
          <a:bodyPr>
            <a:normAutofit/>
          </a:bodyPr>
          <a:lstStyle/>
          <a:p>
            <a:pPr eaLnBrk="1" fontAlgn="auto" hangingPunct="1">
              <a:spcAft>
                <a:spcPts val="0"/>
              </a:spcAft>
              <a:defRPr/>
            </a:pPr>
            <a:r>
              <a:rPr lang="en-US" altLang="en-US" b="1" dirty="0">
                <a:solidFill>
                  <a:schemeClr val="tx1">
                    <a:lumMod val="75000"/>
                    <a:lumOff val="25000"/>
                  </a:schemeClr>
                </a:solidFill>
              </a:rPr>
              <a:t>Classification </a:t>
            </a:r>
          </a:p>
        </p:txBody>
      </p:sp>
      <p:pic>
        <p:nvPicPr>
          <p:cNvPr id="25603" name="Picture 2" descr="Image result for classification of data structure">
            <a:extLst>
              <a:ext uri="{FF2B5EF4-FFF2-40B4-BE49-F238E27FC236}">
                <a16:creationId xmlns:a16="http://schemas.microsoft.com/office/drawing/2014/main" id="{C19AD6CA-1945-270D-13DB-57DA5D37189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81200" y="914400"/>
            <a:ext cx="8729235" cy="3733800"/>
          </a:xfr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9F6FE679-DB46-CB48-9198-5CAF29D5631D}"/>
              </a:ext>
            </a:extLst>
          </p:cNvPr>
          <p:cNvSpPr>
            <a:spLocks noGrp="1"/>
          </p:cNvSpPr>
          <p:nvPr>
            <p:ph type="title"/>
          </p:nvPr>
        </p:nvSpPr>
        <p:spPr/>
        <p:txBody>
          <a:bodyPr>
            <a:normAutofit/>
          </a:bodyPr>
          <a:lstStyle/>
          <a:p>
            <a:pPr eaLnBrk="1" fontAlgn="auto" hangingPunct="1">
              <a:spcAft>
                <a:spcPts val="0"/>
              </a:spcAft>
              <a:defRPr/>
            </a:pPr>
            <a:r>
              <a:rPr lang="en-US" altLang="en-US" b="1" dirty="0">
                <a:solidFill>
                  <a:schemeClr val="tx1">
                    <a:lumMod val="75000"/>
                    <a:lumOff val="25000"/>
                  </a:schemeClr>
                </a:solidFill>
              </a:rPr>
              <a:t>Classification </a:t>
            </a:r>
          </a:p>
        </p:txBody>
      </p:sp>
      <p:sp>
        <p:nvSpPr>
          <p:cNvPr id="2" name="Content Placeholder 1">
            <a:extLst>
              <a:ext uri="{FF2B5EF4-FFF2-40B4-BE49-F238E27FC236}">
                <a16:creationId xmlns:a16="http://schemas.microsoft.com/office/drawing/2014/main" id="{510E8BFB-788A-9711-B5E6-DA51D1751EF0}"/>
              </a:ext>
            </a:extLst>
          </p:cNvPr>
          <p:cNvSpPr>
            <a:spLocks noGrp="1"/>
          </p:cNvSpPr>
          <p:nvPr>
            <p:ph idx="1"/>
          </p:nvPr>
        </p:nvSpPr>
        <p:spPr>
          <a:xfrm>
            <a:off x="228600" y="862577"/>
            <a:ext cx="11887200" cy="5428686"/>
          </a:xfrm>
        </p:spPr>
        <p:txBody>
          <a:bodyPr/>
          <a:lstStyle/>
          <a:p>
            <a:r>
              <a:rPr lang="en-IN" b="1" dirty="0"/>
              <a:t>Ephemeral data structures</a:t>
            </a:r>
            <a:r>
              <a:rPr lang="en-IN" dirty="0"/>
              <a:t> are traditional, mutable structures where modifying the data (such as an insert, delete, or update) destroys the previous version. Once an update occurs, only the latest state of the structure is accessible, making them ideal for high performance in imperative programming</a:t>
            </a:r>
          </a:p>
          <a:p>
            <a:r>
              <a:rPr lang="en-IN" b="1" dirty="0"/>
              <a:t>Common Examples</a:t>
            </a:r>
          </a:p>
          <a:p>
            <a:r>
              <a:rPr lang="en-IN" dirty="0"/>
              <a:t>Almost all foundational data structures in traditional imperative programming languages (like C, Java, or C++) are ephemeral by default.</a:t>
            </a:r>
          </a:p>
          <a:p>
            <a:pPr marL="457200" indent="-457200">
              <a:buFont typeface="+mj-lt"/>
              <a:buAutoNum type="arabicPeriod"/>
            </a:pPr>
            <a:r>
              <a:rPr lang="en-IN" b="1" dirty="0"/>
              <a:t>Arrays</a:t>
            </a:r>
            <a:endParaRPr lang="en-IN" dirty="0"/>
          </a:p>
          <a:p>
            <a:pPr marL="457200" indent="-457200">
              <a:buFont typeface="+mj-lt"/>
              <a:buAutoNum type="arabicPeriod"/>
            </a:pPr>
            <a:r>
              <a:rPr lang="en-IN" b="1" dirty="0"/>
              <a:t>Linked Lists</a:t>
            </a:r>
            <a:endParaRPr lang="en-IN" dirty="0"/>
          </a:p>
          <a:p>
            <a:pPr marL="457200" indent="-457200">
              <a:buFont typeface="+mj-lt"/>
              <a:buAutoNum type="arabicPeriod"/>
            </a:pPr>
            <a:r>
              <a:rPr lang="en-IN" b="1" dirty="0"/>
              <a:t>Standard Queues and Stacks</a:t>
            </a:r>
            <a:endParaRPr lang="en-IN" dirty="0"/>
          </a:p>
          <a:p>
            <a:pPr marL="457200" indent="-457200">
              <a:buFont typeface="+mj-lt"/>
              <a:buAutoNum type="arabicPeriod"/>
            </a:pPr>
            <a:r>
              <a:rPr lang="en-IN" b="1" dirty="0"/>
              <a:t>Hash Table</a:t>
            </a:r>
            <a:endParaRPr lang="en-IN" dirty="0"/>
          </a:p>
          <a:p>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3CE29-9EBB-DDAB-A34E-276D72A5DC2B}"/>
            </a:ext>
          </a:extLst>
        </p:cNvPr>
        <p:cNvGrpSpPr/>
        <p:nvPr/>
      </p:nvGrpSpPr>
      <p:grpSpPr>
        <a:xfrm>
          <a:off x="0" y="0"/>
          <a:ext cx="0" cy="0"/>
          <a:chOff x="0" y="0"/>
          <a:chExt cx="0" cy="0"/>
        </a:xfrm>
      </p:grpSpPr>
      <p:sp>
        <p:nvSpPr>
          <p:cNvPr id="14338" name="Title 1">
            <a:extLst>
              <a:ext uri="{FF2B5EF4-FFF2-40B4-BE49-F238E27FC236}">
                <a16:creationId xmlns:a16="http://schemas.microsoft.com/office/drawing/2014/main" id="{01DF83E5-B14C-6AF0-C505-56AF3B34E66C}"/>
              </a:ext>
            </a:extLst>
          </p:cNvPr>
          <p:cNvSpPr>
            <a:spLocks noGrp="1"/>
          </p:cNvSpPr>
          <p:nvPr>
            <p:ph type="title"/>
          </p:nvPr>
        </p:nvSpPr>
        <p:spPr/>
        <p:txBody>
          <a:bodyPr>
            <a:normAutofit/>
          </a:bodyPr>
          <a:lstStyle/>
          <a:p>
            <a:pPr eaLnBrk="1" fontAlgn="auto" hangingPunct="1">
              <a:spcAft>
                <a:spcPts val="0"/>
              </a:spcAft>
              <a:defRPr/>
            </a:pPr>
            <a:r>
              <a:rPr lang="en-US" altLang="en-US" b="1" dirty="0">
                <a:solidFill>
                  <a:schemeClr val="tx1">
                    <a:lumMod val="75000"/>
                    <a:lumOff val="25000"/>
                  </a:schemeClr>
                </a:solidFill>
              </a:rPr>
              <a:t>Classification </a:t>
            </a:r>
          </a:p>
        </p:txBody>
      </p:sp>
      <p:sp>
        <p:nvSpPr>
          <p:cNvPr id="2" name="Content Placeholder 1">
            <a:extLst>
              <a:ext uri="{FF2B5EF4-FFF2-40B4-BE49-F238E27FC236}">
                <a16:creationId xmlns:a16="http://schemas.microsoft.com/office/drawing/2014/main" id="{5B4E88F6-DDAB-3382-F5E5-E869943F691F}"/>
              </a:ext>
            </a:extLst>
          </p:cNvPr>
          <p:cNvSpPr>
            <a:spLocks noGrp="1"/>
          </p:cNvSpPr>
          <p:nvPr>
            <p:ph idx="1"/>
          </p:nvPr>
        </p:nvSpPr>
        <p:spPr>
          <a:xfrm>
            <a:off x="228600" y="862577"/>
            <a:ext cx="11887200" cy="5428686"/>
          </a:xfrm>
        </p:spPr>
        <p:txBody>
          <a:bodyPr/>
          <a:lstStyle/>
          <a:p>
            <a:r>
              <a:rPr lang="en-IN" dirty="0"/>
              <a:t>A </a:t>
            </a:r>
            <a:r>
              <a:rPr lang="en-IN" b="1" dirty="0"/>
              <a:t>persistent data structure</a:t>
            </a:r>
            <a:r>
              <a:rPr lang="en-IN" dirty="0"/>
              <a:t> is a specialized data structure that </a:t>
            </a:r>
            <a:r>
              <a:rPr lang="en-IN" b="1" dirty="0"/>
              <a:t>always preserves its previous versions</a:t>
            </a:r>
            <a:r>
              <a:rPr lang="en-IN" dirty="0"/>
              <a:t> when modified, making them effectively immutable. Instead of updating data in-place like standard (ephemeral) structures, updates yield a </a:t>
            </a:r>
            <a:r>
              <a:rPr lang="en-IN" b="1" dirty="0"/>
              <a:t>new version while keeping the old version fully intact</a:t>
            </a:r>
            <a:r>
              <a:rPr lang="en-IN" dirty="0"/>
              <a:t> and accessible</a:t>
            </a:r>
          </a:p>
        </p:txBody>
      </p:sp>
      <p:sp>
        <p:nvSpPr>
          <p:cNvPr id="4" name="TextBox 3">
            <a:extLst>
              <a:ext uri="{FF2B5EF4-FFF2-40B4-BE49-F238E27FC236}">
                <a16:creationId xmlns:a16="http://schemas.microsoft.com/office/drawing/2014/main" id="{754EFA0B-4C21-7284-0B84-040ADD886A2A}"/>
              </a:ext>
            </a:extLst>
          </p:cNvPr>
          <p:cNvSpPr txBox="1"/>
          <p:nvPr/>
        </p:nvSpPr>
        <p:spPr>
          <a:xfrm>
            <a:off x="609600" y="2286000"/>
            <a:ext cx="11125200" cy="4008790"/>
          </a:xfrm>
          <a:prstGeom prst="rect">
            <a:avLst/>
          </a:prstGeom>
          <a:noFill/>
        </p:spPr>
        <p:txBody>
          <a:bodyPr wrap="square">
            <a:spAutoFit/>
          </a:bodyPr>
          <a:lstStyle/>
          <a:p>
            <a:pPr marL="0" marR="0">
              <a:spcBef>
                <a:spcPts val="900"/>
              </a:spcBef>
              <a:spcAft>
                <a:spcPts val="1200"/>
              </a:spcAft>
              <a:buNone/>
            </a:pPr>
            <a:r>
              <a:rPr lang="en-IN" sz="1800" b="0" u="none" strike="noStrike" dirty="0">
                <a:effectLst/>
                <a:cs typeface="Times New Roman" panose="02020603050405020304" pitchFamily="18" charset="0"/>
              </a:rPr>
              <a:t>Persistence is categorized by how historical versions can be accessed or modified</a:t>
            </a:r>
          </a:p>
          <a:p>
            <a:pPr marL="0" marR="0">
              <a:spcBef>
                <a:spcPts val="900"/>
              </a:spcBef>
              <a:spcAft>
                <a:spcPts val="900"/>
              </a:spcAft>
              <a:buFont typeface="Arial" panose="020B0604020202020204" pitchFamily="34" charset="0"/>
              <a:buChar char="•"/>
            </a:pPr>
            <a:r>
              <a:rPr lang="en-IN" sz="1800" b="1" u="none" strike="noStrike" dirty="0">
                <a:effectLst/>
                <a:cs typeface="Times New Roman" panose="02020603050405020304" pitchFamily="18" charset="0"/>
              </a:rPr>
              <a:t>Partial Persistence</a:t>
            </a:r>
            <a:r>
              <a:rPr lang="en-IN" sz="1800" b="0" u="none" strike="noStrike" dirty="0">
                <a:effectLst/>
                <a:cs typeface="Times New Roman" panose="02020603050405020304" pitchFamily="18" charset="0"/>
              </a:rPr>
              <a:t>: All historical versions can be queried, but only the newest version can be modified. The history forms a linear timeline. </a:t>
            </a:r>
          </a:p>
          <a:p>
            <a:pPr marL="0" marR="0">
              <a:spcBef>
                <a:spcPts val="900"/>
              </a:spcBef>
              <a:spcAft>
                <a:spcPts val="900"/>
              </a:spcAft>
              <a:buFont typeface="Arial" panose="020B0604020202020204" pitchFamily="34" charset="0"/>
              <a:buChar char="•"/>
            </a:pPr>
            <a:r>
              <a:rPr lang="en-IN" sz="1800" b="1" u="none" strike="noStrike" dirty="0">
                <a:effectLst/>
                <a:cs typeface="Times New Roman" panose="02020603050405020304" pitchFamily="18" charset="0"/>
              </a:rPr>
              <a:t>Full Persistence</a:t>
            </a:r>
            <a:r>
              <a:rPr lang="en-IN" sz="1800" b="0" u="none" strike="noStrike" dirty="0">
                <a:effectLst/>
                <a:cs typeface="Times New Roman" panose="02020603050405020304" pitchFamily="18" charset="0"/>
              </a:rPr>
              <a:t>: Every historical version can be both queried and modified. Modifying an older version creates a new branch, changing the history layout into a version tree. </a:t>
            </a:r>
          </a:p>
          <a:p>
            <a:pPr marL="0" marR="0">
              <a:spcBef>
                <a:spcPts val="900"/>
              </a:spcBef>
              <a:spcAft>
                <a:spcPts val="900"/>
              </a:spcAft>
              <a:buFont typeface="Arial" panose="020B0604020202020204" pitchFamily="34" charset="0"/>
              <a:buChar char="•"/>
            </a:pPr>
            <a:r>
              <a:rPr lang="en-IN" sz="1800" b="1" u="none" strike="noStrike" dirty="0">
                <a:effectLst/>
                <a:cs typeface="Times New Roman" panose="02020603050405020304" pitchFamily="18" charset="0"/>
              </a:rPr>
              <a:t>Confluent Persistence</a:t>
            </a:r>
            <a:r>
              <a:rPr lang="en-IN" sz="1800" b="0" u="none" strike="noStrike" dirty="0">
                <a:effectLst/>
                <a:cs typeface="Times New Roman" panose="02020603050405020304" pitchFamily="18" charset="0"/>
              </a:rPr>
              <a:t>: Historical versions can be queried, modified, and merged to form a new version. </a:t>
            </a:r>
          </a:p>
          <a:p>
            <a:pPr marL="0" marR="0">
              <a:spcBef>
                <a:spcPts val="900"/>
              </a:spcBef>
              <a:spcAft>
                <a:spcPts val="900"/>
              </a:spcAft>
            </a:pPr>
            <a:r>
              <a:rPr lang="en-IN" sz="1800" dirty="0"/>
              <a:t>Common Techniques:</a:t>
            </a:r>
          </a:p>
          <a:p>
            <a:pPr marL="285750" marR="0" indent="-285750">
              <a:spcBef>
                <a:spcPts val="900"/>
              </a:spcBef>
              <a:spcAft>
                <a:spcPts val="900"/>
              </a:spcAft>
              <a:buFont typeface="Arial" panose="020B0604020202020204" pitchFamily="34" charset="0"/>
              <a:buChar char="•"/>
            </a:pPr>
            <a:r>
              <a:rPr lang="en-IN" sz="1800" dirty="0"/>
              <a:t>Path Copying</a:t>
            </a:r>
          </a:p>
          <a:p>
            <a:pPr marL="285750" marR="0" indent="-285750">
              <a:spcBef>
                <a:spcPts val="900"/>
              </a:spcBef>
              <a:spcAft>
                <a:spcPts val="900"/>
              </a:spcAft>
              <a:buFont typeface="Arial" panose="020B0604020202020204" pitchFamily="34" charset="0"/>
              <a:buChar char="•"/>
            </a:pPr>
            <a:r>
              <a:rPr lang="en-IN" sz="1800" dirty="0"/>
              <a:t>Node-Copying </a:t>
            </a:r>
            <a:endParaRPr lang="en-IN" sz="1800" b="0" u="none" strike="noStrike" dirty="0">
              <a:effectLst/>
              <a:cs typeface="Times New Roman" panose="02020603050405020304" pitchFamily="18" charset="0"/>
            </a:endParaRPr>
          </a:p>
        </p:txBody>
      </p:sp>
    </p:spTree>
    <p:extLst>
      <p:ext uri="{BB962C8B-B14F-4D97-AF65-F5344CB8AC3E}">
        <p14:creationId xmlns:p14="http://schemas.microsoft.com/office/powerpoint/2010/main" val="19829902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50DA37C4-1D8A-D1ED-A18A-9B9A04B600F4}"/>
              </a:ext>
            </a:extLst>
          </p:cNvPr>
          <p:cNvSpPr>
            <a:spLocks noGrp="1"/>
          </p:cNvSpPr>
          <p:nvPr>
            <p:ph type="title"/>
          </p:nvPr>
        </p:nvSpPr>
        <p:spPr/>
        <p:txBody>
          <a:bodyPr>
            <a:normAutofit/>
          </a:bodyPr>
          <a:lstStyle/>
          <a:p>
            <a:pPr eaLnBrk="1" fontAlgn="auto" hangingPunct="1">
              <a:spcAft>
                <a:spcPts val="0"/>
              </a:spcAft>
              <a:defRPr/>
            </a:pPr>
            <a:r>
              <a:rPr lang="en-US" altLang="en-US" b="1" dirty="0">
                <a:solidFill>
                  <a:schemeClr val="tx1">
                    <a:lumMod val="75000"/>
                    <a:lumOff val="25000"/>
                  </a:schemeClr>
                </a:solidFill>
              </a:rPr>
              <a:t>Data Structures</a:t>
            </a:r>
          </a:p>
        </p:txBody>
      </p:sp>
      <p:sp>
        <p:nvSpPr>
          <p:cNvPr id="27651" name="Content Placeholder 2">
            <a:extLst>
              <a:ext uri="{FF2B5EF4-FFF2-40B4-BE49-F238E27FC236}">
                <a16:creationId xmlns:a16="http://schemas.microsoft.com/office/drawing/2014/main" id="{64FBB5E8-765C-CCD4-04FB-66F1A2C609BD}"/>
              </a:ext>
            </a:extLst>
          </p:cNvPr>
          <p:cNvSpPr>
            <a:spLocks noGrp="1"/>
          </p:cNvSpPr>
          <p:nvPr>
            <p:ph idx="1"/>
          </p:nvPr>
        </p:nvSpPr>
        <p:spPr>
          <a:xfrm>
            <a:off x="381000" y="862577"/>
            <a:ext cx="11734800" cy="5428686"/>
          </a:xfrm>
        </p:spPr>
        <p:txBody>
          <a:bodyPr/>
          <a:lstStyle/>
          <a:p>
            <a:pPr eaLnBrk="1" hangingPunct="1"/>
            <a:r>
              <a:rPr lang="en-US" altLang="en-US" sz="2400" dirty="0"/>
              <a:t>Data structures: Organization of data The collection of data you work with in a program have some kind of structure or organization.</a:t>
            </a:r>
          </a:p>
          <a:p>
            <a:pPr eaLnBrk="1" hangingPunct="1"/>
            <a:r>
              <a:rPr lang="en-US" altLang="en-US" sz="2400" dirty="0"/>
              <a:t>No matter how complex your data structures are they can be broken down into two fundamental types: </a:t>
            </a:r>
          </a:p>
          <a:p>
            <a:pPr lvl="2" eaLnBrk="1" hangingPunct="1"/>
            <a:r>
              <a:rPr lang="en-US" altLang="en-US" sz="1600" dirty="0"/>
              <a:t>Contiguous </a:t>
            </a:r>
          </a:p>
          <a:p>
            <a:pPr lvl="2" eaLnBrk="1" hangingPunct="1"/>
            <a:r>
              <a:rPr lang="en-US" altLang="en-US" sz="1600" dirty="0"/>
              <a:t>Non-Contiguous. </a:t>
            </a:r>
          </a:p>
          <a:p>
            <a:pPr lvl="2" eaLnBrk="1" hangingPunct="1"/>
            <a:endParaRPr lang="en-US" altLang="en-US" dirty="0"/>
          </a:p>
          <a:p>
            <a:pPr lvl="2" eaLnBrk="1" hangingPunct="1"/>
            <a:endParaRPr lang="en-US" altLang="en-US" dirty="0"/>
          </a:p>
        </p:txBody>
      </p:sp>
      <p:pic>
        <p:nvPicPr>
          <p:cNvPr id="27652" name="Picture 3">
            <a:extLst>
              <a:ext uri="{FF2B5EF4-FFF2-40B4-BE49-F238E27FC236}">
                <a16:creationId xmlns:a16="http://schemas.microsoft.com/office/drawing/2014/main" id="{6C7C905A-AC8A-963F-D8CA-4CE78FF22F9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3429000"/>
            <a:ext cx="7934325" cy="88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6326E380-2103-759D-7F84-E810DA936A0B}"/>
              </a:ext>
            </a:extLst>
          </p:cNvPr>
          <p:cNvSpPr>
            <a:spLocks noGrp="1"/>
          </p:cNvSpPr>
          <p:nvPr>
            <p:ph type="title"/>
          </p:nvPr>
        </p:nvSpPr>
        <p:spPr/>
        <p:txBody>
          <a:bodyPr>
            <a:normAutofit/>
          </a:bodyPr>
          <a:lstStyle/>
          <a:p>
            <a:pPr eaLnBrk="1" fontAlgn="auto" hangingPunct="1">
              <a:spcAft>
                <a:spcPts val="0"/>
              </a:spcAft>
              <a:defRPr/>
            </a:pPr>
            <a:r>
              <a:rPr lang="en-US" altLang="en-US" b="1" dirty="0">
                <a:solidFill>
                  <a:schemeClr val="tx1">
                    <a:lumMod val="75000"/>
                    <a:lumOff val="25000"/>
                  </a:schemeClr>
                </a:solidFill>
              </a:rPr>
              <a:t>Array Representation</a:t>
            </a:r>
          </a:p>
        </p:txBody>
      </p:sp>
      <p:pic>
        <p:nvPicPr>
          <p:cNvPr id="28675" name="Content Placeholder 3">
            <a:extLst>
              <a:ext uri="{FF2B5EF4-FFF2-40B4-BE49-F238E27FC236}">
                <a16:creationId xmlns:a16="http://schemas.microsoft.com/office/drawing/2014/main" id="{89D63D2B-C860-3103-A87B-34611D456CF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581400" y="914400"/>
            <a:ext cx="4724400" cy="1747837"/>
          </a:xfrm>
        </p:spPr>
      </p:pic>
      <p:sp>
        <p:nvSpPr>
          <p:cNvPr id="28676" name="Rectangle 4">
            <a:extLst>
              <a:ext uri="{FF2B5EF4-FFF2-40B4-BE49-F238E27FC236}">
                <a16:creationId xmlns:a16="http://schemas.microsoft.com/office/drawing/2014/main" id="{F63363F2-1258-2401-39BA-AE4DB1FF4DFF}"/>
              </a:ext>
            </a:extLst>
          </p:cNvPr>
          <p:cNvSpPr>
            <a:spLocks noChangeArrowheads="1"/>
          </p:cNvSpPr>
          <p:nvPr/>
        </p:nvSpPr>
        <p:spPr bwMode="auto">
          <a:xfrm>
            <a:off x="576580" y="2967037"/>
            <a:ext cx="1131062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a:r>
              <a:rPr lang="en-US" altLang="en-US" b="1" dirty="0">
                <a:solidFill>
                  <a:srgbClr val="222222"/>
                </a:solidFill>
                <a:latin typeface="Arial" panose="020B0604020202020204" pitchFamily="34" charset="0"/>
              </a:rPr>
              <a:t>Arrays </a:t>
            </a:r>
            <a:r>
              <a:rPr lang="en-US" altLang="en-US" dirty="0">
                <a:solidFill>
                  <a:srgbClr val="222222"/>
                </a:solidFill>
                <a:latin typeface="Arial" panose="020B0604020202020204" pitchFamily="34" charset="0"/>
              </a:rPr>
              <a:t>- store a fixed-size sequential collection of elements of the same type. </a:t>
            </a:r>
          </a:p>
          <a:p>
            <a:pPr algn="just"/>
            <a:r>
              <a:rPr lang="en-US" altLang="en-US" b="1" dirty="0">
                <a:solidFill>
                  <a:srgbClr val="222222"/>
                </a:solidFill>
                <a:latin typeface="Arial" panose="020B0604020202020204" pitchFamily="34" charset="0"/>
              </a:rPr>
              <a:t>Arrays</a:t>
            </a:r>
            <a:r>
              <a:rPr lang="en-US" altLang="en-US" dirty="0">
                <a:solidFill>
                  <a:srgbClr val="222222"/>
                </a:solidFill>
                <a:latin typeface="Arial" panose="020B0604020202020204" pitchFamily="34" charset="0"/>
              </a:rPr>
              <a:t> - collection of variables of the same type.</a:t>
            </a:r>
            <a:endParaRPr lang="en-US"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16BCAE53-1154-D092-FE7D-5B502BF342C8}"/>
              </a:ext>
            </a:extLst>
          </p:cNvPr>
          <p:cNvSpPr>
            <a:spLocks noGrp="1"/>
          </p:cNvSpPr>
          <p:nvPr>
            <p:ph type="title"/>
          </p:nvPr>
        </p:nvSpPr>
        <p:spPr/>
        <p:txBody>
          <a:bodyPr>
            <a:normAutofit/>
          </a:bodyPr>
          <a:lstStyle/>
          <a:p>
            <a:pPr eaLnBrk="1" fontAlgn="auto" hangingPunct="1">
              <a:spcAft>
                <a:spcPts val="0"/>
              </a:spcAft>
              <a:defRPr/>
            </a:pPr>
            <a:r>
              <a:rPr lang="en-US" altLang="en-US" b="1" dirty="0">
                <a:solidFill>
                  <a:schemeClr val="tx1">
                    <a:lumMod val="75000"/>
                    <a:lumOff val="25000"/>
                  </a:schemeClr>
                </a:solidFill>
              </a:rPr>
              <a:t>Stack </a:t>
            </a:r>
          </a:p>
        </p:txBody>
      </p:sp>
      <p:pic>
        <p:nvPicPr>
          <p:cNvPr id="29699" name="Picture 2" descr="Related image">
            <a:extLst>
              <a:ext uri="{FF2B5EF4-FFF2-40B4-BE49-F238E27FC236}">
                <a16:creationId xmlns:a16="http://schemas.microsoft.com/office/drawing/2014/main" id="{91CEB3CF-DBD3-49E6-42E4-4C0335CAC04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303462" y="1219200"/>
            <a:ext cx="5451475" cy="3371850"/>
          </a:xfr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08E6E-7240-E9E9-5730-D6337778F878}"/>
              </a:ext>
            </a:extLst>
          </p:cNvPr>
          <p:cNvSpPr>
            <a:spLocks noGrp="1"/>
          </p:cNvSpPr>
          <p:nvPr>
            <p:ph type="title"/>
          </p:nvPr>
        </p:nvSpPr>
        <p:spPr/>
        <p:txBody>
          <a:bodyPr>
            <a:normAutofit/>
          </a:bodyPr>
          <a:lstStyle/>
          <a:p>
            <a:pPr eaLnBrk="1" fontAlgn="auto" hangingPunct="1">
              <a:spcAft>
                <a:spcPts val="0"/>
              </a:spcAft>
              <a:defRPr/>
            </a:pPr>
            <a:r>
              <a:rPr lang="en-US" b="1" dirty="0">
                <a:solidFill>
                  <a:schemeClr val="tx1">
                    <a:lumMod val="75000"/>
                    <a:lumOff val="25000"/>
                  </a:schemeClr>
                </a:solidFill>
              </a:rPr>
              <a:t>Stack Example </a:t>
            </a:r>
          </a:p>
        </p:txBody>
      </p:sp>
      <p:pic>
        <p:nvPicPr>
          <p:cNvPr id="30723" name="Picture 2" descr="Tall Stack Of Books Isolated On White Background Stock Photo ...">
            <a:extLst>
              <a:ext uri="{FF2B5EF4-FFF2-40B4-BE49-F238E27FC236}">
                <a16:creationId xmlns:a16="http://schemas.microsoft.com/office/drawing/2014/main" id="{8A59392E-1AB5-B2ED-1A62-2784EACAC8D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066800" y="1127760"/>
            <a:ext cx="2740025" cy="3962400"/>
          </a:xfrm>
          <a:noFill/>
        </p:spPr>
      </p:pic>
      <p:pic>
        <p:nvPicPr>
          <p:cNvPr id="30724" name="Picture 3">
            <a:extLst>
              <a:ext uri="{FF2B5EF4-FFF2-40B4-BE49-F238E27FC236}">
                <a16:creationId xmlns:a16="http://schemas.microsoft.com/office/drawing/2014/main" id="{48186AAA-3BD1-39DB-AF7B-C4316C4D60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1137920"/>
            <a:ext cx="130175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0EE1A754-EC4A-565C-C881-EE9D4BF8875B}"/>
              </a:ext>
            </a:extLst>
          </p:cNvPr>
          <p:cNvSpPr txBox="1"/>
          <p:nvPr/>
        </p:nvSpPr>
        <p:spPr>
          <a:xfrm>
            <a:off x="6553200" y="1447800"/>
            <a:ext cx="3886200" cy="1200329"/>
          </a:xfrm>
          <a:prstGeom prst="rect">
            <a:avLst/>
          </a:prstGeom>
          <a:noFill/>
        </p:spPr>
        <p:txBody>
          <a:bodyPr wrap="square">
            <a:spAutoFit/>
          </a:bodyPr>
          <a:lstStyle/>
          <a:p>
            <a:pPr marL="342900" indent="-342900">
              <a:buFont typeface="Arial" panose="020B0604020202020204" pitchFamily="34" charset="0"/>
              <a:buChar char="•"/>
            </a:pPr>
            <a:r>
              <a:rPr lang="en-IN" dirty="0"/>
              <a:t>Text Editor Undo Feature</a:t>
            </a:r>
          </a:p>
          <a:p>
            <a:pPr marL="342900" indent="-342900">
              <a:buFont typeface="Arial" panose="020B0604020202020204" pitchFamily="34" charset="0"/>
              <a:buChar char="•"/>
            </a:pPr>
            <a:r>
              <a:rPr lang="en-IN" dirty="0"/>
              <a:t>Web Browser History</a:t>
            </a:r>
          </a:p>
          <a:p>
            <a:pPr marL="342900" indent="-342900">
              <a:buFont typeface="Arial" panose="020B0604020202020204" pitchFamily="34" charset="0"/>
              <a:buChar char="•"/>
            </a:pPr>
            <a:r>
              <a:rPr lang="en-IN" dirty="0"/>
              <a:t>The Call Stack:</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57038912-6677-A6A0-66EE-F78F7E178CAF}"/>
              </a:ext>
            </a:extLst>
          </p:cNvPr>
          <p:cNvSpPr>
            <a:spLocks noGrp="1"/>
          </p:cNvSpPr>
          <p:nvPr>
            <p:ph type="title"/>
          </p:nvPr>
        </p:nvSpPr>
        <p:spPr/>
        <p:txBody>
          <a:bodyPr>
            <a:normAutofit/>
          </a:bodyPr>
          <a:lstStyle/>
          <a:p>
            <a:pPr eaLnBrk="1" fontAlgn="auto" hangingPunct="1">
              <a:spcAft>
                <a:spcPts val="0"/>
              </a:spcAft>
              <a:defRPr/>
            </a:pPr>
            <a:r>
              <a:rPr lang="en-US" altLang="en-US" b="1" dirty="0">
                <a:solidFill>
                  <a:schemeClr val="tx1">
                    <a:lumMod val="75000"/>
                    <a:lumOff val="25000"/>
                  </a:schemeClr>
                </a:solidFill>
              </a:rPr>
              <a:t>Queue</a:t>
            </a:r>
          </a:p>
        </p:txBody>
      </p:sp>
      <p:pic>
        <p:nvPicPr>
          <p:cNvPr id="31747" name="Content Placeholder 7">
            <a:extLst>
              <a:ext uri="{FF2B5EF4-FFF2-40B4-BE49-F238E27FC236}">
                <a16:creationId xmlns:a16="http://schemas.microsoft.com/office/drawing/2014/main" id="{092F5CDD-E44F-2FA5-8CFE-CE0E9178A2F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153569" y="914400"/>
            <a:ext cx="5884862" cy="1603375"/>
          </a:xfrm>
        </p:spPr>
      </p:pic>
      <p:sp>
        <p:nvSpPr>
          <p:cNvPr id="31748" name="Rectangle 8">
            <a:extLst>
              <a:ext uri="{FF2B5EF4-FFF2-40B4-BE49-F238E27FC236}">
                <a16:creationId xmlns:a16="http://schemas.microsoft.com/office/drawing/2014/main" id="{AD93A1B5-68A0-317D-DB36-7375F1311946}"/>
              </a:ext>
            </a:extLst>
          </p:cNvPr>
          <p:cNvSpPr>
            <a:spLocks noChangeArrowheads="1"/>
          </p:cNvSpPr>
          <p:nvPr/>
        </p:nvSpPr>
        <p:spPr bwMode="auto">
          <a:xfrm>
            <a:off x="2286000" y="2822575"/>
            <a:ext cx="77724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2000" dirty="0">
                <a:latin typeface="Roboto" panose="02000000000000000000" pitchFamily="2" charset="0"/>
              </a:rPr>
              <a:t>A Queue is a linear structure that follows a particular order in which the operations are performed. The order is First In First Out (FIFO). </a:t>
            </a:r>
            <a:endParaRPr lang="en-US" alt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51F4F-0DBF-C55A-5D85-6AB6519BB35B}"/>
              </a:ext>
            </a:extLst>
          </p:cNvPr>
          <p:cNvSpPr>
            <a:spLocks noGrp="1"/>
          </p:cNvSpPr>
          <p:nvPr>
            <p:ph type="title"/>
          </p:nvPr>
        </p:nvSpPr>
        <p:spPr/>
        <p:txBody>
          <a:bodyPr>
            <a:normAutofit/>
          </a:bodyPr>
          <a:lstStyle/>
          <a:p>
            <a:pPr eaLnBrk="1" fontAlgn="auto" hangingPunct="1">
              <a:spcAft>
                <a:spcPts val="0"/>
              </a:spcAft>
              <a:defRPr/>
            </a:pPr>
            <a:r>
              <a:rPr lang="en-US" altLang="en-US" b="1" dirty="0">
                <a:solidFill>
                  <a:schemeClr val="tx1">
                    <a:lumMod val="75000"/>
                    <a:lumOff val="25000"/>
                  </a:schemeClr>
                </a:solidFill>
              </a:rPr>
              <a:t>Queue example</a:t>
            </a:r>
            <a:endParaRPr lang="en-US" b="1" dirty="0">
              <a:solidFill>
                <a:schemeClr val="tx1">
                  <a:lumMod val="75000"/>
                  <a:lumOff val="25000"/>
                </a:schemeClr>
              </a:solidFill>
            </a:endParaRPr>
          </a:p>
        </p:txBody>
      </p:sp>
      <p:pic>
        <p:nvPicPr>
          <p:cNvPr id="32771" name="Content Placeholder 3">
            <a:extLst>
              <a:ext uri="{FF2B5EF4-FFF2-40B4-BE49-F238E27FC236}">
                <a16:creationId xmlns:a16="http://schemas.microsoft.com/office/drawing/2014/main" id="{AEDBC4D5-712A-31AB-A957-76BA7FFF891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990600" y="1295400"/>
            <a:ext cx="5827713" cy="2709863"/>
          </a:xfrm>
        </p:spPr>
      </p:pic>
      <p:sp>
        <p:nvSpPr>
          <p:cNvPr id="4" name="TextBox 3">
            <a:extLst>
              <a:ext uri="{FF2B5EF4-FFF2-40B4-BE49-F238E27FC236}">
                <a16:creationId xmlns:a16="http://schemas.microsoft.com/office/drawing/2014/main" id="{2D0D4D14-9278-AC20-5D77-0FA0AD0FCF21}"/>
              </a:ext>
            </a:extLst>
          </p:cNvPr>
          <p:cNvSpPr txBox="1"/>
          <p:nvPr/>
        </p:nvSpPr>
        <p:spPr>
          <a:xfrm>
            <a:off x="8229600" y="1371600"/>
            <a:ext cx="2514600" cy="1200329"/>
          </a:xfrm>
          <a:prstGeom prst="rect">
            <a:avLst/>
          </a:prstGeom>
          <a:noFill/>
        </p:spPr>
        <p:txBody>
          <a:bodyPr wrap="square">
            <a:spAutoFit/>
          </a:bodyPr>
          <a:lstStyle/>
          <a:p>
            <a:pPr marL="342900" indent="-342900">
              <a:buFont typeface="Arial" panose="020B0604020202020204" pitchFamily="34" charset="0"/>
              <a:buChar char="•"/>
            </a:pPr>
            <a:r>
              <a:rPr lang="en-IN" dirty="0"/>
              <a:t>Print Spooling</a:t>
            </a:r>
          </a:p>
          <a:p>
            <a:pPr marL="342900" indent="-342900">
              <a:buFont typeface="Arial" panose="020B0604020202020204" pitchFamily="34" charset="0"/>
              <a:buChar char="•"/>
            </a:pPr>
            <a:r>
              <a:rPr lang="en-IN" dirty="0"/>
              <a:t>Web Servers</a:t>
            </a:r>
          </a:p>
          <a:p>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524E77E5-A5DC-6ADF-1441-8D3A838822A0}"/>
              </a:ext>
            </a:extLst>
          </p:cNvPr>
          <p:cNvSpPr>
            <a:spLocks noGrp="1"/>
          </p:cNvSpPr>
          <p:nvPr>
            <p:ph type="title"/>
          </p:nvPr>
        </p:nvSpPr>
        <p:spPr/>
        <p:txBody>
          <a:bodyPr>
            <a:normAutofit/>
          </a:bodyPr>
          <a:lstStyle/>
          <a:p>
            <a:pPr eaLnBrk="1" fontAlgn="auto" hangingPunct="1">
              <a:spcAft>
                <a:spcPts val="0"/>
              </a:spcAft>
              <a:defRPr/>
            </a:pPr>
            <a:r>
              <a:rPr lang="en-US" altLang="en-US" b="1" dirty="0">
                <a:solidFill>
                  <a:schemeClr val="tx1">
                    <a:lumMod val="75000"/>
                    <a:lumOff val="25000"/>
                  </a:schemeClr>
                </a:solidFill>
              </a:rPr>
              <a:t>Graphs </a:t>
            </a:r>
          </a:p>
        </p:txBody>
      </p:sp>
      <p:pic>
        <p:nvPicPr>
          <p:cNvPr id="33795" name="Content Placeholder 3">
            <a:extLst>
              <a:ext uri="{FF2B5EF4-FFF2-40B4-BE49-F238E27FC236}">
                <a16:creationId xmlns:a16="http://schemas.microsoft.com/office/drawing/2014/main" id="{9D768FFD-A88D-6C63-1195-34CE4E118F6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421062" y="1119187"/>
            <a:ext cx="5349875" cy="2309813"/>
          </a:xfrm>
        </p:spPr>
      </p:pic>
      <p:sp>
        <p:nvSpPr>
          <p:cNvPr id="33796" name="Rectangle 4">
            <a:extLst>
              <a:ext uri="{FF2B5EF4-FFF2-40B4-BE49-F238E27FC236}">
                <a16:creationId xmlns:a16="http://schemas.microsoft.com/office/drawing/2014/main" id="{83679156-76E9-7739-DF84-BB5E898C14A3}"/>
              </a:ext>
            </a:extLst>
          </p:cNvPr>
          <p:cNvSpPr>
            <a:spLocks noChangeArrowheads="1"/>
          </p:cNvSpPr>
          <p:nvPr/>
        </p:nvSpPr>
        <p:spPr bwMode="auto">
          <a:xfrm>
            <a:off x="2362200" y="3276600"/>
            <a:ext cx="77724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br>
              <a:rPr lang="en-US" altLang="en-US" dirty="0"/>
            </a:br>
            <a:r>
              <a:rPr lang="en-US" altLang="en-US" b="1" dirty="0">
                <a:latin typeface="Roboto" panose="02000000000000000000" pitchFamily="2" charset="0"/>
              </a:rPr>
              <a:t>1.</a:t>
            </a:r>
            <a:r>
              <a:rPr lang="en-US" altLang="en-US" dirty="0">
                <a:latin typeface="Roboto" panose="02000000000000000000" pitchFamily="2" charset="0"/>
              </a:rPr>
              <a:t> A finite set of vertices - nodes.</a:t>
            </a:r>
            <a:br>
              <a:rPr lang="en-US" altLang="en-US" dirty="0"/>
            </a:br>
            <a:r>
              <a:rPr lang="en-US" altLang="en-US" b="1" dirty="0">
                <a:latin typeface="Roboto" panose="02000000000000000000" pitchFamily="2" charset="0"/>
              </a:rPr>
              <a:t>2.</a:t>
            </a:r>
            <a:r>
              <a:rPr lang="en-US" altLang="en-US" dirty="0">
                <a:latin typeface="Roboto" panose="02000000000000000000" pitchFamily="2" charset="0"/>
              </a:rPr>
              <a:t> A finite set of ordered pair of the form (u, v) - edge.</a:t>
            </a:r>
          </a:p>
          <a:p>
            <a:r>
              <a:rPr lang="en-US" altLang="en-US" b="1" dirty="0">
                <a:latin typeface="Roboto" panose="02000000000000000000" pitchFamily="2" charset="0"/>
              </a:rPr>
              <a:t>3. </a:t>
            </a:r>
            <a:r>
              <a:rPr lang="en-US" altLang="en-US" dirty="0">
                <a:latin typeface="Roboto" panose="02000000000000000000" pitchFamily="2" charset="0"/>
              </a:rPr>
              <a:t>Operations: Create, Insert edge, delete edge, insert node , delete node, find node, traverse graph</a:t>
            </a:r>
            <a:endParaRPr lang="en-US"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5B825-A6B4-5705-912D-2C17134E2536}"/>
              </a:ext>
            </a:extLst>
          </p:cNvPr>
          <p:cNvSpPr>
            <a:spLocks noGrp="1"/>
          </p:cNvSpPr>
          <p:nvPr>
            <p:ph type="title"/>
          </p:nvPr>
        </p:nvSpPr>
        <p:spPr/>
        <p:txBody>
          <a:bodyPr>
            <a:normAutofit/>
          </a:bodyPr>
          <a:lstStyle/>
          <a:p>
            <a:pPr eaLnBrk="1" fontAlgn="auto" hangingPunct="1">
              <a:spcAft>
                <a:spcPts val="0"/>
              </a:spcAft>
              <a:defRPr/>
            </a:pPr>
            <a:r>
              <a:rPr lang="en-US" b="1" dirty="0">
                <a:solidFill>
                  <a:schemeClr val="tx1">
                    <a:lumMod val="75000"/>
                    <a:lumOff val="25000"/>
                  </a:schemeClr>
                </a:solidFill>
              </a:rPr>
              <a:t>Graph Example</a:t>
            </a:r>
          </a:p>
        </p:txBody>
      </p:sp>
      <p:pic>
        <p:nvPicPr>
          <p:cNvPr id="34819" name="Picture 6" descr="Graph Theory: Definition and Properties | The Geography of ...">
            <a:extLst>
              <a:ext uri="{FF2B5EF4-FFF2-40B4-BE49-F238E27FC236}">
                <a16:creationId xmlns:a16="http://schemas.microsoft.com/office/drawing/2014/main" id="{439E34E0-D430-8E2C-99CD-092630D5FE6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143000" y="1524000"/>
            <a:ext cx="5730875" cy="2911475"/>
          </a:xfrm>
          <a:noFill/>
        </p:spPr>
      </p:pic>
      <p:sp>
        <p:nvSpPr>
          <p:cNvPr id="4" name="TextBox 3">
            <a:extLst>
              <a:ext uri="{FF2B5EF4-FFF2-40B4-BE49-F238E27FC236}">
                <a16:creationId xmlns:a16="http://schemas.microsoft.com/office/drawing/2014/main" id="{D517CD45-2EB4-CF4B-2E2F-98B78CADEF92}"/>
              </a:ext>
            </a:extLst>
          </p:cNvPr>
          <p:cNvSpPr txBox="1"/>
          <p:nvPr/>
        </p:nvSpPr>
        <p:spPr>
          <a:xfrm>
            <a:off x="7239000" y="1293167"/>
            <a:ext cx="4876800" cy="1631216"/>
          </a:xfrm>
          <a:prstGeom prst="rect">
            <a:avLst/>
          </a:prstGeom>
          <a:noFill/>
        </p:spPr>
        <p:txBody>
          <a:bodyPr wrap="square">
            <a:spAutoFit/>
          </a:bodyPr>
          <a:lstStyle/>
          <a:p>
            <a:pPr marL="342900" indent="-342900">
              <a:buFont typeface="Arial" panose="020B0604020202020204" pitchFamily="34" charset="0"/>
              <a:buChar char="•"/>
            </a:pPr>
            <a:r>
              <a:rPr lang="en-IN" sz="2000" dirty="0"/>
              <a:t>Social Networks (e.g., LinkedIn or Facebook)</a:t>
            </a:r>
          </a:p>
          <a:p>
            <a:pPr marL="342900" indent="-342900">
              <a:buFont typeface="Arial" panose="020B0604020202020204" pitchFamily="34" charset="0"/>
              <a:buChar char="•"/>
            </a:pPr>
            <a:r>
              <a:rPr lang="en-IN" sz="2000" dirty="0"/>
              <a:t>Recommendation Engines (e.g., Amazon or Netflix)</a:t>
            </a:r>
          </a:p>
          <a:p>
            <a:pPr marL="342900" indent="-342900">
              <a:buFont typeface="Arial" panose="020B0604020202020204" pitchFamily="34" charset="0"/>
              <a:buChar char="•"/>
            </a:pPr>
            <a:r>
              <a:rPr lang="en-IN" sz="2000" dirty="0"/>
              <a:t>Airline Crew Scheduling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374C9B0A-F9F7-F717-9CBD-35608E0542B2}"/>
              </a:ext>
            </a:extLst>
          </p:cNvPr>
          <p:cNvSpPr>
            <a:spLocks noGrp="1"/>
          </p:cNvSpPr>
          <p:nvPr>
            <p:ph type="title"/>
          </p:nvPr>
        </p:nvSpPr>
        <p:spPr/>
        <p:txBody>
          <a:bodyPr>
            <a:normAutofit/>
          </a:bodyPr>
          <a:lstStyle/>
          <a:p>
            <a:pPr eaLnBrk="1" fontAlgn="auto" hangingPunct="1">
              <a:spcAft>
                <a:spcPts val="0"/>
              </a:spcAft>
              <a:defRPr/>
            </a:pPr>
            <a:r>
              <a:rPr lang="en-US" altLang="en-US" b="1" dirty="0">
                <a:solidFill>
                  <a:schemeClr val="tx1">
                    <a:lumMod val="75000"/>
                    <a:lumOff val="25000"/>
                  </a:schemeClr>
                </a:solidFill>
              </a:rPr>
              <a:t>Trees </a:t>
            </a:r>
          </a:p>
        </p:txBody>
      </p:sp>
      <p:pic>
        <p:nvPicPr>
          <p:cNvPr id="35843" name="Content Placeholder 3">
            <a:extLst>
              <a:ext uri="{FF2B5EF4-FFF2-40B4-BE49-F238E27FC236}">
                <a16:creationId xmlns:a16="http://schemas.microsoft.com/office/drawing/2014/main" id="{24824A76-9108-69B6-26BA-A1B6BAA59EFF}"/>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a:stretch>
            <a:fillRect/>
          </a:stretch>
        </p:blipFill>
        <p:spPr>
          <a:xfrm>
            <a:off x="1219200" y="838200"/>
            <a:ext cx="5692212" cy="3276600"/>
          </a:xfrm>
        </p:spPr>
      </p:pic>
      <p:sp>
        <p:nvSpPr>
          <p:cNvPr id="35844" name="Rectangle 4">
            <a:extLst>
              <a:ext uri="{FF2B5EF4-FFF2-40B4-BE49-F238E27FC236}">
                <a16:creationId xmlns:a16="http://schemas.microsoft.com/office/drawing/2014/main" id="{C45C0785-9B57-8CDD-1BC2-012B8B6E4366}"/>
              </a:ext>
            </a:extLst>
          </p:cNvPr>
          <p:cNvSpPr>
            <a:spLocks noChangeArrowheads="1"/>
          </p:cNvSpPr>
          <p:nvPr/>
        </p:nvSpPr>
        <p:spPr bwMode="auto">
          <a:xfrm>
            <a:off x="2514600" y="4495800"/>
            <a:ext cx="8001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dirty="0">
                <a:latin typeface="Roboto" panose="02000000000000000000" pitchFamily="2" charset="0"/>
              </a:rPr>
              <a:t>1. hierarchical data structure.</a:t>
            </a:r>
          </a:p>
          <a:p>
            <a:r>
              <a:rPr lang="en-US" altLang="en-US" dirty="0">
                <a:latin typeface="Roboto" panose="02000000000000000000" pitchFamily="2" charset="0"/>
              </a:rPr>
              <a:t>2. Operations – Search, delete, insert, traverse</a:t>
            </a:r>
          </a:p>
        </p:txBody>
      </p:sp>
      <p:pic>
        <p:nvPicPr>
          <p:cNvPr id="3" name="Picture 2">
            <a:extLst>
              <a:ext uri="{FF2B5EF4-FFF2-40B4-BE49-F238E27FC236}">
                <a16:creationId xmlns:a16="http://schemas.microsoft.com/office/drawing/2014/main" id="{840D9661-8D6F-CAB3-FCB5-ABA4C67216C1}"/>
              </a:ext>
            </a:extLst>
          </p:cNvPr>
          <p:cNvPicPr>
            <a:picLocks noChangeAspect="1"/>
          </p:cNvPicPr>
          <p:nvPr/>
        </p:nvPicPr>
        <p:blipFill>
          <a:blip r:embed="rId4"/>
          <a:stretch>
            <a:fillRect/>
          </a:stretch>
        </p:blipFill>
        <p:spPr>
          <a:xfrm>
            <a:off x="9067800" y="1000982"/>
            <a:ext cx="2651990" cy="330431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9734E-0113-2137-1B4F-D66A42EC84EA}"/>
              </a:ext>
            </a:extLst>
          </p:cNvPr>
          <p:cNvSpPr>
            <a:spLocks noGrp="1"/>
          </p:cNvSpPr>
          <p:nvPr>
            <p:ph type="title"/>
          </p:nvPr>
        </p:nvSpPr>
        <p:spPr/>
        <p:txBody>
          <a:bodyPr>
            <a:normAutofit/>
          </a:bodyPr>
          <a:lstStyle/>
          <a:p>
            <a:pPr eaLnBrk="1" fontAlgn="auto" hangingPunct="1">
              <a:spcAft>
                <a:spcPts val="0"/>
              </a:spcAft>
              <a:defRPr/>
            </a:pPr>
            <a:r>
              <a:rPr lang="en-US" b="1" dirty="0">
                <a:solidFill>
                  <a:schemeClr val="tx1">
                    <a:lumMod val="75000"/>
                    <a:lumOff val="25000"/>
                  </a:schemeClr>
                </a:solidFill>
              </a:rPr>
              <a:t>Tree Example </a:t>
            </a:r>
          </a:p>
        </p:txBody>
      </p:sp>
      <p:sp>
        <p:nvSpPr>
          <p:cNvPr id="4" name="TextBox 3">
            <a:extLst>
              <a:ext uri="{FF2B5EF4-FFF2-40B4-BE49-F238E27FC236}">
                <a16:creationId xmlns:a16="http://schemas.microsoft.com/office/drawing/2014/main" id="{F7612871-9B97-9A3A-98F6-E5FAFBDA521F}"/>
              </a:ext>
            </a:extLst>
          </p:cNvPr>
          <p:cNvSpPr txBox="1"/>
          <p:nvPr/>
        </p:nvSpPr>
        <p:spPr>
          <a:xfrm>
            <a:off x="7467600" y="1524000"/>
            <a:ext cx="4495800" cy="1323439"/>
          </a:xfrm>
          <a:prstGeom prst="rect">
            <a:avLst/>
          </a:prstGeom>
          <a:noFill/>
        </p:spPr>
        <p:txBody>
          <a:bodyPr wrap="square">
            <a:spAutoFit/>
          </a:bodyPr>
          <a:lstStyle/>
          <a:p>
            <a:pPr marL="342900" indent="-342900">
              <a:buFont typeface="Arial" panose="020B0604020202020204" pitchFamily="34" charset="0"/>
              <a:buChar char="•"/>
            </a:pPr>
            <a:r>
              <a:rPr lang="en-IN" sz="2000" dirty="0"/>
              <a:t>File Systems</a:t>
            </a:r>
          </a:p>
          <a:p>
            <a:pPr marL="342900" indent="-342900">
              <a:buFont typeface="Arial" panose="020B0604020202020204" pitchFamily="34" charset="0"/>
              <a:buChar char="•"/>
            </a:pPr>
            <a:r>
              <a:rPr lang="en-IN" sz="2000" dirty="0"/>
              <a:t>Databases (B-Trees and B+ Trees)</a:t>
            </a:r>
          </a:p>
          <a:p>
            <a:pPr marL="342900" indent="-342900">
              <a:buFont typeface="Arial" panose="020B0604020202020204" pitchFamily="34" charset="0"/>
              <a:buChar char="•"/>
            </a:pPr>
            <a:r>
              <a:rPr lang="en-IN" sz="2000" dirty="0"/>
              <a:t>Artificial Intelligence (Decision Trees)</a:t>
            </a:r>
          </a:p>
          <a:p>
            <a:pPr marL="342900" indent="-342900">
              <a:buFont typeface="Arial" panose="020B0604020202020204" pitchFamily="34" charset="0"/>
              <a:buChar char="•"/>
            </a:pPr>
            <a:r>
              <a:rPr lang="en-IN" sz="2000" dirty="0"/>
              <a:t>Software Compilers (Syntax Trees)</a:t>
            </a:r>
          </a:p>
        </p:txBody>
      </p:sp>
      <p:pic>
        <p:nvPicPr>
          <p:cNvPr id="7" name="Content Placeholder 6">
            <a:extLst>
              <a:ext uri="{FF2B5EF4-FFF2-40B4-BE49-F238E27FC236}">
                <a16:creationId xmlns:a16="http://schemas.microsoft.com/office/drawing/2014/main" id="{E1B1EDED-C726-9C00-F1A0-5834D30876F9}"/>
              </a:ext>
            </a:extLst>
          </p:cNvPr>
          <p:cNvPicPr>
            <a:picLocks noGrp="1" noChangeAspect="1"/>
          </p:cNvPicPr>
          <p:nvPr>
            <p:ph idx="1"/>
          </p:nvPr>
        </p:nvPicPr>
        <p:blipFill>
          <a:blip r:embed="rId2"/>
          <a:stretch>
            <a:fillRect/>
          </a:stretch>
        </p:blipFill>
        <p:spPr bwMode="auto">
          <a:xfrm>
            <a:off x="381000" y="960963"/>
            <a:ext cx="2526337" cy="246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a:extLst>
              <a:ext uri="{FF2B5EF4-FFF2-40B4-BE49-F238E27FC236}">
                <a16:creationId xmlns:a16="http://schemas.microsoft.com/office/drawing/2014/main" id="{C62C4CF4-9A9C-75C6-9A9A-9C387BEDADC2}"/>
              </a:ext>
            </a:extLst>
          </p:cNvPr>
          <p:cNvPicPr>
            <a:picLocks noChangeAspect="1"/>
          </p:cNvPicPr>
          <p:nvPr/>
        </p:nvPicPr>
        <p:blipFill>
          <a:blip r:embed="rId3"/>
          <a:stretch>
            <a:fillRect/>
          </a:stretch>
        </p:blipFill>
        <p:spPr>
          <a:xfrm>
            <a:off x="2525866" y="2888551"/>
            <a:ext cx="5343525" cy="244544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177DE1A0-1165-A93E-B55C-ED5C43B30305}"/>
              </a:ext>
            </a:extLst>
          </p:cNvPr>
          <p:cNvSpPr>
            <a:spLocks noGrp="1"/>
          </p:cNvSpPr>
          <p:nvPr>
            <p:ph type="title"/>
          </p:nvPr>
        </p:nvSpPr>
        <p:spPr/>
        <p:txBody>
          <a:bodyPr>
            <a:normAutofit/>
          </a:bodyPr>
          <a:lstStyle/>
          <a:p>
            <a:pPr eaLnBrk="1" fontAlgn="auto" hangingPunct="1">
              <a:spcAft>
                <a:spcPts val="0"/>
              </a:spcAft>
              <a:defRPr/>
            </a:pPr>
            <a:r>
              <a:rPr lang="en-US" altLang="en-US" b="1" dirty="0">
                <a:solidFill>
                  <a:schemeClr val="tx1">
                    <a:lumMod val="75000"/>
                    <a:lumOff val="25000"/>
                  </a:schemeClr>
                </a:solidFill>
              </a:rPr>
              <a:t>OPERATIONS ON DATA STRUCTURES</a:t>
            </a:r>
          </a:p>
        </p:txBody>
      </p:sp>
      <p:sp>
        <p:nvSpPr>
          <p:cNvPr id="22531" name="Content Placeholder 2">
            <a:extLst>
              <a:ext uri="{FF2B5EF4-FFF2-40B4-BE49-F238E27FC236}">
                <a16:creationId xmlns:a16="http://schemas.microsoft.com/office/drawing/2014/main" id="{9307FCB2-1173-CB5F-836F-7AD92080EC0D}"/>
              </a:ext>
            </a:extLst>
          </p:cNvPr>
          <p:cNvSpPr>
            <a:spLocks noGrp="1"/>
          </p:cNvSpPr>
          <p:nvPr>
            <p:ph idx="1"/>
          </p:nvPr>
        </p:nvSpPr>
        <p:spPr>
          <a:xfrm>
            <a:off x="533400" y="838200"/>
            <a:ext cx="12086734" cy="5428686"/>
          </a:xfrm>
        </p:spPr>
        <p:txBody>
          <a:bodyPr rtlCol="0">
            <a:normAutofit/>
          </a:bodyPr>
          <a:lstStyle/>
          <a:p>
            <a:pPr marL="342900" indent="-342900" eaLnBrk="1" fontAlgn="auto" hangingPunct="1">
              <a:buFont typeface="+mj-lt"/>
              <a:buAutoNum type="arabicPeriod"/>
              <a:defRPr/>
            </a:pPr>
            <a:r>
              <a:rPr lang="en-US" altLang="en-US" sz="2800" b="1" i="1" dirty="0">
                <a:solidFill>
                  <a:schemeClr val="tx1">
                    <a:lumMod val="75000"/>
                    <a:lumOff val="25000"/>
                  </a:schemeClr>
                </a:solidFill>
              </a:rPr>
              <a:t>Traversing </a:t>
            </a:r>
          </a:p>
          <a:p>
            <a:pPr marL="342900" indent="-342900" eaLnBrk="1" fontAlgn="auto" hangingPunct="1">
              <a:buFont typeface="+mj-lt"/>
              <a:buAutoNum type="arabicPeriod"/>
              <a:defRPr/>
            </a:pPr>
            <a:r>
              <a:rPr lang="en-US" altLang="en-US" sz="2800" b="1" i="1" dirty="0">
                <a:solidFill>
                  <a:schemeClr val="tx1">
                    <a:lumMod val="75000"/>
                    <a:lumOff val="25000"/>
                  </a:schemeClr>
                </a:solidFill>
              </a:rPr>
              <a:t>Searching </a:t>
            </a:r>
          </a:p>
          <a:p>
            <a:pPr marL="342900" indent="-342900" eaLnBrk="1" fontAlgn="auto" hangingPunct="1">
              <a:buFont typeface="+mj-lt"/>
              <a:buAutoNum type="arabicPeriod"/>
              <a:defRPr/>
            </a:pPr>
            <a:r>
              <a:rPr lang="en-US" altLang="en-US" sz="2800" b="1" i="1" dirty="0">
                <a:solidFill>
                  <a:schemeClr val="tx1">
                    <a:lumMod val="75000"/>
                    <a:lumOff val="25000"/>
                  </a:schemeClr>
                </a:solidFill>
              </a:rPr>
              <a:t>Inserting </a:t>
            </a:r>
          </a:p>
          <a:p>
            <a:pPr marL="342900" indent="-342900" eaLnBrk="1" fontAlgn="auto" hangingPunct="1">
              <a:buFont typeface="+mj-lt"/>
              <a:buAutoNum type="arabicPeriod"/>
              <a:defRPr/>
            </a:pPr>
            <a:r>
              <a:rPr lang="en-US" altLang="en-US" sz="2800" b="1" i="1" dirty="0">
                <a:solidFill>
                  <a:schemeClr val="tx1">
                    <a:lumMod val="75000"/>
                    <a:lumOff val="25000"/>
                  </a:schemeClr>
                </a:solidFill>
              </a:rPr>
              <a:t>Deleting </a:t>
            </a:r>
          </a:p>
          <a:p>
            <a:pPr marL="342900" indent="-342900" eaLnBrk="1" fontAlgn="auto" hangingPunct="1">
              <a:buFont typeface="+mj-lt"/>
              <a:buAutoNum type="arabicPeriod"/>
              <a:defRPr/>
            </a:pPr>
            <a:r>
              <a:rPr lang="en-US" altLang="en-US" sz="2800" b="1" i="1" dirty="0">
                <a:solidFill>
                  <a:schemeClr val="tx1">
                    <a:lumMod val="75000"/>
                    <a:lumOff val="25000"/>
                  </a:schemeClr>
                </a:solidFill>
              </a:rPr>
              <a:t>Merging</a:t>
            </a:r>
          </a:p>
          <a:p>
            <a:pPr marL="342900" indent="-342900" eaLnBrk="1" fontAlgn="auto" hangingPunct="1">
              <a:buFont typeface="+mj-lt"/>
              <a:buAutoNum type="arabicPeriod"/>
              <a:defRPr/>
            </a:pPr>
            <a:r>
              <a:rPr lang="en-US" altLang="en-US" sz="2800" b="1" i="1" dirty="0">
                <a:solidFill>
                  <a:schemeClr val="tx1">
                    <a:lumMod val="75000"/>
                    <a:lumOff val="25000"/>
                  </a:schemeClr>
                </a:solidFill>
              </a:rPr>
              <a:t>Sorting </a:t>
            </a:r>
          </a:p>
          <a:p>
            <a:pPr marL="91440" indent="-91440" eaLnBrk="1" fontAlgn="auto" hangingPunct="1">
              <a:defRPr/>
            </a:pPr>
            <a:endParaRPr lang="en-US" altLang="en-US" sz="1600" dirty="0">
              <a:solidFill>
                <a:schemeClr val="tx1">
                  <a:lumMod val="75000"/>
                  <a:lumOff val="25000"/>
                </a:schemeClr>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33904-4FD6-5B77-5577-3602AA4FE65A}"/>
              </a:ext>
            </a:extLst>
          </p:cNvPr>
          <p:cNvSpPr>
            <a:spLocks noGrp="1"/>
          </p:cNvSpPr>
          <p:nvPr>
            <p:ph type="title"/>
          </p:nvPr>
        </p:nvSpPr>
        <p:spPr/>
        <p:txBody>
          <a:bodyPr>
            <a:normAutofit/>
          </a:bodyPr>
          <a:lstStyle/>
          <a:p>
            <a:pPr eaLnBrk="1" fontAlgn="auto" hangingPunct="1">
              <a:spcAft>
                <a:spcPts val="0"/>
              </a:spcAft>
              <a:defRPr/>
            </a:pPr>
            <a:r>
              <a:rPr lang="en-US" b="1" dirty="0">
                <a:solidFill>
                  <a:schemeClr val="tx1">
                    <a:lumMod val="75000"/>
                    <a:lumOff val="25000"/>
                  </a:schemeClr>
                </a:solidFill>
              </a:rPr>
              <a:t>Operations </a:t>
            </a:r>
          </a:p>
        </p:txBody>
      </p:sp>
      <p:sp>
        <p:nvSpPr>
          <p:cNvPr id="3" name="Content Placeholder 2">
            <a:extLst>
              <a:ext uri="{FF2B5EF4-FFF2-40B4-BE49-F238E27FC236}">
                <a16:creationId xmlns:a16="http://schemas.microsoft.com/office/drawing/2014/main" id="{D65E81E6-287D-0C73-F784-9FF77A3A939E}"/>
              </a:ext>
            </a:extLst>
          </p:cNvPr>
          <p:cNvSpPr>
            <a:spLocks noGrp="1"/>
          </p:cNvSpPr>
          <p:nvPr>
            <p:ph idx="1"/>
          </p:nvPr>
        </p:nvSpPr>
        <p:spPr>
          <a:xfrm>
            <a:off x="2400300" y="3468688"/>
            <a:ext cx="1638300" cy="323850"/>
          </a:xfrm>
        </p:spPr>
        <p:txBody>
          <a:bodyPr rtlCol="0">
            <a:normAutofit fontScale="77500" lnSpcReduction="20000"/>
          </a:bodyPr>
          <a:lstStyle/>
          <a:p>
            <a:pPr marL="91440" indent="-91440" eaLnBrk="1" fontAlgn="auto" hangingPunct="1">
              <a:defRPr/>
            </a:pPr>
            <a:r>
              <a:rPr lang="en-US" altLang="en-US" b="1">
                <a:solidFill>
                  <a:schemeClr val="tx1">
                    <a:lumMod val="75000"/>
                    <a:lumOff val="25000"/>
                  </a:schemeClr>
                </a:solidFill>
              </a:rPr>
              <a:t>Traversing</a:t>
            </a:r>
          </a:p>
          <a:p>
            <a:pPr marL="91440" indent="-91440" eaLnBrk="1" fontAlgn="auto" hangingPunct="1">
              <a:defRPr/>
            </a:pPr>
            <a:endParaRPr lang="en-US" altLang="en-US" b="1">
              <a:solidFill>
                <a:schemeClr val="tx1">
                  <a:lumMod val="75000"/>
                  <a:lumOff val="25000"/>
                </a:schemeClr>
              </a:solidFill>
            </a:endParaRPr>
          </a:p>
        </p:txBody>
      </p:sp>
      <p:sp>
        <p:nvSpPr>
          <p:cNvPr id="5" name="Rectangle 4">
            <a:extLst>
              <a:ext uri="{FF2B5EF4-FFF2-40B4-BE49-F238E27FC236}">
                <a16:creationId xmlns:a16="http://schemas.microsoft.com/office/drawing/2014/main" id="{02C33A03-4A73-AAAE-0091-D97BA94FF5E0}"/>
              </a:ext>
            </a:extLst>
          </p:cNvPr>
          <p:cNvSpPr/>
          <p:nvPr/>
        </p:nvSpPr>
        <p:spPr>
          <a:xfrm>
            <a:off x="2374900" y="2192338"/>
            <a:ext cx="7620000" cy="7620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a:p>
        </p:txBody>
      </p:sp>
      <p:sp>
        <p:nvSpPr>
          <p:cNvPr id="6" name="Oval 5">
            <a:extLst>
              <a:ext uri="{FF2B5EF4-FFF2-40B4-BE49-F238E27FC236}">
                <a16:creationId xmlns:a16="http://schemas.microsoft.com/office/drawing/2014/main" id="{ADFA509B-CEA3-32BA-D777-582B669C07E7}"/>
              </a:ext>
            </a:extLst>
          </p:cNvPr>
          <p:cNvSpPr/>
          <p:nvPr/>
        </p:nvSpPr>
        <p:spPr>
          <a:xfrm>
            <a:off x="2949575" y="2305050"/>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10</a:t>
            </a:r>
          </a:p>
        </p:txBody>
      </p:sp>
      <p:sp>
        <p:nvSpPr>
          <p:cNvPr id="7" name="Oval 6">
            <a:extLst>
              <a:ext uri="{FF2B5EF4-FFF2-40B4-BE49-F238E27FC236}">
                <a16:creationId xmlns:a16="http://schemas.microsoft.com/office/drawing/2014/main" id="{94AE1FDD-B7EF-2BE5-07A9-4A8BC2C84BAE}"/>
              </a:ext>
            </a:extLst>
          </p:cNvPr>
          <p:cNvSpPr/>
          <p:nvPr/>
        </p:nvSpPr>
        <p:spPr>
          <a:xfrm>
            <a:off x="4294188" y="2333625"/>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25</a:t>
            </a:r>
          </a:p>
        </p:txBody>
      </p:sp>
      <p:sp>
        <p:nvSpPr>
          <p:cNvPr id="8" name="Oval 7">
            <a:extLst>
              <a:ext uri="{FF2B5EF4-FFF2-40B4-BE49-F238E27FC236}">
                <a16:creationId xmlns:a16="http://schemas.microsoft.com/office/drawing/2014/main" id="{8113913A-A5DE-6F9C-AB31-801DDBC4324C}"/>
              </a:ext>
            </a:extLst>
          </p:cNvPr>
          <p:cNvSpPr/>
          <p:nvPr/>
        </p:nvSpPr>
        <p:spPr>
          <a:xfrm>
            <a:off x="5638800" y="2333625"/>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17</a:t>
            </a:r>
          </a:p>
        </p:txBody>
      </p:sp>
      <p:sp>
        <p:nvSpPr>
          <p:cNvPr id="9" name="Oval 8">
            <a:extLst>
              <a:ext uri="{FF2B5EF4-FFF2-40B4-BE49-F238E27FC236}">
                <a16:creationId xmlns:a16="http://schemas.microsoft.com/office/drawing/2014/main" id="{5B27069F-6B6D-E487-5075-7ABF89412A3B}"/>
              </a:ext>
            </a:extLst>
          </p:cNvPr>
          <p:cNvSpPr/>
          <p:nvPr/>
        </p:nvSpPr>
        <p:spPr>
          <a:xfrm>
            <a:off x="7094538" y="2333625"/>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14</a:t>
            </a:r>
          </a:p>
        </p:txBody>
      </p:sp>
      <p:sp>
        <p:nvSpPr>
          <p:cNvPr id="10" name="Oval 9">
            <a:extLst>
              <a:ext uri="{FF2B5EF4-FFF2-40B4-BE49-F238E27FC236}">
                <a16:creationId xmlns:a16="http://schemas.microsoft.com/office/drawing/2014/main" id="{1109E7CB-F853-5A1B-9086-28E5FE48BA17}"/>
              </a:ext>
            </a:extLst>
          </p:cNvPr>
          <p:cNvSpPr/>
          <p:nvPr/>
        </p:nvSpPr>
        <p:spPr>
          <a:xfrm>
            <a:off x="8632825" y="2333625"/>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38</a:t>
            </a:r>
          </a:p>
        </p:txBody>
      </p:sp>
      <p:sp>
        <p:nvSpPr>
          <p:cNvPr id="11" name="Oval 10">
            <a:extLst>
              <a:ext uri="{FF2B5EF4-FFF2-40B4-BE49-F238E27FC236}">
                <a16:creationId xmlns:a16="http://schemas.microsoft.com/office/drawing/2014/main" id="{73ABF252-9CB1-E8BA-5A0D-616E81B1630D}"/>
              </a:ext>
            </a:extLst>
          </p:cNvPr>
          <p:cNvSpPr/>
          <p:nvPr/>
        </p:nvSpPr>
        <p:spPr>
          <a:xfrm>
            <a:off x="2949575" y="4278313"/>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10</a:t>
            </a:r>
          </a:p>
        </p:txBody>
      </p:sp>
      <p:sp>
        <p:nvSpPr>
          <p:cNvPr id="12" name="Oval 11">
            <a:extLst>
              <a:ext uri="{FF2B5EF4-FFF2-40B4-BE49-F238E27FC236}">
                <a16:creationId xmlns:a16="http://schemas.microsoft.com/office/drawing/2014/main" id="{6EA8C4B7-93C5-595D-9D6E-53EA09BF7129}"/>
              </a:ext>
            </a:extLst>
          </p:cNvPr>
          <p:cNvSpPr/>
          <p:nvPr/>
        </p:nvSpPr>
        <p:spPr>
          <a:xfrm>
            <a:off x="4294188" y="4306888"/>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25</a:t>
            </a:r>
          </a:p>
        </p:txBody>
      </p:sp>
      <p:sp>
        <p:nvSpPr>
          <p:cNvPr id="13" name="Oval 12">
            <a:extLst>
              <a:ext uri="{FF2B5EF4-FFF2-40B4-BE49-F238E27FC236}">
                <a16:creationId xmlns:a16="http://schemas.microsoft.com/office/drawing/2014/main" id="{D69FA756-283B-CF58-BFC3-C29DA792AFA8}"/>
              </a:ext>
            </a:extLst>
          </p:cNvPr>
          <p:cNvSpPr/>
          <p:nvPr/>
        </p:nvSpPr>
        <p:spPr>
          <a:xfrm>
            <a:off x="5638800" y="4306888"/>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17</a:t>
            </a:r>
          </a:p>
        </p:txBody>
      </p:sp>
      <p:sp>
        <p:nvSpPr>
          <p:cNvPr id="14" name="Oval 13">
            <a:extLst>
              <a:ext uri="{FF2B5EF4-FFF2-40B4-BE49-F238E27FC236}">
                <a16:creationId xmlns:a16="http://schemas.microsoft.com/office/drawing/2014/main" id="{EED5814B-8954-01CF-9B4D-D50B3F5BDBF2}"/>
              </a:ext>
            </a:extLst>
          </p:cNvPr>
          <p:cNvSpPr/>
          <p:nvPr/>
        </p:nvSpPr>
        <p:spPr>
          <a:xfrm>
            <a:off x="7094538" y="4306888"/>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14</a:t>
            </a:r>
          </a:p>
        </p:txBody>
      </p:sp>
      <p:sp>
        <p:nvSpPr>
          <p:cNvPr id="15" name="Oval 14">
            <a:extLst>
              <a:ext uri="{FF2B5EF4-FFF2-40B4-BE49-F238E27FC236}">
                <a16:creationId xmlns:a16="http://schemas.microsoft.com/office/drawing/2014/main" id="{D48A20FE-4677-2BA9-3992-5D5C6964B99E}"/>
              </a:ext>
            </a:extLst>
          </p:cNvPr>
          <p:cNvSpPr/>
          <p:nvPr/>
        </p:nvSpPr>
        <p:spPr>
          <a:xfrm>
            <a:off x="8632825" y="4306888"/>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38</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1" grpId="0" animBg="1"/>
      <p:bldP spid="12" grpId="0" animBg="1"/>
      <p:bldP spid="13" grpId="0" animBg="1"/>
      <p:bldP spid="14" grpId="0" animBg="1"/>
      <p:bldP spid="1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2FC4A-052C-E39B-B51D-64650B4E36BB}"/>
              </a:ext>
            </a:extLst>
          </p:cNvPr>
          <p:cNvSpPr>
            <a:spLocks noGrp="1"/>
          </p:cNvSpPr>
          <p:nvPr>
            <p:ph type="title"/>
          </p:nvPr>
        </p:nvSpPr>
        <p:spPr/>
        <p:txBody>
          <a:bodyPr>
            <a:normAutofit/>
          </a:bodyPr>
          <a:lstStyle/>
          <a:p>
            <a:pPr eaLnBrk="1" fontAlgn="auto" hangingPunct="1">
              <a:spcAft>
                <a:spcPts val="0"/>
              </a:spcAft>
              <a:defRPr/>
            </a:pPr>
            <a:r>
              <a:rPr lang="en-US" b="1" dirty="0">
                <a:solidFill>
                  <a:schemeClr val="tx1">
                    <a:lumMod val="75000"/>
                    <a:lumOff val="25000"/>
                  </a:schemeClr>
                </a:solidFill>
              </a:rPr>
              <a:t>Operations </a:t>
            </a:r>
          </a:p>
        </p:txBody>
      </p:sp>
      <p:sp>
        <p:nvSpPr>
          <p:cNvPr id="3" name="Content Placeholder 2">
            <a:extLst>
              <a:ext uri="{FF2B5EF4-FFF2-40B4-BE49-F238E27FC236}">
                <a16:creationId xmlns:a16="http://schemas.microsoft.com/office/drawing/2014/main" id="{1327C16F-43BA-5533-2093-3EB1B1505ED8}"/>
              </a:ext>
            </a:extLst>
          </p:cNvPr>
          <p:cNvSpPr>
            <a:spLocks noGrp="1"/>
          </p:cNvSpPr>
          <p:nvPr>
            <p:ph idx="1"/>
          </p:nvPr>
        </p:nvSpPr>
        <p:spPr>
          <a:xfrm>
            <a:off x="2400300" y="3468688"/>
            <a:ext cx="4381500" cy="323850"/>
          </a:xfrm>
        </p:spPr>
        <p:txBody>
          <a:bodyPr rtlCol="0">
            <a:normAutofit fontScale="77500" lnSpcReduction="20000"/>
          </a:bodyPr>
          <a:lstStyle/>
          <a:p>
            <a:pPr marL="91440" indent="-91440" eaLnBrk="1" fontAlgn="auto" hangingPunct="1">
              <a:defRPr/>
            </a:pPr>
            <a:r>
              <a:rPr lang="en-US" altLang="en-US" b="1">
                <a:solidFill>
                  <a:schemeClr val="tx1">
                    <a:lumMod val="75000"/>
                    <a:lumOff val="25000"/>
                  </a:schemeClr>
                </a:solidFill>
              </a:rPr>
              <a:t>Searching – Search 17 from Array</a:t>
            </a:r>
          </a:p>
          <a:p>
            <a:pPr marL="91440" indent="-91440" eaLnBrk="1" fontAlgn="auto" hangingPunct="1">
              <a:defRPr/>
            </a:pPr>
            <a:endParaRPr lang="en-US" altLang="en-US" b="1">
              <a:solidFill>
                <a:schemeClr val="tx1">
                  <a:lumMod val="75000"/>
                  <a:lumOff val="25000"/>
                </a:schemeClr>
              </a:solidFill>
            </a:endParaRPr>
          </a:p>
        </p:txBody>
      </p:sp>
      <p:sp>
        <p:nvSpPr>
          <p:cNvPr id="5" name="Rectangle 4">
            <a:extLst>
              <a:ext uri="{FF2B5EF4-FFF2-40B4-BE49-F238E27FC236}">
                <a16:creationId xmlns:a16="http://schemas.microsoft.com/office/drawing/2014/main" id="{DC832906-7F5D-B643-081E-67C95759E53E}"/>
              </a:ext>
            </a:extLst>
          </p:cNvPr>
          <p:cNvSpPr/>
          <p:nvPr/>
        </p:nvSpPr>
        <p:spPr>
          <a:xfrm>
            <a:off x="2374900" y="2192338"/>
            <a:ext cx="7620000" cy="7620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a:p>
        </p:txBody>
      </p:sp>
      <p:sp>
        <p:nvSpPr>
          <p:cNvPr id="6" name="Oval 5">
            <a:extLst>
              <a:ext uri="{FF2B5EF4-FFF2-40B4-BE49-F238E27FC236}">
                <a16:creationId xmlns:a16="http://schemas.microsoft.com/office/drawing/2014/main" id="{290895AA-3C96-CB99-8E62-6FADC430A2F8}"/>
              </a:ext>
            </a:extLst>
          </p:cNvPr>
          <p:cNvSpPr/>
          <p:nvPr/>
        </p:nvSpPr>
        <p:spPr>
          <a:xfrm>
            <a:off x="2949575" y="2305050"/>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10</a:t>
            </a:r>
          </a:p>
        </p:txBody>
      </p:sp>
      <p:sp>
        <p:nvSpPr>
          <p:cNvPr id="7" name="Oval 6">
            <a:extLst>
              <a:ext uri="{FF2B5EF4-FFF2-40B4-BE49-F238E27FC236}">
                <a16:creationId xmlns:a16="http://schemas.microsoft.com/office/drawing/2014/main" id="{195DF5F1-1196-6E6A-1076-5800A483455D}"/>
              </a:ext>
            </a:extLst>
          </p:cNvPr>
          <p:cNvSpPr/>
          <p:nvPr/>
        </p:nvSpPr>
        <p:spPr>
          <a:xfrm>
            <a:off x="4294188" y="2333625"/>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25</a:t>
            </a:r>
          </a:p>
        </p:txBody>
      </p:sp>
      <p:sp>
        <p:nvSpPr>
          <p:cNvPr id="8" name="Oval 7">
            <a:extLst>
              <a:ext uri="{FF2B5EF4-FFF2-40B4-BE49-F238E27FC236}">
                <a16:creationId xmlns:a16="http://schemas.microsoft.com/office/drawing/2014/main" id="{4FF5B602-6EEF-B74E-633E-4782B80F0E9D}"/>
              </a:ext>
            </a:extLst>
          </p:cNvPr>
          <p:cNvSpPr/>
          <p:nvPr/>
        </p:nvSpPr>
        <p:spPr>
          <a:xfrm>
            <a:off x="5638800" y="2333625"/>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17</a:t>
            </a:r>
          </a:p>
        </p:txBody>
      </p:sp>
      <p:sp>
        <p:nvSpPr>
          <p:cNvPr id="9" name="Oval 8">
            <a:extLst>
              <a:ext uri="{FF2B5EF4-FFF2-40B4-BE49-F238E27FC236}">
                <a16:creationId xmlns:a16="http://schemas.microsoft.com/office/drawing/2014/main" id="{A86539CE-CB4D-FA96-4555-10EEAC9F0784}"/>
              </a:ext>
            </a:extLst>
          </p:cNvPr>
          <p:cNvSpPr/>
          <p:nvPr/>
        </p:nvSpPr>
        <p:spPr>
          <a:xfrm>
            <a:off x="7094538" y="2333625"/>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14</a:t>
            </a:r>
          </a:p>
        </p:txBody>
      </p:sp>
      <p:sp>
        <p:nvSpPr>
          <p:cNvPr id="10" name="Oval 9">
            <a:extLst>
              <a:ext uri="{FF2B5EF4-FFF2-40B4-BE49-F238E27FC236}">
                <a16:creationId xmlns:a16="http://schemas.microsoft.com/office/drawing/2014/main" id="{B5EC5675-3316-69EC-9120-B680EE7B40D0}"/>
              </a:ext>
            </a:extLst>
          </p:cNvPr>
          <p:cNvSpPr/>
          <p:nvPr/>
        </p:nvSpPr>
        <p:spPr>
          <a:xfrm>
            <a:off x="8632825" y="2333625"/>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38</a:t>
            </a:r>
          </a:p>
        </p:txBody>
      </p:sp>
      <p:sp>
        <p:nvSpPr>
          <p:cNvPr id="13" name="Oval 12">
            <a:extLst>
              <a:ext uri="{FF2B5EF4-FFF2-40B4-BE49-F238E27FC236}">
                <a16:creationId xmlns:a16="http://schemas.microsoft.com/office/drawing/2014/main" id="{E49BC67E-D404-D824-F3B3-226824CE207D}"/>
              </a:ext>
            </a:extLst>
          </p:cNvPr>
          <p:cNvSpPr/>
          <p:nvPr/>
        </p:nvSpPr>
        <p:spPr>
          <a:xfrm>
            <a:off x="5638800" y="4306888"/>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17</a:t>
            </a:r>
          </a:p>
        </p:txBody>
      </p:sp>
      <p:sp>
        <p:nvSpPr>
          <p:cNvPr id="16" name="Content Placeholder 2">
            <a:extLst>
              <a:ext uri="{FF2B5EF4-FFF2-40B4-BE49-F238E27FC236}">
                <a16:creationId xmlns:a16="http://schemas.microsoft.com/office/drawing/2014/main" id="{9BF8C915-686F-E897-6217-377D91382F39}"/>
              </a:ext>
            </a:extLst>
          </p:cNvPr>
          <p:cNvSpPr txBox="1">
            <a:spLocks/>
          </p:cNvSpPr>
          <p:nvPr/>
        </p:nvSpPr>
        <p:spPr bwMode="auto">
          <a:xfrm>
            <a:off x="4800600" y="4954588"/>
            <a:ext cx="267970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marL="90488" indent="-90488">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389063" indent="-182563"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1846263" indent="-182563"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303463" indent="-182563"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2760663" indent="-182563"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eaLnBrk="1" hangingPunct="1"/>
            <a:r>
              <a:rPr lang="en-US" altLang="en-US" b="1"/>
              <a:t>Found –At 2</a:t>
            </a:r>
            <a:r>
              <a:rPr lang="en-US" altLang="en-US" b="1" baseline="30000"/>
              <a:t>nd</a:t>
            </a:r>
            <a:r>
              <a:rPr lang="en-US" altLang="en-US" b="1"/>
              <a:t> position</a:t>
            </a:r>
          </a:p>
          <a:p>
            <a:pPr eaLnBrk="1" hangingPunct="1"/>
            <a:endParaRPr lang="en-US" altLang="en-US" b="1"/>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3" grpId="0" animBg="1"/>
      <p:bldP spid="1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02B5D-FD59-FD4C-2F0F-0F3FC9BFC605}"/>
              </a:ext>
            </a:extLst>
          </p:cNvPr>
          <p:cNvSpPr>
            <a:spLocks noGrp="1"/>
          </p:cNvSpPr>
          <p:nvPr>
            <p:ph type="title"/>
          </p:nvPr>
        </p:nvSpPr>
        <p:spPr/>
        <p:txBody>
          <a:bodyPr>
            <a:normAutofit/>
          </a:bodyPr>
          <a:lstStyle/>
          <a:p>
            <a:pPr eaLnBrk="1" fontAlgn="auto" hangingPunct="1">
              <a:spcAft>
                <a:spcPts val="0"/>
              </a:spcAft>
              <a:defRPr/>
            </a:pPr>
            <a:r>
              <a:rPr lang="en-US" b="1" dirty="0">
                <a:solidFill>
                  <a:schemeClr val="tx1">
                    <a:lumMod val="75000"/>
                    <a:lumOff val="25000"/>
                  </a:schemeClr>
                </a:solidFill>
              </a:rPr>
              <a:t>Operations </a:t>
            </a:r>
          </a:p>
        </p:txBody>
      </p:sp>
      <p:sp>
        <p:nvSpPr>
          <p:cNvPr id="3" name="Content Placeholder 2">
            <a:extLst>
              <a:ext uri="{FF2B5EF4-FFF2-40B4-BE49-F238E27FC236}">
                <a16:creationId xmlns:a16="http://schemas.microsoft.com/office/drawing/2014/main" id="{9D67DDD5-E9E7-9D74-44C4-0BE0D7C440E5}"/>
              </a:ext>
            </a:extLst>
          </p:cNvPr>
          <p:cNvSpPr>
            <a:spLocks noGrp="1"/>
          </p:cNvSpPr>
          <p:nvPr>
            <p:ph idx="1"/>
          </p:nvPr>
        </p:nvSpPr>
        <p:spPr>
          <a:xfrm>
            <a:off x="2400300" y="3468688"/>
            <a:ext cx="4381500" cy="323850"/>
          </a:xfrm>
        </p:spPr>
        <p:txBody>
          <a:bodyPr rtlCol="0">
            <a:normAutofit fontScale="77500" lnSpcReduction="20000"/>
          </a:bodyPr>
          <a:lstStyle/>
          <a:p>
            <a:pPr marL="91440" indent="-91440" eaLnBrk="1" fontAlgn="auto" hangingPunct="1">
              <a:defRPr/>
            </a:pPr>
            <a:r>
              <a:rPr lang="en-US" altLang="en-US" b="1">
                <a:solidFill>
                  <a:schemeClr val="tx1">
                    <a:lumMod val="75000"/>
                    <a:lumOff val="25000"/>
                  </a:schemeClr>
                </a:solidFill>
              </a:rPr>
              <a:t>Insert – Insert 35 at 4</a:t>
            </a:r>
            <a:r>
              <a:rPr lang="en-US" altLang="en-US" b="1" baseline="30000">
                <a:solidFill>
                  <a:schemeClr val="tx1">
                    <a:lumMod val="75000"/>
                    <a:lumOff val="25000"/>
                  </a:schemeClr>
                </a:solidFill>
              </a:rPr>
              <a:t>th</a:t>
            </a:r>
            <a:r>
              <a:rPr lang="en-US" altLang="en-US" b="1">
                <a:solidFill>
                  <a:schemeClr val="tx1">
                    <a:lumMod val="75000"/>
                    <a:lumOff val="25000"/>
                  </a:schemeClr>
                </a:solidFill>
              </a:rPr>
              <a:t> position</a:t>
            </a:r>
          </a:p>
          <a:p>
            <a:pPr marL="91440" indent="-91440" eaLnBrk="1" fontAlgn="auto" hangingPunct="1">
              <a:defRPr/>
            </a:pPr>
            <a:endParaRPr lang="en-US" altLang="en-US" b="1">
              <a:solidFill>
                <a:schemeClr val="tx1">
                  <a:lumMod val="75000"/>
                  <a:lumOff val="25000"/>
                </a:schemeClr>
              </a:solidFill>
            </a:endParaRPr>
          </a:p>
        </p:txBody>
      </p:sp>
      <p:sp>
        <p:nvSpPr>
          <p:cNvPr id="5" name="Rectangle 4">
            <a:extLst>
              <a:ext uri="{FF2B5EF4-FFF2-40B4-BE49-F238E27FC236}">
                <a16:creationId xmlns:a16="http://schemas.microsoft.com/office/drawing/2014/main" id="{F30BE648-0A60-F443-6EDE-CA79E935385B}"/>
              </a:ext>
            </a:extLst>
          </p:cNvPr>
          <p:cNvSpPr/>
          <p:nvPr/>
        </p:nvSpPr>
        <p:spPr>
          <a:xfrm>
            <a:off x="2374900" y="2230438"/>
            <a:ext cx="7620000" cy="7620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a:p>
        </p:txBody>
      </p:sp>
      <p:sp>
        <p:nvSpPr>
          <p:cNvPr id="6" name="Oval 5">
            <a:extLst>
              <a:ext uri="{FF2B5EF4-FFF2-40B4-BE49-F238E27FC236}">
                <a16:creationId xmlns:a16="http://schemas.microsoft.com/office/drawing/2014/main" id="{CD6FC0A0-4BE6-8F44-6D69-69A2899EB830}"/>
              </a:ext>
            </a:extLst>
          </p:cNvPr>
          <p:cNvSpPr/>
          <p:nvPr/>
        </p:nvSpPr>
        <p:spPr>
          <a:xfrm>
            <a:off x="2949575" y="2305050"/>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10</a:t>
            </a:r>
          </a:p>
        </p:txBody>
      </p:sp>
      <p:sp>
        <p:nvSpPr>
          <p:cNvPr id="7" name="Oval 6">
            <a:extLst>
              <a:ext uri="{FF2B5EF4-FFF2-40B4-BE49-F238E27FC236}">
                <a16:creationId xmlns:a16="http://schemas.microsoft.com/office/drawing/2014/main" id="{8FF651A5-4E69-4926-5B1F-F807C7127327}"/>
              </a:ext>
            </a:extLst>
          </p:cNvPr>
          <p:cNvSpPr/>
          <p:nvPr/>
        </p:nvSpPr>
        <p:spPr>
          <a:xfrm>
            <a:off x="4294188" y="2333625"/>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25</a:t>
            </a:r>
          </a:p>
        </p:txBody>
      </p:sp>
      <p:sp>
        <p:nvSpPr>
          <p:cNvPr id="8" name="Oval 7">
            <a:extLst>
              <a:ext uri="{FF2B5EF4-FFF2-40B4-BE49-F238E27FC236}">
                <a16:creationId xmlns:a16="http://schemas.microsoft.com/office/drawing/2014/main" id="{33313C9D-3881-FC13-C124-2889100B540F}"/>
              </a:ext>
            </a:extLst>
          </p:cNvPr>
          <p:cNvSpPr/>
          <p:nvPr/>
        </p:nvSpPr>
        <p:spPr>
          <a:xfrm>
            <a:off x="5638800" y="2333625"/>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17</a:t>
            </a:r>
          </a:p>
        </p:txBody>
      </p:sp>
      <p:sp>
        <p:nvSpPr>
          <p:cNvPr id="9" name="Oval 8">
            <a:extLst>
              <a:ext uri="{FF2B5EF4-FFF2-40B4-BE49-F238E27FC236}">
                <a16:creationId xmlns:a16="http://schemas.microsoft.com/office/drawing/2014/main" id="{DD622375-D61A-9ED6-576A-5A01BD4B542C}"/>
              </a:ext>
            </a:extLst>
          </p:cNvPr>
          <p:cNvSpPr/>
          <p:nvPr/>
        </p:nvSpPr>
        <p:spPr>
          <a:xfrm>
            <a:off x="7094538" y="2333625"/>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14</a:t>
            </a:r>
          </a:p>
        </p:txBody>
      </p:sp>
      <p:sp>
        <p:nvSpPr>
          <p:cNvPr id="10" name="Oval 9">
            <a:extLst>
              <a:ext uri="{FF2B5EF4-FFF2-40B4-BE49-F238E27FC236}">
                <a16:creationId xmlns:a16="http://schemas.microsoft.com/office/drawing/2014/main" id="{5956E9D3-911A-156A-7B49-FA45365BF440}"/>
              </a:ext>
            </a:extLst>
          </p:cNvPr>
          <p:cNvSpPr/>
          <p:nvPr/>
        </p:nvSpPr>
        <p:spPr>
          <a:xfrm>
            <a:off x="8632825" y="2333625"/>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38</a:t>
            </a:r>
          </a:p>
        </p:txBody>
      </p:sp>
      <p:sp>
        <p:nvSpPr>
          <p:cNvPr id="20" name="Rectangle 19">
            <a:extLst>
              <a:ext uri="{FF2B5EF4-FFF2-40B4-BE49-F238E27FC236}">
                <a16:creationId xmlns:a16="http://schemas.microsoft.com/office/drawing/2014/main" id="{795F239C-A4B3-8347-8269-6CE212104D7F}"/>
              </a:ext>
            </a:extLst>
          </p:cNvPr>
          <p:cNvSpPr/>
          <p:nvPr/>
        </p:nvSpPr>
        <p:spPr>
          <a:xfrm>
            <a:off x="2374900" y="4284663"/>
            <a:ext cx="7620000" cy="7620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a:p>
        </p:txBody>
      </p:sp>
      <p:sp>
        <p:nvSpPr>
          <p:cNvPr id="21" name="Oval 20">
            <a:extLst>
              <a:ext uri="{FF2B5EF4-FFF2-40B4-BE49-F238E27FC236}">
                <a16:creationId xmlns:a16="http://schemas.microsoft.com/office/drawing/2014/main" id="{ABDBF6E7-1339-37CB-EC8F-00155897AEC4}"/>
              </a:ext>
            </a:extLst>
          </p:cNvPr>
          <p:cNvSpPr/>
          <p:nvPr/>
        </p:nvSpPr>
        <p:spPr>
          <a:xfrm>
            <a:off x="2754313" y="4408488"/>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10</a:t>
            </a:r>
          </a:p>
        </p:txBody>
      </p:sp>
      <p:sp>
        <p:nvSpPr>
          <p:cNvPr id="22" name="Oval 21">
            <a:extLst>
              <a:ext uri="{FF2B5EF4-FFF2-40B4-BE49-F238E27FC236}">
                <a16:creationId xmlns:a16="http://schemas.microsoft.com/office/drawing/2014/main" id="{91BDA400-7DAE-EADE-4590-2B2A92783E01}"/>
              </a:ext>
            </a:extLst>
          </p:cNvPr>
          <p:cNvSpPr/>
          <p:nvPr/>
        </p:nvSpPr>
        <p:spPr>
          <a:xfrm>
            <a:off x="3921125" y="4408488"/>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25</a:t>
            </a:r>
          </a:p>
        </p:txBody>
      </p:sp>
      <p:sp>
        <p:nvSpPr>
          <p:cNvPr id="23" name="Oval 22">
            <a:extLst>
              <a:ext uri="{FF2B5EF4-FFF2-40B4-BE49-F238E27FC236}">
                <a16:creationId xmlns:a16="http://schemas.microsoft.com/office/drawing/2014/main" id="{FDB8BEA0-0A76-7C0D-3D05-B9A13E79F6E7}"/>
              </a:ext>
            </a:extLst>
          </p:cNvPr>
          <p:cNvSpPr/>
          <p:nvPr/>
        </p:nvSpPr>
        <p:spPr>
          <a:xfrm>
            <a:off x="5087938" y="4408488"/>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17</a:t>
            </a:r>
          </a:p>
        </p:txBody>
      </p:sp>
      <p:sp>
        <p:nvSpPr>
          <p:cNvPr id="24" name="Oval 23">
            <a:extLst>
              <a:ext uri="{FF2B5EF4-FFF2-40B4-BE49-F238E27FC236}">
                <a16:creationId xmlns:a16="http://schemas.microsoft.com/office/drawing/2014/main" id="{36E00118-9981-A225-1204-831481F5FEBE}"/>
              </a:ext>
            </a:extLst>
          </p:cNvPr>
          <p:cNvSpPr/>
          <p:nvPr/>
        </p:nvSpPr>
        <p:spPr>
          <a:xfrm>
            <a:off x="6332538" y="4392613"/>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14</a:t>
            </a:r>
          </a:p>
        </p:txBody>
      </p:sp>
      <p:sp>
        <p:nvSpPr>
          <p:cNvPr id="25" name="Oval 24">
            <a:extLst>
              <a:ext uri="{FF2B5EF4-FFF2-40B4-BE49-F238E27FC236}">
                <a16:creationId xmlns:a16="http://schemas.microsoft.com/office/drawing/2014/main" id="{1948892D-8335-1835-A247-0C9E00A3EADA}"/>
              </a:ext>
            </a:extLst>
          </p:cNvPr>
          <p:cNvSpPr/>
          <p:nvPr/>
        </p:nvSpPr>
        <p:spPr>
          <a:xfrm>
            <a:off x="8632825" y="4387850"/>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38</a:t>
            </a:r>
          </a:p>
        </p:txBody>
      </p:sp>
      <p:sp>
        <p:nvSpPr>
          <p:cNvPr id="13" name="Oval 12">
            <a:extLst>
              <a:ext uri="{FF2B5EF4-FFF2-40B4-BE49-F238E27FC236}">
                <a16:creationId xmlns:a16="http://schemas.microsoft.com/office/drawing/2014/main" id="{5C8B28C7-187E-73A3-0AA0-BDE7EDBD3444}"/>
              </a:ext>
            </a:extLst>
          </p:cNvPr>
          <p:cNvSpPr/>
          <p:nvPr/>
        </p:nvSpPr>
        <p:spPr>
          <a:xfrm>
            <a:off x="7493000" y="4437063"/>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35</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0" grpId="0" animBg="1"/>
      <p:bldP spid="21" grpId="0" animBg="1"/>
      <p:bldP spid="22" grpId="0" animBg="1"/>
      <p:bldP spid="23" grpId="0" animBg="1"/>
      <p:bldP spid="24" grpId="0" animBg="1"/>
      <p:bldP spid="25" grpId="0" animBg="1"/>
      <p:bldP spid="1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D1D89-15CC-AFF3-A950-11E7A6B10411}"/>
              </a:ext>
            </a:extLst>
          </p:cNvPr>
          <p:cNvSpPr>
            <a:spLocks noGrp="1"/>
          </p:cNvSpPr>
          <p:nvPr>
            <p:ph type="title"/>
          </p:nvPr>
        </p:nvSpPr>
        <p:spPr/>
        <p:txBody>
          <a:bodyPr>
            <a:normAutofit/>
          </a:bodyPr>
          <a:lstStyle/>
          <a:p>
            <a:pPr eaLnBrk="1" fontAlgn="auto" hangingPunct="1">
              <a:spcAft>
                <a:spcPts val="0"/>
              </a:spcAft>
              <a:defRPr/>
            </a:pPr>
            <a:r>
              <a:rPr lang="en-US" b="1" dirty="0">
                <a:solidFill>
                  <a:schemeClr val="tx1">
                    <a:lumMod val="75000"/>
                    <a:lumOff val="25000"/>
                  </a:schemeClr>
                </a:solidFill>
              </a:rPr>
              <a:t>Operations </a:t>
            </a:r>
          </a:p>
        </p:txBody>
      </p:sp>
      <p:sp>
        <p:nvSpPr>
          <p:cNvPr id="3" name="Content Placeholder 2">
            <a:extLst>
              <a:ext uri="{FF2B5EF4-FFF2-40B4-BE49-F238E27FC236}">
                <a16:creationId xmlns:a16="http://schemas.microsoft.com/office/drawing/2014/main" id="{E8298116-DD3A-6E1C-7D3E-CDCA50993E76}"/>
              </a:ext>
            </a:extLst>
          </p:cNvPr>
          <p:cNvSpPr>
            <a:spLocks noGrp="1"/>
          </p:cNvSpPr>
          <p:nvPr>
            <p:ph idx="1"/>
          </p:nvPr>
        </p:nvSpPr>
        <p:spPr>
          <a:xfrm>
            <a:off x="2400300" y="3468688"/>
            <a:ext cx="4381500" cy="323850"/>
          </a:xfrm>
        </p:spPr>
        <p:txBody>
          <a:bodyPr rtlCol="0">
            <a:normAutofit fontScale="77500" lnSpcReduction="20000"/>
          </a:bodyPr>
          <a:lstStyle/>
          <a:p>
            <a:pPr marL="91440" indent="-91440" eaLnBrk="1" fontAlgn="auto" hangingPunct="1">
              <a:defRPr/>
            </a:pPr>
            <a:r>
              <a:rPr lang="en-US" altLang="en-US" b="1">
                <a:solidFill>
                  <a:schemeClr val="tx1">
                    <a:lumMod val="75000"/>
                    <a:lumOff val="25000"/>
                  </a:schemeClr>
                </a:solidFill>
              </a:rPr>
              <a:t>Delete– Delete 25 from the array</a:t>
            </a:r>
          </a:p>
          <a:p>
            <a:pPr marL="91440" indent="-91440" eaLnBrk="1" fontAlgn="auto" hangingPunct="1">
              <a:defRPr/>
            </a:pPr>
            <a:endParaRPr lang="en-US" altLang="en-US" b="1">
              <a:solidFill>
                <a:schemeClr val="tx1">
                  <a:lumMod val="75000"/>
                  <a:lumOff val="25000"/>
                </a:schemeClr>
              </a:solidFill>
            </a:endParaRPr>
          </a:p>
        </p:txBody>
      </p:sp>
      <p:sp>
        <p:nvSpPr>
          <p:cNvPr id="5" name="Rectangle 4">
            <a:extLst>
              <a:ext uri="{FF2B5EF4-FFF2-40B4-BE49-F238E27FC236}">
                <a16:creationId xmlns:a16="http://schemas.microsoft.com/office/drawing/2014/main" id="{0CECB47E-B507-0C05-3703-C034AB065DCF}"/>
              </a:ext>
            </a:extLst>
          </p:cNvPr>
          <p:cNvSpPr/>
          <p:nvPr/>
        </p:nvSpPr>
        <p:spPr>
          <a:xfrm>
            <a:off x="2270125" y="4267200"/>
            <a:ext cx="7620000" cy="7620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a:p>
        </p:txBody>
      </p:sp>
      <p:sp>
        <p:nvSpPr>
          <p:cNvPr id="6" name="Oval 5">
            <a:extLst>
              <a:ext uri="{FF2B5EF4-FFF2-40B4-BE49-F238E27FC236}">
                <a16:creationId xmlns:a16="http://schemas.microsoft.com/office/drawing/2014/main" id="{16144F36-2A5A-8F71-6D37-460251177240}"/>
              </a:ext>
            </a:extLst>
          </p:cNvPr>
          <p:cNvSpPr/>
          <p:nvPr/>
        </p:nvSpPr>
        <p:spPr>
          <a:xfrm>
            <a:off x="2844800" y="4341813"/>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10</a:t>
            </a:r>
          </a:p>
        </p:txBody>
      </p:sp>
      <p:sp>
        <p:nvSpPr>
          <p:cNvPr id="7" name="Oval 6">
            <a:extLst>
              <a:ext uri="{FF2B5EF4-FFF2-40B4-BE49-F238E27FC236}">
                <a16:creationId xmlns:a16="http://schemas.microsoft.com/office/drawing/2014/main" id="{A73F8E88-E245-686A-C45F-2972F00BADA5}"/>
              </a:ext>
            </a:extLst>
          </p:cNvPr>
          <p:cNvSpPr/>
          <p:nvPr/>
        </p:nvSpPr>
        <p:spPr>
          <a:xfrm>
            <a:off x="4189413" y="4370388"/>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17</a:t>
            </a:r>
          </a:p>
        </p:txBody>
      </p:sp>
      <p:sp>
        <p:nvSpPr>
          <p:cNvPr id="8" name="Oval 7">
            <a:extLst>
              <a:ext uri="{FF2B5EF4-FFF2-40B4-BE49-F238E27FC236}">
                <a16:creationId xmlns:a16="http://schemas.microsoft.com/office/drawing/2014/main" id="{CFABBEC2-DEF9-ABF6-5497-0D04C97F40F6}"/>
              </a:ext>
            </a:extLst>
          </p:cNvPr>
          <p:cNvSpPr/>
          <p:nvPr/>
        </p:nvSpPr>
        <p:spPr>
          <a:xfrm>
            <a:off x="5534025" y="4370388"/>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14</a:t>
            </a:r>
          </a:p>
        </p:txBody>
      </p:sp>
      <p:sp>
        <p:nvSpPr>
          <p:cNvPr id="9" name="Oval 8">
            <a:extLst>
              <a:ext uri="{FF2B5EF4-FFF2-40B4-BE49-F238E27FC236}">
                <a16:creationId xmlns:a16="http://schemas.microsoft.com/office/drawing/2014/main" id="{74FC0354-02D0-548A-32C3-8489758A85C3}"/>
              </a:ext>
            </a:extLst>
          </p:cNvPr>
          <p:cNvSpPr/>
          <p:nvPr/>
        </p:nvSpPr>
        <p:spPr>
          <a:xfrm>
            <a:off x="6989763" y="4370388"/>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35</a:t>
            </a:r>
          </a:p>
        </p:txBody>
      </p:sp>
      <p:sp>
        <p:nvSpPr>
          <p:cNvPr id="10" name="Oval 9">
            <a:extLst>
              <a:ext uri="{FF2B5EF4-FFF2-40B4-BE49-F238E27FC236}">
                <a16:creationId xmlns:a16="http://schemas.microsoft.com/office/drawing/2014/main" id="{0137B306-FDBE-6472-4B17-8B4C79C79BC5}"/>
              </a:ext>
            </a:extLst>
          </p:cNvPr>
          <p:cNvSpPr/>
          <p:nvPr/>
        </p:nvSpPr>
        <p:spPr>
          <a:xfrm>
            <a:off x="8529638" y="4370388"/>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38</a:t>
            </a:r>
          </a:p>
        </p:txBody>
      </p:sp>
      <p:sp>
        <p:nvSpPr>
          <p:cNvPr id="20" name="Rectangle 19">
            <a:extLst>
              <a:ext uri="{FF2B5EF4-FFF2-40B4-BE49-F238E27FC236}">
                <a16:creationId xmlns:a16="http://schemas.microsoft.com/office/drawing/2014/main" id="{A67B703B-4D24-0AC3-EF97-928ED64D9CC0}"/>
              </a:ext>
            </a:extLst>
          </p:cNvPr>
          <p:cNvSpPr/>
          <p:nvPr/>
        </p:nvSpPr>
        <p:spPr>
          <a:xfrm>
            <a:off x="2270125" y="2101850"/>
            <a:ext cx="7620000" cy="7620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a:p>
        </p:txBody>
      </p:sp>
      <p:sp>
        <p:nvSpPr>
          <p:cNvPr id="21" name="Oval 20">
            <a:extLst>
              <a:ext uri="{FF2B5EF4-FFF2-40B4-BE49-F238E27FC236}">
                <a16:creationId xmlns:a16="http://schemas.microsoft.com/office/drawing/2014/main" id="{1C39719C-AED5-E124-B518-6AF33C5CB6AC}"/>
              </a:ext>
            </a:extLst>
          </p:cNvPr>
          <p:cNvSpPr/>
          <p:nvPr/>
        </p:nvSpPr>
        <p:spPr>
          <a:xfrm>
            <a:off x="2651125" y="2225675"/>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10</a:t>
            </a:r>
          </a:p>
        </p:txBody>
      </p:sp>
      <p:sp>
        <p:nvSpPr>
          <p:cNvPr id="22" name="Oval 21">
            <a:extLst>
              <a:ext uri="{FF2B5EF4-FFF2-40B4-BE49-F238E27FC236}">
                <a16:creationId xmlns:a16="http://schemas.microsoft.com/office/drawing/2014/main" id="{10C1E7BE-FE0C-1F98-30EA-B8954FF36459}"/>
              </a:ext>
            </a:extLst>
          </p:cNvPr>
          <p:cNvSpPr/>
          <p:nvPr/>
        </p:nvSpPr>
        <p:spPr>
          <a:xfrm>
            <a:off x="3816350" y="2225675"/>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25</a:t>
            </a:r>
          </a:p>
        </p:txBody>
      </p:sp>
      <p:sp>
        <p:nvSpPr>
          <p:cNvPr id="23" name="Oval 22">
            <a:extLst>
              <a:ext uri="{FF2B5EF4-FFF2-40B4-BE49-F238E27FC236}">
                <a16:creationId xmlns:a16="http://schemas.microsoft.com/office/drawing/2014/main" id="{3A3ED233-D32C-C56F-CBC2-E9D73B160AF2}"/>
              </a:ext>
            </a:extLst>
          </p:cNvPr>
          <p:cNvSpPr/>
          <p:nvPr/>
        </p:nvSpPr>
        <p:spPr>
          <a:xfrm>
            <a:off x="4983163" y="2225675"/>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17</a:t>
            </a:r>
          </a:p>
        </p:txBody>
      </p:sp>
      <p:sp>
        <p:nvSpPr>
          <p:cNvPr id="24" name="Oval 23">
            <a:extLst>
              <a:ext uri="{FF2B5EF4-FFF2-40B4-BE49-F238E27FC236}">
                <a16:creationId xmlns:a16="http://schemas.microsoft.com/office/drawing/2014/main" id="{DE4C267A-9A0E-064D-4954-B29FC74244E1}"/>
              </a:ext>
            </a:extLst>
          </p:cNvPr>
          <p:cNvSpPr/>
          <p:nvPr/>
        </p:nvSpPr>
        <p:spPr>
          <a:xfrm>
            <a:off x="6227763" y="2209800"/>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14</a:t>
            </a:r>
          </a:p>
        </p:txBody>
      </p:sp>
      <p:sp>
        <p:nvSpPr>
          <p:cNvPr id="25" name="Oval 24">
            <a:extLst>
              <a:ext uri="{FF2B5EF4-FFF2-40B4-BE49-F238E27FC236}">
                <a16:creationId xmlns:a16="http://schemas.microsoft.com/office/drawing/2014/main" id="{94FD583D-9F10-D1EF-4F1A-0F6EEFF024CA}"/>
              </a:ext>
            </a:extLst>
          </p:cNvPr>
          <p:cNvSpPr/>
          <p:nvPr/>
        </p:nvSpPr>
        <p:spPr>
          <a:xfrm>
            <a:off x="8529638" y="2205038"/>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38</a:t>
            </a:r>
          </a:p>
        </p:txBody>
      </p:sp>
      <p:sp>
        <p:nvSpPr>
          <p:cNvPr id="13" name="Oval 12">
            <a:extLst>
              <a:ext uri="{FF2B5EF4-FFF2-40B4-BE49-F238E27FC236}">
                <a16:creationId xmlns:a16="http://schemas.microsoft.com/office/drawing/2014/main" id="{A72BE0F1-D34A-8E7F-0DF4-A540AA3026D3}"/>
              </a:ext>
            </a:extLst>
          </p:cNvPr>
          <p:cNvSpPr/>
          <p:nvPr/>
        </p:nvSpPr>
        <p:spPr>
          <a:xfrm>
            <a:off x="7389813" y="2254250"/>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35</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6" grpId="0" animBg="1"/>
      <p:bldP spid="7" grpId="0" animBg="1"/>
      <p:bldP spid="8" grpId="0" animBg="1"/>
      <p:bldP spid="9" grpId="0" animBg="1"/>
      <p:bldP spid="1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BF133-5510-B8DF-9615-D70F7DE7548B}"/>
              </a:ext>
            </a:extLst>
          </p:cNvPr>
          <p:cNvSpPr>
            <a:spLocks noGrp="1"/>
          </p:cNvSpPr>
          <p:nvPr>
            <p:ph type="title"/>
          </p:nvPr>
        </p:nvSpPr>
        <p:spPr/>
        <p:txBody>
          <a:bodyPr>
            <a:normAutofit/>
          </a:bodyPr>
          <a:lstStyle/>
          <a:p>
            <a:pPr eaLnBrk="1" fontAlgn="auto" hangingPunct="1">
              <a:spcAft>
                <a:spcPts val="0"/>
              </a:spcAft>
              <a:defRPr/>
            </a:pPr>
            <a:r>
              <a:rPr lang="en-US" b="1" dirty="0">
                <a:solidFill>
                  <a:schemeClr val="tx1">
                    <a:lumMod val="75000"/>
                    <a:lumOff val="25000"/>
                  </a:schemeClr>
                </a:solidFill>
              </a:rPr>
              <a:t>Operations </a:t>
            </a:r>
          </a:p>
        </p:txBody>
      </p:sp>
      <p:sp>
        <p:nvSpPr>
          <p:cNvPr id="30" name="Content Placeholder 2">
            <a:extLst>
              <a:ext uri="{FF2B5EF4-FFF2-40B4-BE49-F238E27FC236}">
                <a16:creationId xmlns:a16="http://schemas.microsoft.com/office/drawing/2014/main" id="{EF49E054-1421-9E04-6536-24EA19362893}"/>
              </a:ext>
            </a:extLst>
          </p:cNvPr>
          <p:cNvSpPr>
            <a:spLocks noGrp="1"/>
          </p:cNvSpPr>
          <p:nvPr>
            <p:ph idx="1"/>
          </p:nvPr>
        </p:nvSpPr>
        <p:spPr>
          <a:xfrm>
            <a:off x="2400300" y="3468688"/>
            <a:ext cx="4381500" cy="323850"/>
          </a:xfrm>
        </p:spPr>
        <p:txBody>
          <a:bodyPr rtlCol="0">
            <a:normAutofit fontScale="77500" lnSpcReduction="20000"/>
          </a:bodyPr>
          <a:lstStyle/>
          <a:p>
            <a:pPr marL="91440" indent="-91440" eaLnBrk="1" fontAlgn="auto" hangingPunct="1">
              <a:defRPr/>
            </a:pPr>
            <a:r>
              <a:rPr lang="en-US" altLang="en-US" b="1">
                <a:solidFill>
                  <a:schemeClr val="tx1">
                    <a:lumMod val="75000"/>
                    <a:lumOff val="25000"/>
                  </a:schemeClr>
                </a:solidFill>
              </a:rPr>
              <a:t>Merging – Merge above two lists</a:t>
            </a:r>
          </a:p>
          <a:p>
            <a:pPr marL="91440" indent="-91440" eaLnBrk="1" fontAlgn="auto" hangingPunct="1">
              <a:defRPr/>
            </a:pPr>
            <a:endParaRPr lang="en-US" altLang="en-US" b="1">
              <a:solidFill>
                <a:schemeClr val="tx1">
                  <a:lumMod val="75000"/>
                  <a:lumOff val="25000"/>
                </a:schemeClr>
              </a:solidFill>
            </a:endParaRPr>
          </a:p>
        </p:txBody>
      </p:sp>
      <p:sp>
        <p:nvSpPr>
          <p:cNvPr id="5" name="Rectangle 4">
            <a:extLst>
              <a:ext uri="{FF2B5EF4-FFF2-40B4-BE49-F238E27FC236}">
                <a16:creationId xmlns:a16="http://schemas.microsoft.com/office/drawing/2014/main" id="{356963A5-3B33-B9E6-47A7-EB723E1E3669}"/>
              </a:ext>
            </a:extLst>
          </p:cNvPr>
          <p:cNvSpPr/>
          <p:nvPr/>
        </p:nvSpPr>
        <p:spPr>
          <a:xfrm>
            <a:off x="2357438" y="2195513"/>
            <a:ext cx="4271962" cy="7620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a:p>
        </p:txBody>
      </p:sp>
      <p:sp>
        <p:nvSpPr>
          <p:cNvPr id="6" name="Oval 5">
            <a:extLst>
              <a:ext uri="{FF2B5EF4-FFF2-40B4-BE49-F238E27FC236}">
                <a16:creationId xmlns:a16="http://schemas.microsoft.com/office/drawing/2014/main" id="{FAE2070B-9520-7BC2-7865-263168752CE5}"/>
              </a:ext>
            </a:extLst>
          </p:cNvPr>
          <p:cNvSpPr/>
          <p:nvPr/>
        </p:nvSpPr>
        <p:spPr>
          <a:xfrm>
            <a:off x="2563813" y="2333625"/>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10</a:t>
            </a:r>
          </a:p>
        </p:txBody>
      </p:sp>
      <p:sp>
        <p:nvSpPr>
          <p:cNvPr id="7" name="Oval 6">
            <a:extLst>
              <a:ext uri="{FF2B5EF4-FFF2-40B4-BE49-F238E27FC236}">
                <a16:creationId xmlns:a16="http://schemas.microsoft.com/office/drawing/2014/main" id="{748070C2-D6EB-CAC9-6F14-3FA0B19B66F7}"/>
              </a:ext>
            </a:extLst>
          </p:cNvPr>
          <p:cNvSpPr/>
          <p:nvPr/>
        </p:nvSpPr>
        <p:spPr>
          <a:xfrm>
            <a:off x="3363913" y="2322513"/>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17</a:t>
            </a:r>
          </a:p>
        </p:txBody>
      </p:sp>
      <p:sp>
        <p:nvSpPr>
          <p:cNvPr id="8" name="Oval 7">
            <a:extLst>
              <a:ext uri="{FF2B5EF4-FFF2-40B4-BE49-F238E27FC236}">
                <a16:creationId xmlns:a16="http://schemas.microsoft.com/office/drawing/2014/main" id="{3FD52024-D1EF-7A88-59AD-4ABB96CB298A}"/>
              </a:ext>
            </a:extLst>
          </p:cNvPr>
          <p:cNvSpPr/>
          <p:nvPr/>
        </p:nvSpPr>
        <p:spPr>
          <a:xfrm>
            <a:off x="4162425" y="2322513"/>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14</a:t>
            </a:r>
          </a:p>
        </p:txBody>
      </p:sp>
      <p:sp>
        <p:nvSpPr>
          <p:cNvPr id="9" name="Oval 8">
            <a:extLst>
              <a:ext uri="{FF2B5EF4-FFF2-40B4-BE49-F238E27FC236}">
                <a16:creationId xmlns:a16="http://schemas.microsoft.com/office/drawing/2014/main" id="{DD23E28C-BDBB-5707-2CDB-488B51AFE7B0}"/>
              </a:ext>
            </a:extLst>
          </p:cNvPr>
          <p:cNvSpPr/>
          <p:nvPr/>
        </p:nvSpPr>
        <p:spPr>
          <a:xfrm>
            <a:off x="4967288" y="2333625"/>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35</a:t>
            </a:r>
          </a:p>
        </p:txBody>
      </p:sp>
      <p:sp>
        <p:nvSpPr>
          <p:cNvPr id="10" name="Oval 9">
            <a:extLst>
              <a:ext uri="{FF2B5EF4-FFF2-40B4-BE49-F238E27FC236}">
                <a16:creationId xmlns:a16="http://schemas.microsoft.com/office/drawing/2014/main" id="{8ADAB2B8-8C45-3011-EC74-29711B369588}"/>
              </a:ext>
            </a:extLst>
          </p:cNvPr>
          <p:cNvSpPr/>
          <p:nvPr/>
        </p:nvSpPr>
        <p:spPr>
          <a:xfrm>
            <a:off x="5753100" y="2322513"/>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38</a:t>
            </a:r>
          </a:p>
        </p:txBody>
      </p:sp>
      <p:sp>
        <p:nvSpPr>
          <p:cNvPr id="20" name="Rectangle 19">
            <a:extLst>
              <a:ext uri="{FF2B5EF4-FFF2-40B4-BE49-F238E27FC236}">
                <a16:creationId xmlns:a16="http://schemas.microsoft.com/office/drawing/2014/main" id="{2C504E2A-0A40-E98A-D540-19D63ECB32D3}"/>
              </a:ext>
            </a:extLst>
          </p:cNvPr>
          <p:cNvSpPr/>
          <p:nvPr/>
        </p:nvSpPr>
        <p:spPr>
          <a:xfrm>
            <a:off x="2374900" y="4284663"/>
            <a:ext cx="7620000" cy="7620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a:p>
        </p:txBody>
      </p:sp>
      <p:sp>
        <p:nvSpPr>
          <p:cNvPr id="21" name="Oval 20">
            <a:extLst>
              <a:ext uri="{FF2B5EF4-FFF2-40B4-BE49-F238E27FC236}">
                <a16:creationId xmlns:a16="http://schemas.microsoft.com/office/drawing/2014/main" id="{40657DB7-3D79-4C5E-CC7D-3B730724F255}"/>
              </a:ext>
            </a:extLst>
          </p:cNvPr>
          <p:cNvSpPr/>
          <p:nvPr/>
        </p:nvSpPr>
        <p:spPr>
          <a:xfrm>
            <a:off x="2536825" y="4383088"/>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10</a:t>
            </a:r>
          </a:p>
        </p:txBody>
      </p:sp>
      <p:sp>
        <p:nvSpPr>
          <p:cNvPr id="23" name="Oval 22">
            <a:extLst>
              <a:ext uri="{FF2B5EF4-FFF2-40B4-BE49-F238E27FC236}">
                <a16:creationId xmlns:a16="http://schemas.microsoft.com/office/drawing/2014/main" id="{177A8F95-B322-8FAE-79ED-5CD1850D6621}"/>
              </a:ext>
            </a:extLst>
          </p:cNvPr>
          <p:cNvSpPr/>
          <p:nvPr/>
        </p:nvSpPr>
        <p:spPr>
          <a:xfrm>
            <a:off x="3338513" y="4387850"/>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17</a:t>
            </a:r>
          </a:p>
        </p:txBody>
      </p:sp>
      <p:sp>
        <p:nvSpPr>
          <p:cNvPr id="24" name="Oval 23">
            <a:extLst>
              <a:ext uri="{FF2B5EF4-FFF2-40B4-BE49-F238E27FC236}">
                <a16:creationId xmlns:a16="http://schemas.microsoft.com/office/drawing/2014/main" id="{D6ECA434-C751-11AA-906F-15034EEF20AF}"/>
              </a:ext>
            </a:extLst>
          </p:cNvPr>
          <p:cNvSpPr/>
          <p:nvPr/>
        </p:nvSpPr>
        <p:spPr>
          <a:xfrm>
            <a:off x="4260850" y="4411663"/>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14</a:t>
            </a:r>
          </a:p>
        </p:txBody>
      </p:sp>
      <p:sp>
        <p:nvSpPr>
          <p:cNvPr id="25" name="Oval 24">
            <a:extLst>
              <a:ext uri="{FF2B5EF4-FFF2-40B4-BE49-F238E27FC236}">
                <a16:creationId xmlns:a16="http://schemas.microsoft.com/office/drawing/2014/main" id="{33D450C1-11CE-7FDB-2758-B9FEFD97BA16}"/>
              </a:ext>
            </a:extLst>
          </p:cNvPr>
          <p:cNvSpPr/>
          <p:nvPr/>
        </p:nvSpPr>
        <p:spPr>
          <a:xfrm>
            <a:off x="5986463" y="4383088"/>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38</a:t>
            </a:r>
          </a:p>
        </p:txBody>
      </p:sp>
      <p:sp>
        <p:nvSpPr>
          <p:cNvPr id="13" name="Oval 12">
            <a:extLst>
              <a:ext uri="{FF2B5EF4-FFF2-40B4-BE49-F238E27FC236}">
                <a16:creationId xmlns:a16="http://schemas.microsoft.com/office/drawing/2014/main" id="{827D0DCB-5CFE-F437-318B-962B23900552}"/>
              </a:ext>
            </a:extLst>
          </p:cNvPr>
          <p:cNvSpPr/>
          <p:nvPr/>
        </p:nvSpPr>
        <p:spPr>
          <a:xfrm>
            <a:off x="5122863" y="4383088"/>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35</a:t>
            </a:r>
          </a:p>
        </p:txBody>
      </p:sp>
      <p:sp>
        <p:nvSpPr>
          <p:cNvPr id="17" name="Rectangle 16">
            <a:extLst>
              <a:ext uri="{FF2B5EF4-FFF2-40B4-BE49-F238E27FC236}">
                <a16:creationId xmlns:a16="http://schemas.microsoft.com/office/drawing/2014/main" id="{EA55A827-D876-1CF6-E34B-E2ABE975C8C2}"/>
              </a:ext>
            </a:extLst>
          </p:cNvPr>
          <p:cNvSpPr/>
          <p:nvPr/>
        </p:nvSpPr>
        <p:spPr>
          <a:xfrm>
            <a:off x="6731000" y="2195513"/>
            <a:ext cx="3497263" cy="7620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a:p>
        </p:txBody>
      </p:sp>
      <p:sp>
        <p:nvSpPr>
          <p:cNvPr id="18" name="Oval 17">
            <a:extLst>
              <a:ext uri="{FF2B5EF4-FFF2-40B4-BE49-F238E27FC236}">
                <a16:creationId xmlns:a16="http://schemas.microsoft.com/office/drawing/2014/main" id="{64CF4094-AC2C-7FFD-0647-8CDF0747CED8}"/>
              </a:ext>
            </a:extLst>
          </p:cNvPr>
          <p:cNvSpPr/>
          <p:nvPr/>
        </p:nvSpPr>
        <p:spPr>
          <a:xfrm>
            <a:off x="6988175" y="2336800"/>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13</a:t>
            </a:r>
          </a:p>
        </p:txBody>
      </p:sp>
      <p:sp>
        <p:nvSpPr>
          <p:cNvPr id="19" name="Oval 18">
            <a:extLst>
              <a:ext uri="{FF2B5EF4-FFF2-40B4-BE49-F238E27FC236}">
                <a16:creationId xmlns:a16="http://schemas.microsoft.com/office/drawing/2014/main" id="{B82DE363-4435-D6B9-344C-6DAC9E6A1FF0}"/>
              </a:ext>
            </a:extLst>
          </p:cNvPr>
          <p:cNvSpPr/>
          <p:nvPr/>
        </p:nvSpPr>
        <p:spPr>
          <a:xfrm>
            <a:off x="7962900" y="2347913"/>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23</a:t>
            </a:r>
          </a:p>
        </p:txBody>
      </p:sp>
      <p:sp>
        <p:nvSpPr>
          <p:cNvPr id="26" name="Oval 25">
            <a:extLst>
              <a:ext uri="{FF2B5EF4-FFF2-40B4-BE49-F238E27FC236}">
                <a16:creationId xmlns:a16="http://schemas.microsoft.com/office/drawing/2014/main" id="{43B57EAD-D43C-61F5-4094-8C05856A6A06}"/>
              </a:ext>
            </a:extLst>
          </p:cNvPr>
          <p:cNvSpPr/>
          <p:nvPr/>
        </p:nvSpPr>
        <p:spPr>
          <a:xfrm>
            <a:off x="9128125" y="2347913"/>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32</a:t>
            </a:r>
          </a:p>
        </p:txBody>
      </p:sp>
      <p:sp>
        <p:nvSpPr>
          <p:cNvPr id="34" name="Oval 33">
            <a:extLst>
              <a:ext uri="{FF2B5EF4-FFF2-40B4-BE49-F238E27FC236}">
                <a16:creationId xmlns:a16="http://schemas.microsoft.com/office/drawing/2014/main" id="{D96952AB-7D8D-1C17-EA14-38A6ABB2A27F}"/>
              </a:ext>
            </a:extLst>
          </p:cNvPr>
          <p:cNvSpPr/>
          <p:nvPr/>
        </p:nvSpPr>
        <p:spPr>
          <a:xfrm>
            <a:off x="6858000" y="4386263"/>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13</a:t>
            </a:r>
          </a:p>
        </p:txBody>
      </p:sp>
      <p:sp>
        <p:nvSpPr>
          <p:cNvPr id="35" name="Oval 34">
            <a:extLst>
              <a:ext uri="{FF2B5EF4-FFF2-40B4-BE49-F238E27FC236}">
                <a16:creationId xmlns:a16="http://schemas.microsoft.com/office/drawing/2014/main" id="{9F13ED64-B046-C44C-8F68-2B756BA5C258}"/>
              </a:ext>
            </a:extLst>
          </p:cNvPr>
          <p:cNvSpPr/>
          <p:nvPr/>
        </p:nvSpPr>
        <p:spPr>
          <a:xfrm>
            <a:off x="7831138" y="4397375"/>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23</a:t>
            </a:r>
          </a:p>
        </p:txBody>
      </p:sp>
      <p:sp>
        <p:nvSpPr>
          <p:cNvPr id="36" name="Oval 35">
            <a:extLst>
              <a:ext uri="{FF2B5EF4-FFF2-40B4-BE49-F238E27FC236}">
                <a16:creationId xmlns:a16="http://schemas.microsoft.com/office/drawing/2014/main" id="{B9765544-25EA-1BDA-B6B4-A5CA6A2B9DE0}"/>
              </a:ext>
            </a:extLst>
          </p:cNvPr>
          <p:cNvSpPr/>
          <p:nvPr/>
        </p:nvSpPr>
        <p:spPr>
          <a:xfrm>
            <a:off x="8997950" y="4397375"/>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32</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uild="p"/>
      <p:bldP spid="20" grpId="0" animBg="1"/>
      <p:bldP spid="21" grpId="0" animBg="1"/>
      <p:bldP spid="23" grpId="0" animBg="1"/>
      <p:bldP spid="24" grpId="0" animBg="1"/>
      <p:bldP spid="25" grpId="0" animBg="1"/>
      <p:bldP spid="13" grpId="0" animBg="1"/>
      <p:bldP spid="34" grpId="0" animBg="1"/>
      <p:bldP spid="35" grpId="0" animBg="1"/>
      <p:bldP spid="3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C5D4B-7EA9-8A6D-DFAD-1896C3C2DA9E}"/>
              </a:ext>
            </a:extLst>
          </p:cNvPr>
          <p:cNvSpPr>
            <a:spLocks noGrp="1"/>
          </p:cNvSpPr>
          <p:nvPr>
            <p:ph type="title"/>
          </p:nvPr>
        </p:nvSpPr>
        <p:spPr/>
        <p:txBody>
          <a:bodyPr>
            <a:normAutofit/>
          </a:bodyPr>
          <a:lstStyle/>
          <a:p>
            <a:pPr eaLnBrk="1" fontAlgn="auto" hangingPunct="1">
              <a:spcAft>
                <a:spcPts val="0"/>
              </a:spcAft>
              <a:defRPr/>
            </a:pPr>
            <a:r>
              <a:rPr lang="en-US" b="1" dirty="0">
                <a:solidFill>
                  <a:schemeClr val="tx1">
                    <a:lumMod val="75000"/>
                    <a:lumOff val="25000"/>
                  </a:schemeClr>
                </a:solidFill>
              </a:rPr>
              <a:t>Operations </a:t>
            </a:r>
          </a:p>
        </p:txBody>
      </p:sp>
      <p:sp>
        <p:nvSpPr>
          <p:cNvPr id="30" name="Content Placeholder 2">
            <a:extLst>
              <a:ext uri="{FF2B5EF4-FFF2-40B4-BE49-F238E27FC236}">
                <a16:creationId xmlns:a16="http://schemas.microsoft.com/office/drawing/2014/main" id="{A1E797BD-CE45-4E0A-98E0-A90D1404E397}"/>
              </a:ext>
            </a:extLst>
          </p:cNvPr>
          <p:cNvSpPr>
            <a:spLocks noGrp="1"/>
          </p:cNvSpPr>
          <p:nvPr>
            <p:ph idx="1"/>
          </p:nvPr>
        </p:nvSpPr>
        <p:spPr>
          <a:xfrm>
            <a:off x="2400300" y="3468688"/>
            <a:ext cx="4381500" cy="323850"/>
          </a:xfrm>
        </p:spPr>
        <p:txBody>
          <a:bodyPr rtlCol="0">
            <a:normAutofit fontScale="77500" lnSpcReduction="20000"/>
          </a:bodyPr>
          <a:lstStyle/>
          <a:p>
            <a:pPr marL="91440" indent="-91440" eaLnBrk="1" fontAlgn="auto" hangingPunct="1">
              <a:defRPr/>
            </a:pPr>
            <a:r>
              <a:rPr lang="en-US" altLang="en-US" b="1">
                <a:solidFill>
                  <a:schemeClr val="tx1">
                    <a:lumMod val="75000"/>
                    <a:lumOff val="25000"/>
                  </a:schemeClr>
                </a:solidFill>
              </a:rPr>
              <a:t>Sorting – Sort in Ascending Order</a:t>
            </a:r>
          </a:p>
          <a:p>
            <a:pPr marL="91440" indent="-91440" eaLnBrk="1" fontAlgn="auto" hangingPunct="1">
              <a:defRPr/>
            </a:pPr>
            <a:endParaRPr lang="en-US" altLang="en-US" b="1">
              <a:solidFill>
                <a:schemeClr val="tx1">
                  <a:lumMod val="75000"/>
                  <a:lumOff val="25000"/>
                </a:schemeClr>
              </a:solidFill>
            </a:endParaRPr>
          </a:p>
        </p:txBody>
      </p:sp>
      <p:sp>
        <p:nvSpPr>
          <p:cNvPr id="20" name="Rectangle 19">
            <a:extLst>
              <a:ext uri="{FF2B5EF4-FFF2-40B4-BE49-F238E27FC236}">
                <a16:creationId xmlns:a16="http://schemas.microsoft.com/office/drawing/2014/main" id="{13185396-A958-8217-04BF-E288714F325C}"/>
              </a:ext>
            </a:extLst>
          </p:cNvPr>
          <p:cNvSpPr/>
          <p:nvPr/>
        </p:nvSpPr>
        <p:spPr>
          <a:xfrm>
            <a:off x="2374900" y="4284663"/>
            <a:ext cx="7620000" cy="7620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a:p>
        </p:txBody>
      </p:sp>
      <p:sp>
        <p:nvSpPr>
          <p:cNvPr id="21" name="Oval 20">
            <a:extLst>
              <a:ext uri="{FF2B5EF4-FFF2-40B4-BE49-F238E27FC236}">
                <a16:creationId xmlns:a16="http://schemas.microsoft.com/office/drawing/2014/main" id="{C75D49E4-F755-C1A2-A08E-E19098B2BE06}"/>
              </a:ext>
            </a:extLst>
          </p:cNvPr>
          <p:cNvSpPr/>
          <p:nvPr/>
        </p:nvSpPr>
        <p:spPr>
          <a:xfrm>
            <a:off x="2536825" y="4383088"/>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10</a:t>
            </a:r>
          </a:p>
        </p:txBody>
      </p:sp>
      <p:sp>
        <p:nvSpPr>
          <p:cNvPr id="23" name="Oval 22">
            <a:extLst>
              <a:ext uri="{FF2B5EF4-FFF2-40B4-BE49-F238E27FC236}">
                <a16:creationId xmlns:a16="http://schemas.microsoft.com/office/drawing/2014/main" id="{4A4B21E9-4BF4-AF3E-6833-0099BA03E03F}"/>
              </a:ext>
            </a:extLst>
          </p:cNvPr>
          <p:cNvSpPr/>
          <p:nvPr/>
        </p:nvSpPr>
        <p:spPr>
          <a:xfrm>
            <a:off x="3413125" y="4411663"/>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13</a:t>
            </a:r>
          </a:p>
        </p:txBody>
      </p:sp>
      <p:sp>
        <p:nvSpPr>
          <p:cNvPr id="24" name="Oval 23">
            <a:extLst>
              <a:ext uri="{FF2B5EF4-FFF2-40B4-BE49-F238E27FC236}">
                <a16:creationId xmlns:a16="http://schemas.microsoft.com/office/drawing/2014/main" id="{575DE407-8B86-44ED-0F3E-A8F3B7DA1DC6}"/>
              </a:ext>
            </a:extLst>
          </p:cNvPr>
          <p:cNvSpPr/>
          <p:nvPr/>
        </p:nvSpPr>
        <p:spPr>
          <a:xfrm>
            <a:off x="4260850" y="4411663"/>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14</a:t>
            </a:r>
          </a:p>
        </p:txBody>
      </p:sp>
      <p:sp>
        <p:nvSpPr>
          <p:cNvPr id="25" name="Oval 24">
            <a:extLst>
              <a:ext uri="{FF2B5EF4-FFF2-40B4-BE49-F238E27FC236}">
                <a16:creationId xmlns:a16="http://schemas.microsoft.com/office/drawing/2014/main" id="{9A715CBD-73EE-457B-6832-8C7D3271F619}"/>
              </a:ext>
            </a:extLst>
          </p:cNvPr>
          <p:cNvSpPr/>
          <p:nvPr/>
        </p:nvSpPr>
        <p:spPr>
          <a:xfrm>
            <a:off x="5986463" y="4383088"/>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23</a:t>
            </a:r>
          </a:p>
        </p:txBody>
      </p:sp>
      <p:sp>
        <p:nvSpPr>
          <p:cNvPr id="13" name="Oval 12">
            <a:extLst>
              <a:ext uri="{FF2B5EF4-FFF2-40B4-BE49-F238E27FC236}">
                <a16:creationId xmlns:a16="http://schemas.microsoft.com/office/drawing/2014/main" id="{E7D73051-B37C-D8AC-50E5-F9DCE1C7A5E8}"/>
              </a:ext>
            </a:extLst>
          </p:cNvPr>
          <p:cNvSpPr/>
          <p:nvPr/>
        </p:nvSpPr>
        <p:spPr>
          <a:xfrm>
            <a:off x="5122863" y="4383088"/>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17</a:t>
            </a:r>
          </a:p>
        </p:txBody>
      </p:sp>
      <p:sp>
        <p:nvSpPr>
          <p:cNvPr id="34" name="Oval 33">
            <a:extLst>
              <a:ext uri="{FF2B5EF4-FFF2-40B4-BE49-F238E27FC236}">
                <a16:creationId xmlns:a16="http://schemas.microsoft.com/office/drawing/2014/main" id="{86A100EA-3995-6F7F-A14E-A99F424208F2}"/>
              </a:ext>
            </a:extLst>
          </p:cNvPr>
          <p:cNvSpPr/>
          <p:nvPr/>
        </p:nvSpPr>
        <p:spPr>
          <a:xfrm>
            <a:off x="6921500" y="4397375"/>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32</a:t>
            </a:r>
          </a:p>
        </p:txBody>
      </p:sp>
      <p:sp>
        <p:nvSpPr>
          <p:cNvPr id="35" name="Oval 34">
            <a:extLst>
              <a:ext uri="{FF2B5EF4-FFF2-40B4-BE49-F238E27FC236}">
                <a16:creationId xmlns:a16="http://schemas.microsoft.com/office/drawing/2014/main" id="{C17B3EA2-D850-E25C-8B04-0EE4F9057E50}"/>
              </a:ext>
            </a:extLst>
          </p:cNvPr>
          <p:cNvSpPr/>
          <p:nvPr/>
        </p:nvSpPr>
        <p:spPr>
          <a:xfrm>
            <a:off x="7935913" y="4411663"/>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35</a:t>
            </a:r>
          </a:p>
        </p:txBody>
      </p:sp>
      <p:sp>
        <p:nvSpPr>
          <p:cNvPr id="36" name="Oval 35">
            <a:extLst>
              <a:ext uri="{FF2B5EF4-FFF2-40B4-BE49-F238E27FC236}">
                <a16:creationId xmlns:a16="http://schemas.microsoft.com/office/drawing/2014/main" id="{26AC4F3E-C977-C611-FE0A-0BF2680C61A7}"/>
              </a:ext>
            </a:extLst>
          </p:cNvPr>
          <p:cNvSpPr/>
          <p:nvPr/>
        </p:nvSpPr>
        <p:spPr>
          <a:xfrm>
            <a:off x="8932863" y="4411663"/>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38</a:t>
            </a:r>
          </a:p>
        </p:txBody>
      </p:sp>
      <p:sp>
        <p:nvSpPr>
          <p:cNvPr id="27" name="Rectangle 26">
            <a:extLst>
              <a:ext uri="{FF2B5EF4-FFF2-40B4-BE49-F238E27FC236}">
                <a16:creationId xmlns:a16="http://schemas.microsoft.com/office/drawing/2014/main" id="{E4DBA9A2-C5DC-974B-8D4A-56A72F15382C}"/>
              </a:ext>
            </a:extLst>
          </p:cNvPr>
          <p:cNvSpPr/>
          <p:nvPr/>
        </p:nvSpPr>
        <p:spPr>
          <a:xfrm>
            <a:off x="2338388" y="2222500"/>
            <a:ext cx="7620000" cy="7620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a:p>
        </p:txBody>
      </p:sp>
      <p:sp>
        <p:nvSpPr>
          <p:cNvPr id="28" name="Oval 27">
            <a:extLst>
              <a:ext uri="{FF2B5EF4-FFF2-40B4-BE49-F238E27FC236}">
                <a16:creationId xmlns:a16="http://schemas.microsoft.com/office/drawing/2014/main" id="{D7D72A7A-D96B-6174-C679-372AF18959AA}"/>
              </a:ext>
            </a:extLst>
          </p:cNvPr>
          <p:cNvSpPr/>
          <p:nvPr/>
        </p:nvSpPr>
        <p:spPr>
          <a:xfrm>
            <a:off x="2500313" y="2320925"/>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10</a:t>
            </a:r>
          </a:p>
        </p:txBody>
      </p:sp>
      <p:sp>
        <p:nvSpPr>
          <p:cNvPr id="29" name="Oval 28">
            <a:extLst>
              <a:ext uri="{FF2B5EF4-FFF2-40B4-BE49-F238E27FC236}">
                <a16:creationId xmlns:a16="http://schemas.microsoft.com/office/drawing/2014/main" id="{C57FC4A6-82E5-5094-18F1-1BF977B0E8F3}"/>
              </a:ext>
            </a:extLst>
          </p:cNvPr>
          <p:cNvSpPr/>
          <p:nvPr/>
        </p:nvSpPr>
        <p:spPr>
          <a:xfrm>
            <a:off x="3302000" y="2325688"/>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17</a:t>
            </a:r>
          </a:p>
        </p:txBody>
      </p:sp>
      <p:sp>
        <p:nvSpPr>
          <p:cNvPr id="31" name="Oval 30">
            <a:extLst>
              <a:ext uri="{FF2B5EF4-FFF2-40B4-BE49-F238E27FC236}">
                <a16:creationId xmlns:a16="http://schemas.microsoft.com/office/drawing/2014/main" id="{6F22CC00-80EA-F898-F0CE-B63ABC83C54F}"/>
              </a:ext>
            </a:extLst>
          </p:cNvPr>
          <p:cNvSpPr/>
          <p:nvPr/>
        </p:nvSpPr>
        <p:spPr>
          <a:xfrm>
            <a:off x="4225925" y="2349500"/>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14</a:t>
            </a:r>
          </a:p>
        </p:txBody>
      </p:sp>
      <p:sp>
        <p:nvSpPr>
          <p:cNvPr id="32" name="Oval 31">
            <a:extLst>
              <a:ext uri="{FF2B5EF4-FFF2-40B4-BE49-F238E27FC236}">
                <a16:creationId xmlns:a16="http://schemas.microsoft.com/office/drawing/2014/main" id="{41872B87-B8E8-8150-4845-D2083A0CF783}"/>
              </a:ext>
            </a:extLst>
          </p:cNvPr>
          <p:cNvSpPr/>
          <p:nvPr/>
        </p:nvSpPr>
        <p:spPr>
          <a:xfrm>
            <a:off x="5949950" y="2320925"/>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38</a:t>
            </a:r>
          </a:p>
        </p:txBody>
      </p:sp>
      <p:sp>
        <p:nvSpPr>
          <p:cNvPr id="33" name="Oval 32">
            <a:extLst>
              <a:ext uri="{FF2B5EF4-FFF2-40B4-BE49-F238E27FC236}">
                <a16:creationId xmlns:a16="http://schemas.microsoft.com/office/drawing/2014/main" id="{0D1289EF-7BD2-120F-2C2E-A0F19B1670C4}"/>
              </a:ext>
            </a:extLst>
          </p:cNvPr>
          <p:cNvSpPr/>
          <p:nvPr/>
        </p:nvSpPr>
        <p:spPr>
          <a:xfrm>
            <a:off x="5087938" y="2320925"/>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35</a:t>
            </a:r>
          </a:p>
        </p:txBody>
      </p:sp>
      <p:sp>
        <p:nvSpPr>
          <p:cNvPr id="37" name="Oval 36">
            <a:extLst>
              <a:ext uri="{FF2B5EF4-FFF2-40B4-BE49-F238E27FC236}">
                <a16:creationId xmlns:a16="http://schemas.microsoft.com/office/drawing/2014/main" id="{EA6792EB-28F5-357E-7279-E633844DBE22}"/>
              </a:ext>
            </a:extLst>
          </p:cNvPr>
          <p:cNvSpPr/>
          <p:nvPr/>
        </p:nvSpPr>
        <p:spPr>
          <a:xfrm>
            <a:off x="6821488" y="2322513"/>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13</a:t>
            </a:r>
          </a:p>
        </p:txBody>
      </p:sp>
      <p:sp>
        <p:nvSpPr>
          <p:cNvPr id="38" name="Oval 37">
            <a:extLst>
              <a:ext uri="{FF2B5EF4-FFF2-40B4-BE49-F238E27FC236}">
                <a16:creationId xmlns:a16="http://schemas.microsoft.com/office/drawing/2014/main" id="{D64C2860-ED75-A7AE-23C6-78EAA0D465F4}"/>
              </a:ext>
            </a:extLst>
          </p:cNvPr>
          <p:cNvSpPr/>
          <p:nvPr/>
        </p:nvSpPr>
        <p:spPr>
          <a:xfrm>
            <a:off x="7796213" y="2335213"/>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23</a:t>
            </a:r>
          </a:p>
        </p:txBody>
      </p:sp>
      <p:sp>
        <p:nvSpPr>
          <p:cNvPr id="39" name="Oval 38">
            <a:extLst>
              <a:ext uri="{FF2B5EF4-FFF2-40B4-BE49-F238E27FC236}">
                <a16:creationId xmlns:a16="http://schemas.microsoft.com/office/drawing/2014/main" id="{E7B36440-BDDE-4792-5184-D6B110A8B4C1}"/>
              </a:ext>
            </a:extLst>
          </p:cNvPr>
          <p:cNvSpPr/>
          <p:nvPr/>
        </p:nvSpPr>
        <p:spPr>
          <a:xfrm>
            <a:off x="8961438" y="2335213"/>
            <a:ext cx="7620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32</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uild="p"/>
      <p:bldP spid="20" grpId="0" animBg="1"/>
      <p:bldP spid="21" grpId="0" animBg="1"/>
      <p:bldP spid="23" grpId="0" animBg="1"/>
      <p:bldP spid="24" grpId="0" animBg="1"/>
      <p:bldP spid="25" grpId="0" animBg="1"/>
      <p:bldP spid="13" grpId="0" animBg="1"/>
      <p:bldP spid="34" grpId="0" animBg="1"/>
      <p:bldP spid="35" grpId="0" animBg="1"/>
      <p:bldP spid="3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b">
            <a:normAutofit/>
          </a:bodyPr>
          <a:lstStyle/>
          <a:p>
            <a:pPr eaLnBrk="1" fontAlgn="auto" hangingPunct="1">
              <a:spcAft>
                <a:spcPts val="0"/>
              </a:spcAft>
            </a:pPr>
            <a:r>
              <a:rPr lang="en-US" b="1" dirty="0">
                <a:solidFill>
                  <a:schemeClr val="tx1">
                    <a:lumMod val="75000"/>
                    <a:lumOff val="25000"/>
                  </a:schemeClr>
                </a:solidFill>
              </a:rPr>
              <a:t>Analysis of Algorithms</a:t>
            </a:r>
          </a:p>
        </p:txBody>
      </p:sp>
      <p:sp>
        <p:nvSpPr>
          <p:cNvPr id="3" name="Content Placeholder 2"/>
          <p:cNvSpPr>
            <a:spLocks noGrp="1"/>
          </p:cNvSpPr>
          <p:nvPr>
            <p:ph idx="1"/>
          </p:nvPr>
        </p:nvSpPr>
        <p:spPr>
          <a:xfrm>
            <a:off x="571500" y="990600"/>
            <a:ext cx="10629900" cy="4306389"/>
          </a:xfrm>
        </p:spPr>
        <p:txBody>
          <a:bodyPr>
            <a:normAutofit lnSpcReduction="10000"/>
          </a:bodyPr>
          <a:lstStyle/>
          <a:p>
            <a:r>
              <a:rPr lang="en-US" dirty="0"/>
              <a:t>Determining the amount of resources (such as time and memory) needed to execute it. </a:t>
            </a:r>
          </a:p>
          <a:p>
            <a:r>
              <a:rPr lang="en-US" dirty="0"/>
              <a:t>The efficiency or complexity of an algorithm is stated in terms of time and space complexity.</a:t>
            </a:r>
          </a:p>
          <a:p>
            <a:r>
              <a:rPr lang="en-US" dirty="0"/>
              <a:t>It depends on the following factors</a:t>
            </a:r>
          </a:p>
          <a:p>
            <a:pPr lvl="1"/>
            <a:r>
              <a:rPr lang="en-US" dirty="0"/>
              <a:t>The programming language used,</a:t>
            </a:r>
          </a:p>
          <a:p>
            <a:pPr lvl="1"/>
            <a:r>
              <a:rPr lang="en-US" dirty="0"/>
              <a:t>The quality of the compiler or interpreter,</a:t>
            </a:r>
          </a:p>
          <a:p>
            <a:pPr lvl="1"/>
            <a:r>
              <a:rPr lang="en-US" dirty="0"/>
              <a:t>The CPU speed,</a:t>
            </a:r>
          </a:p>
          <a:p>
            <a:pPr lvl="1"/>
            <a:r>
              <a:rPr lang="en-US" dirty="0"/>
              <a:t>The size of the main memory and the access time to it,</a:t>
            </a:r>
          </a:p>
          <a:p>
            <a:pPr lvl="1"/>
            <a:r>
              <a:rPr lang="en-US" dirty="0"/>
              <a:t>The knowledge of the programmer, and</a:t>
            </a:r>
          </a:p>
          <a:p>
            <a:pPr lvl="1"/>
            <a:r>
              <a:rPr lang="en-US" dirty="0"/>
              <a:t>The algorithm itself, which may require simple but also time-consuming machine instructions</a:t>
            </a:r>
          </a:p>
          <a:p>
            <a:endParaRPr lang="en-US" dirty="0"/>
          </a:p>
        </p:txBody>
      </p:sp>
    </p:spTree>
    <p:extLst>
      <p:ext uri="{BB962C8B-B14F-4D97-AF65-F5344CB8AC3E}">
        <p14:creationId xmlns:p14="http://schemas.microsoft.com/office/powerpoint/2010/main" val="29935500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Time complexity</a:t>
            </a:r>
          </a:p>
        </p:txBody>
      </p:sp>
      <p:sp>
        <p:nvSpPr>
          <p:cNvPr id="3" name="Content Placeholder 2"/>
          <p:cNvSpPr>
            <a:spLocks noGrp="1"/>
          </p:cNvSpPr>
          <p:nvPr>
            <p:ph idx="1"/>
          </p:nvPr>
        </p:nvSpPr>
        <p:spPr>
          <a:xfrm>
            <a:off x="304800" y="838200"/>
            <a:ext cx="11506200" cy="5428686"/>
          </a:xfrm>
        </p:spPr>
        <p:txBody>
          <a:bodyPr/>
          <a:lstStyle/>
          <a:p>
            <a:pPr marL="0" lvl="0" indent="0">
              <a:buNone/>
            </a:pPr>
            <a:r>
              <a:rPr lang="en-US" dirty="0"/>
              <a:t>The </a:t>
            </a:r>
            <a:r>
              <a:rPr lang="en-US" b="1" i="1" dirty="0"/>
              <a:t>time complexity </a:t>
            </a:r>
            <a:r>
              <a:rPr lang="en-US" dirty="0"/>
              <a:t>of an algorithm is basically the running time of a program as a function of the input size. </a:t>
            </a:r>
          </a:p>
          <a:p>
            <a:pPr marL="0" lvl="0" indent="0">
              <a:buNone/>
            </a:pPr>
            <a:r>
              <a:rPr lang="en-US" dirty="0"/>
              <a:t>The </a:t>
            </a:r>
            <a:r>
              <a:rPr lang="en-US" b="1" i="1" dirty="0"/>
              <a:t>time complexity </a:t>
            </a:r>
            <a:r>
              <a:rPr lang="en-US" dirty="0"/>
              <a:t>of an algorithm is the number of machine instructions that a program executes. </a:t>
            </a:r>
          </a:p>
          <a:p>
            <a:pPr marL="0" lvl="0" indent="0">
              <a:buNone/>
            </a:pPr>
            <a:r>
              <a:rPr lang="en-US" dirty="0"/>
              <a:t>Types</a:t>
            </a:r>
          </a:p>
          <a:p>
            <a:r>
              <a:rPr lang="en-US" b="1" dirty="0"/>
              <a:t>Worst-case</a:t>
            </a:r>
          </a:p>
          <a:p>
            <a:r>
              <a:rPr lang="en-US" b="1" dirty="0"/>
              <a:t>Average-case</a:t>
            </a:r>
          </a:p>
          <a:p>
            <a:r>
              <a:rPr lang="en-US" b="1" dirty="0"/>
              <a:t>Best-case</a:t>
            </a:r>
          </a:p>
          <a:p>
            <a:r>
              <a:rPr lang="en-US" b="1" dirty="0"/>
              <a:t>Amortized Time Complexity</a:t>
            </a:r>
          </a:p>
          <a:p>
            <a:endParaRPr lang="en-US" dirty="0"/>
          </a:p>
        </p:txBody>
      </p:sp>
    </p:spTree>
    <p:extLst>
      <p:ext uri="{BB962C8B-B14F-4D97-AF65-F5344CB8AC3E}">
        <p14:creationId xmlns:p14="http://schemas.microsoft.com/office/powerpoint/2010/main" val="20600977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16C9A-CBF0-FC6D-59F3-B171481077C5}"/>
              </a:ext>
            </a:extLst>
          </p:cNvPr>
          <p:cNvSpPr>
            <a:spLocks noGrp="1"/>
          </p:cNvSpPr>
          <p:nvPr>
            <p:ph type="title"/>
          </p:nvPr>
        </p:nvSpPr>
        <p:spPr/>
        <p:txBody>
          <a:bodyPr/>
          <a:lstStyle/>
          <a:p>
            <a:r>
              <a:rPr lang="en-IN" dirty="0"/>
              <a:t>Algorithmic Analysis Scenarios</a:t>
            </a:r>
          </a:p>
        </p:txBody>
      </p:sp>
      <p:sp>
        <p:nvSpPr>
          <p:cNvPr id="3" name="Content Placeholder 2">
            <a:extLst>
              <a:ext uri="{FF2B5EF4-FFF2-40B4-BE49-F238E27FC236}">
                <a16:creationId xmlns:a16="http://schemas.microsoft.com/office/drawing/2014/main" id="{B364BFB1-09CA-3F59-51EC-7CD3E0B20266}"/>
              </a:ext>
            </a:extLst>
          </p:cNvPr>
          <p:cNvSpPr>
            <a:spLocks noGrp="1"/>
          </p:cNvSpPr>
          <p:nvPr>
            <p:ph idx="1"/>
          </p:nvPr>
        </p:nvSpPr>
        <p:spPr>
          <a:xfrm>
            <a:off x="152400" y="862577"/>
            <a:ext cx="11963400" cy="5428686"/>
          </a:xfrm>
        </p:spPr>
        <p:txBody>
          <a:bodyPr/>
          <a:lstStyle/>
          <a:p>
            <a:r>
              <a:rPr lang="en-IN" dirty="0"/>
              <a:t>An algorithm’s resource usage can change based on the arrangement of the data, divided into three core cases: </a:t>
            </a:r>
          </a:p>
          <a:p>
            <a:r>
              <a:rPr lang="en-IN" b="1" dirty="0"/>
              <a:t>Worst Case</a:t>
            </a:r>
            <a:r>
              <a:rPr lang="en-IN" dirty="0"/>
              <a:t>: The absolute maximum operations or memory an algorithm can require (represented by Big-O notation </a:t>
            </a:r>
          </a:p>
          <a:p>
            <a:r>
              <a:rPr lang="en-IN" b="1" dirty="0"/>
              <a:t>Best Case</a:t>
            </a:r>
            <a:r>
              <a:rPr lang="en-IN" dirty="0"/>
              <a:t>: The absolute minimum operations an algorithm needs under ideal conditions (represented by Omega notation Ω).</a:t>
            </a:r>
          </a:p>
          <a:p>
            <a:r>
              <a:rPr lang="en-IN" b="1" dirty="0"/>
              <a:t>Average Case</a:t>
            </a:r>
            <a:r>
              <a:rPr lang="en-IN" dirty="0"/>
              <a:t>: The expected execution performance evaluated over all possible random variations of input distributions</a:t>
            </a:r>
          </a:p>
          <a:p>
            <a:r>
              <a:rPr lang="en-IN" dirty="0"/>
              <a:t>And</a:t>
            </a:r>
          </a:p>
          <a:p>
            <a:r>
              <a:rPr lang="en-IN" b="1" dirty="0"/>
              <a:t>Amortized time complexity </a:t>
            </a:r>
            <a:r>
              <a:rPr lang="en-IN" dirty="0"/>
              <a:t>is the method of determining the average time taken per operation over a sequence of operations.</a:t>
            </a:r>
          </a:p>
        </p:txBody>
      </p:sp>
    </p:spTree>
    <p:extLst>
      <p:ext uri="{BB962C8B-B14F-4D97-AF65-F5344CB8AC3E}">
        <p14:creationId xmlns:p14="http://schemas.microsoft.com/office/powerpoint/2010/main" val="25083583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Expressing Time and Space complexity</a:t>
            </a:r>
          </a:p>
        </p:txBody>
      </p:sp>
      <p:sp>
        <p:nvSpPr>
          <p:cNvPr id="3" name="Content Placeholder 2"/>
          <p:cNvSpPr>
            <a:spLocks noGrp="1"/>
          </p:cNvSpPr>
          <p:nvPr>
            <p:ph idx="1"/>
          </p:nvPr>
        </p:nvSpPr>
        <p:spPr>
          <a:xfrm>
            <a:off x="838200" y="914400"/>
            <a:ext cx="8915400" cy="4241074"/>
          </a:xfrm>
        </p:spPr>
        <p:txBody>
          <a:bodyPr>
            <a:normAutofit fontScale="77500" lnSpcReduction="20000"/>
          </a:bodyPr>
          <a:lstStyle/>
          <a:p>
            <a:r>
              <a:rPr lang="en-US" b="1" dirty="0"/>
              <a:t>Linear loops</a:t>
            </a:r>
          </a:p>
          <a:p>
            <a:pPr marL="0" indent="0">
              <a:buNone/>
            </a:pPr>
            <a:r>
              <a:rPr lang="en-US" dirty="0"/>
              <a:t>for(</a:t>
            </a:r>
            <a:r>
              <a:rPr lang="en-US" dirty="0" err="1"/>
              <a:t>i</a:t>
            </a:r>
            <a:r>
              <a:rPr lang="en-US" dirty="0"/>
              <a:t>=0;i&lt;100;i++) 						 f(n) = n</a:t>
            </a:r>
          </a:p>
          <a:p>
            <a:pPr marL="0" indent="0">
              <a:buNone/>
            </a:pPr>
            <a:r>
              <a:rPr lang="en-US" dirty="0"/>
              <a:t>	statement block;</a:t>
            </a:r>
          </a:p>
          <a:p>
            <a:pPr marL="0" indent="0">
              <a:buNone/>
            </a:pPr>
            <a:r>
              <a:rPr lang="en-US" dirty="0"/>
              <a:t>for(</a:t>
            </a:r>
            <a:r>
              <a:rPr lang="en-US" dirty="0" err="1"/>
              <a:t>i</a:t>
            </a:r>
            <a:r>
              <a:rPr lang="en-US" dirty="0"/>
              <a:t>=0;i&lt;100;i+=2) 						 f(n) = n/2</a:t>
            </a:r>
          </a:p>
          <a:p>
            <a:pPr marL="0" indent="0">
              <a:buNone/>
            </a:pPr>
            <a:r>
              <a:rPr lang="en-US" dirty="0"/>
              <a:t>	statement block;</a:t>
            </a:r>
          </a:p>
          <a:p>
            <a:pPr marL="0" indent="0">
              <a:buNone/>
            </a:pPr>
            <a:endParaRPr lang="en-US" dirty="0"/>
          </a:p>
          <a:p>
            <a:r>
              <a:rPr lang="en-US" b="1" dirty="0"/>
              <a:t>Logarithmic loops</a:t>
            </a:r>
          </a:p>
          <a:p>
            <a:pPr marL="0" indent="0">
              <a:buNone/>
            </a:pPr>
            <a:r>
              <a:rPr lang="en-US" dirty="0"/>
              <a:t>for(</a:t>
            </a:r>
            <a:r>
              <a:rPr lang="en-US" dirty="0" err="1"/>
              <a:t>i</a:t>
            </a:r>
            <a:r>
              <a:rPr lang="en-US" dirty="0"/>
              <a:t>=1;i&lt;1000;i*=2)	</a:t>
            </a:r>
          </a:p>
          <a:p>
            <a:pPr marL="0" indent="0">
              <a:buNone/>
            </a:pPr>
            <a:r>
              <a:rPr lang="en-US" dirty="0"/>
              <a:t>	Statement block;					 f(n) = log n</a:t>
            </a:r>
          </a:p>
          <a:p>
            <a:pPr marL="0" indent="0">
              <a:buNone/>
            </a:pPr>
            <a:r>
              <a:rPr lang="en-US" dirty="0"/>
              <a:t>for(</a:t>
            </a:r>
            <a:r>
              <a:rPr lang="en-US" dirty="0" err="1"/>
              <a:t>i</a:t>
            </a:r>
            <a:r>
              <a:rPr lang="en-US" dirty="0"/>
              <a:t>=1000;i&gt;=1;i/=2)</a:t>
            </a:r>
          </a:p>
          <a:p>
            <a:pPr marL="0" indent="0">
              <a:buNone/>
            </a:pPr>
            <a:r>
              <a:rPr lang="en-US" dirty="0"/>
              <a:t>	statement block;</a:t>
            </a:r>
          </a:p>
          <a:p>
            <a:pPr marL="0" indent="0">
              <a:buNone/>
            </a:pPr>
            <a:endParaRPr lang="en-US" b="1" dirty="0"/>
          </a:p>
          <a:p>
            <a:pPr marL="0" indent="0">
              <a:buNone/>
            </a:pPr>
            <a:endParaRPr lang="en-US" dirty="0"/>
          </a:p>
        </p:txBody>
      </p:sp>
    </p:spTree>
    <p:extLst>
      <p:ext uri="{BB962C8B-B14F-4D97-AF65-F5344CB8AC3E}">
        <p14:creationId xmlns:p14="http://schemas.microsoft.com/office/powerpoint/2010/main" val="653455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Expressing Time and Space complexity</a:t>
            </a:r>
          </a:p>
        </p:txBody>
      </p:sp>
      <p:sp>
        <p:nvSpPr>
          <p:cNvPr id="3" name="Content Placeholder 2"/>
          <p:cNvSpPr>
            <a:spLocks noGrp="1"/>
          </p:cNvSpPr>
          <p:nvPr>
            <p:ph idx="1"/>
          </p:nvPr>
        </p:nvSpPr>
        <p:spPr/>
        <p:txBody>
          <a:bodyPr>
            <a:noAutofit/>
          </a:bodyPr>
          <a:lstStyle/>
          <a:p>
            <a:r>
              <a:rPr lang="en-US" sz="2000" b="1" i="1" dirty="0"/>
              <a:t>Nested Loops</a:t>
            </a:r>
          </a:p>
          <a:p>
            <a:pPr lvl="1"/>
            <a:r>
              <a:rPr lang="en-US" sz="1800" b="1" i="1" dirty="0"/>
              <a:t>Linear logarithmic loop</a:t>
            </a:r>
          </a:p>
          <a:p>
            <a:pPr marL="0" indent="0">
              <a:buNone/>
            </a:pPr>
            <a:r>
              <a:rPr lang="en-US" sz="2000" b="1" dirty="0"/>
              <a:t>		</a:t>
            </a:r>
            <a:r>
              <a:rPr lang="en-US" sz="2000" dirty="0"/>
              <a:t>for (</a:t>
            </a:r>
            <a:r>
              <a:rPr lang="en-US" sz="2000" dirty="0" err="1"/>
              <a:t>i</a:t>
            </a:r>
            <a:r>
              <a:rPr lang="en-US" sz="2000" dirty="0"/>
              <a:t>=0;i&lt;10;i++)						</a:t>
            </a:r>
            <a:r>
              <a:rPr lang="en-US" sz="2000" b="1" dirty="0"/>
              <a:t> f(n) = n log n.</a:t>
            </a:r>
            <a:endParaRPr lang="en-US" sz="2000" dirty="0"/>
          </a:p>
          <a:p>
            <a:pPr marL="0" indent="0">
              <a:buNone/>
            </a:pPr>
            <a:r>
              <a:rPr lang="en-US" sz="2000" dirty="0"/>
              <a:t>			for (j=1; j&lt;10;j*=2)</a:t>
            </a:r>
            <a:endParaRPr lang="en-US" sz="1200" dirty="0"/>
          </a:p>
          <a:p>
            <a:pPr marL="0" indent="0">
              <a:buNone/>
            </a:pPr>
            <a:r>
              <a:rPr lang="en-US" sz="2000" dirty="0"/>
              <a:t>				Statement block;</a:t>
            </a:r>
          </a:p>
          <a:p>
            <a:pPr lvl="1"/>
            <a:r>
              <a:rPr lang="en-US" sz="1800" b="1" i="1" dirty="0"/>
              <a:t>Quadratic loop</a:t>
            </a:r>
          </a:p>
          <a:p>
            <a:pPr marL="0" indent="0">
              <a:buNone/>
            </a:pPr>
            <a:r>
              <a:rPr lang="en-US" sz="2000" b="1" dirty="0"/>
              <a:t>		</a:t>
            </a:r>
            <a:r>
              <a:rPr lang="en-US" sz="2000" dirty="0"/>
              <a:t>for (</a:t>
            </a:r>
            <a:r>
              <a:rPr lang="en-US" sz="2000" dirty="0" err="1"/>
              <a:t>i</a:t>
            </a:r>
            <a:r>
              <a:rPr lang="en-US" sz="2000" dirty="0"/>
              <a:t>=0;i&lt;10;i++)						</a:t>
            </a:r>
            <a:r>
              <a:rPr lang="en-US" sz="2000" b="1" dirty="0"/>
              <a:t> f(n) = n</a:t>
            </a:r>
            <a:r>
              <a:rPr lang="en-US" sz="2000" b="1" baseline="30000" dirty="0"/>
              <a:t>2</a:t>
            </a:r>
            <a:r>
              <a:rPr lang="en-US" sz="2000" b="1" dirty="0"/>
              <a:t>.</a:t>
            </a:r>
            <a:endParaRPr lang="en-US" sz="2000" dirty="0"/>
          </a:p>
          <a:p>
            <a:pPr marL="0" indent="0">
              <a:buNone/>
            </a:pPr>
            <a:r>
              <a:rPr lang="en-US" sz="2000" dirty="0"/>
              <a:t>			for (j=0; j&lt;10;j++)</a:t>
            </a:r>
            <a:endParaRPr lang="en-US" sz="1200" dirty="0"/>
          </a:p>
          <a:p>
            <a:pPr marL="0" indent="0">
              <a:buNone/>
            </a:pPr>
            <a:r>
              <a:rPr lang="en-US" sz="2000" dirty="0"/>
              <a:t>				Statement block;</a:t>
            </a:r>
            <a:endParaRPr lang="en-US" sz="1200" dirty="0"/>
          </a:p>
          <a:p>
            <a:pPr marL="457200" lvl="1" indent="0">
              <a:buNone/>
            </a:pPr>
            <a:endParaRPr lang="en-US" sz="1800" b="1" i="1" dirty="0"/>
          </a:p>
        </p:txBody>
      </p:sp>
    </p:spTree>
    <p:extLst>
      <p:ext uri="{BB962C8B-B14F-4D97-AF65-F5344CB8AC3E}">
        <p14:creationId xmlns:p14="http://schemas.microsoft.com/office/powerpoint/2010/main" val="15627046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t">
            <a:normAutofit fontScale="90000"/>
          </a:bodyPr>
          <a:lstStyle/>
          <a:p>
            <a:r>
              <a:rPr lang="en-US" dirty="0"/>
              <a:t>Asymptotic Notations</a:t>
            </a:r>
            <a:br>
              <a:rPr lang="en-US" dirty="0"/>
            </a:br>
            <a:endParaRPr lang="en-US" dirty="0"/>
          </a:p>
        </p:txBody>
      </p:sp>
      <p:sp>
        <p:nvSpPr>
          <p:cNvPr id="3" name="Content Placeholder 2"/>
          <p:cNvSpPr>
            <a:spLocks noGrp="1"/>
          </p:cNvSpPr>
          <p:nvPr>
            <p:ph idx="1"/>
          </p:nvPr>
        </p:nvSpPr>
        <p:spPr>
          <a:xfrm>
            <a:off x="228600" y="838200"/>
            <a:ext cx="12086734" cy="5428686"/>
          </a:xfrm>
        </p:spPr>
        <p:txBody>
          <a:bodyPr/>
          <a:lstStyle/>
          <a:p>
            <a:r>
              <a:rPr lang="en-US" dirty="0"/>
              <a:t>Big O notation</a:t>
            </a:r>
          </a:p>
          <a:p>
            <a:r>
              <a:rPr lang="en-US" dirty="0"/>
              <a:t>Omega Notation</a:t>
            </a:r>
          </a:p>
          <a:p>
            <a:r>
              <a:rPr lang="en-US" dirty="0"/>
              <a:t>Theta Notation </a:t>
            </a:r>
          </a:p>
          <a:p>
            <a:endParaRPr lang="en-US" dirty="0"/>
          </a:p>
        </p:txBody>
      </p:sp>
    </p:spTree>
    <p:extLst>
      <p:ext uri="{BB962C8B-B14F-4D97-AF65-F5344CB8AC3E}">
        <p14:creationId xmlns:p14="http://schemas.microsoft.com/office/powerpoint/2010/main" val="3585058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0"/>
            <a:ext cx="9982200" cy="685800"/>
          </a:xfrm>
        </p:spPr>
        <p:txBody>
          <a:bodyPr vert="horz" lIns="91440" tIns="45720" rIns="91440" bIns="45720" rtlCol="0" anchor="t">
            <a:normAutofit fontScale="90000"/>
          </a:bodyPr>
          <a:lstStyle/>
          <a:p>
            <a:r>
              <a:rPr lang="en-US" dirty="0"/>
              <a:t>Big - Oh</a:t>
            </a:r>
            <a:br>
              <a:rPr lang="en-US" dirty="0"/>
            </a:br>
            <a:endParaRPr lang="en-US" dirty="0"/>
          </a:p>
        </p:txBody>
      </p:sp>
      <p:sp>
        <p:nvSpPr>
          <p:cNvPr id="5" name="TextBox 4">
            <a:extLst>
              <a:ext uri="{FF2B5EF4-FFF2-40B4-BE49-F238E27FC236}">
                <a16:creationId xmlns:a16="http://schemas.microsoft.com/office/drawing/2014/main" id="{9394D6A8-450E-8AD7-AA84-A75AA273ACD4}"/>
              </a:ext>
            </a:extLst>
          </p:cNvPr>
          <p:cNvSpPr txBox="1"/>
          <p:nvPr/>
        </p:nvSpPr>
        <p:spPr>
          <a:xfrm>
            <a:off x="381000" y="761504"/>
            <a:ext cx="11658600" cy="1200329"/>
          </a:xfrm>
          <a:prstGeom prst="rect">
            <a:avLst/>
          </a:prstGeom>
          <a:noFill/>
        </p:spPr>
        <p:txBody>
          <a:bodyPr wrap="square">
            <a:spAutoFit/>
          </a:bodyPr>
          <a:lstStyle/>
          <a:p>
            <a:r>
              <a:rPr lang="en-IN" dirty="0"/>
              <a:t>Big O notation is a mathematical way to describe how the execution time or memory usage of an algorithm scales as the input size grows. It focuses on the worst-case scenario and ignores constant factors and minor details, measuring only the overall growth trend (as n → ∞)</a:t>
            </a:r>
          </a:p>
        </p:txBody>
      </p:sp>
      <p:pic>
        <p:nvPicPr>
          <p:cNvPr id="7" name="Picture 6">
            <a:extLst>
              <a:ext uri="{FF2B5EF4-FFF2-40B4-BE49-F238E27FC236}">
                <a16:creationId xmlns:a16="http://schemas.microsoft.com/office/drawing/2014/main" id="{BBB4B25A-54C2-2C5D-FE67-AE855FC1A12D}"/>
              </a:ext>
            </a:extLst>
          </p:cNvPr>
          <p:cNvPicPr>
            <a:picLocks noChangeAspect="1"/>
          </p:cNvPicPr>
          <p:nvPr/>
        </p:nvPicPr>
        <p:blipFill>
          <a:blip r:embed="rId2"/>
          <a:stretch>
            <a:fillRect/>
          </a:stretch>
        </p:blipFill>
        <p:spPr>
          <a:xfrm>
            <a:off x="6634161" y="2343330"/>
            <a:ext cx="5175139" cy="2590800"/>
          </a:xfrm>
          <a:prstGeom prst="rect">
            <a:avLst/>
          </a:prstGeom>
        </p:spPr>
      </p:pic>
      <p:sp>
        <p:nvSpPr>
          <p:cNvPr id="9" name="TextBox 8">
            <a:extLst>
              <a:ext uri="{FF2B5EF4-FFF2-40B4-BE49-F238E27FC236}">
                <a16:creationId xmlns:a16="http://schemas.microsoft.com/office/drawing/2014/main" id="{23D01042-76D6-DD82-35DC-9E7547737DAF}"/>
              </a:ext>
            </a:extLst>
          </p:cNvPr>
          <p:cNvSpPr txBox="1"/>
          <p:nvPr/>
        </p:nvSpPr>
        <p:spPr>
          <a:xfrm>
            <a:off x="152400" y="2286000"/>
            <a:ext cx="5943600" cy="3046988"/>
          </a:xfrm>
          <a:prstGeom prst="rect">
            <a:avLst/>
          </a:prstGeom>
          <a:noFill/>
        </p:spPr>
        <p:txBody>
          <a:bodyPr wrap="square">
            <a:spAutoFit/>
          </a:bodyPr>
          <a:lstStyle/>
          <a:p>
            <a:pPr marL="228600" marR="0" indent="0" algn="l" fontAlgn="base">
              <a:spcAft>
                <a:spcPts val="1800"/>
              </a:spcAft>
              <a:buFont typeface="Arial" panose="020B0604020202020204" pitchFamily="34" charset="0"/>
              <a:buChar char="•"/>
            </a:pPr>
            <a:r>
              <a:rPr lang="en-IN" sz="1800" b="0" i="0" spc="12" dirty="0">
                <a:solidFill>
                  <a:srgbClr val="273239"/>
                </a:solidFill>
                <a:effectLst/>
                <a:cs typeface="Times New Roman" panose="02020603050405020304" pitchFamily="18" charset="0"/>
              </a:rPr>
              <a:t>Describes the asymptotic behaviour (order of growth of time or space in terms of input size) of a function, not its exact value.</a:t>
            </a:r>
            <a:endParaRPr lang="en-IN" sz="1800" b="0" i="0" spc="10" dirty="0">
              <a:solidFill>
                <a:srgbClr val="273239"/>
              </a:solidFill>
              <a:effectLst/>
              <a:cs typeface="Times New Roman" panose="02020603050405020304" pitchFamily="18" charset="0"/>
            </a:endParaRPr>
          </a:p>
          <a:p>
            <a:pPr marL="228600" marR="0" indent="0" algn="l" fontAlgn="base">
              <a:spcAft>
                <a:spcPts val="1800"/>
              </a:spcAft>
              <a:buFont typeface="Arial" panose="020B0604020202020204" pitchFamily="34" charset="0"/>
              <a:buChar char="•"/>
            </a:pPr>
            <a:r>
              <a:rPr lang="en-IN" sz="1800" b="0" i="0" spc="12" dirty="0">
                <a:solidFill>
                  <a:srgbClr val="273239"/>
                </a:solidFill>
                <a:effectLst/>
                <a:cs typeface="Times New Roman" panose="02020603050405020304" pitchFamily="18" charset="0"/>
              </a:rPr>
              <a:t>Can be used to compare the efficiency of different algorithms or data structures.</a:t>
            </a:r>
            <a:endParaRPr lang="en-IN" sz="1800" b="0" i="0" spc="10" dirty="0">
              <a:solidFill>
                <a:srgbClr val="273239"/>
              </a:solidFill>
              <a:effectLst/>
              <a:cs typeface="Times New Roman" panose="02020603050405020304" pitchFamily="18" charset="0"/>
            </a:endParaRPr>
          </a:p>
          <a:p>
            <a:pPr marL="228600" marR="0" indent="0" algn="l" fontAlgn="base">
              <a:spcAft>
                <a:spcPts val="1800"/>
              </a:spcAft>
              <a:buFont typeface="Arial" panose="020B0604020202020204" pitchFamily="34" charset="0"/>
              <a:buChar char="•"/>
            </a:pPr>
            <a:r>
              <a:rPr lang="en-IN" sz="1800" b="0" i="0" spc="12" dirty="0">
                <a:solidFill>
                  <a:srgbClr val="273239"/>
                </a:solidFill>
                <a:effectLst/>
                <a:cs typeface="Times New Roman" panose="02020603050405020304" pitchFamily="18" charset="0"/>
              </a:rPr>
              <a:t>It provides an</a:t>
            </a:r>
            <a:r>
              <a:rPr lang="en-IN" sz="1800" b="1" i="0" spc="10" dirty="0">
                <a:solidFill>
                  <a:srgbClr val="273239"/>
                </a:solidFill>
                <a:effectLst/>
                <a:cs typeface="Times New Roman" panose="02020603050405020304" pitchFamily="18" charset="0"/>
              </a:rPr>
              <a:t> upper limit</a:t>
            </a:r>
            <a:r>
              <a:rPr lang="en-IN" sz="1800" b="0" i="0" spc="12" dirty="0">
                <a:solidFill>
                  <a:srgbClr val="273239"/>
                </a:solidFill>
                <a:effectLst/>
                <a:cs typeface="Times New Roman" panose="02020603050405020304" pitchFamily="18" charset="0"/>
              </a:rPr>
              <a:t> on the time taken by an algorithm in terms of the size of the input. We mainly consider the worst case scenario of the algorithm to find its time complexity in terms of Big O</a:t>
            </a:r>
            <a:endParaRPr lang="en-IN" sz="1800" b="0" i="0" spc="10" dirty="0">
              <a:solidFill>
                <a:srgbClr val="273239"/>
              </a:solidFill>
              <a:effectLst/>
              <a:cs typeface="Times New Roman" panose="02020603050405020304" pitchFamily="18" charset="0"/>
            </a:endParaRPr>
          </a:p>
        </p:txBody>
      </p:sp>
    </p:spTree>
    <p:extLst>
      <p:ext uri="{BB962C8B-B14F-4D97-AF65-F5344CB8AC3E}">
        <p14:creationId xmlns:p14="http://schemas.microsoft.com/office/powerpoint/2010/main" val="2228733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Categories of Algorithm</a:t>
            </a:r>
            <a:endParaRPr lang="en-US" dirty="0"/>
          </a:p>
        </p:txBody>
      </p:sp>
      <p:sp>
        <p:nvSpPr>
          <p:cNvPr id="3" name="Content Placeholder 2"/>
          <p:cNvSpPr>
            <a:spLocks noGrp="1"/>
          </p:cNvSpPr>
          <p:nvPr>
            <p:ph idx="1"/>
          </p:nvPr>
        </p:nvSpPr>
        <p:spPr>
          <a:xfrm>
            <a:off x="228600" y="862577"/>
            <a:ext cx="11887200" cy="5428686"/>
          </a:xfrm>
        </p:spPr>
        <p:txBody>
          <a:bodyPr>
            <a:normAutofit/>
          </a:bodyPr>
          <a:lstStyle/>
          <a:p>
            <a:r>
              <a:rPr lang="en-US" sz="2400" dirty="0"/>
              <a:t>According to the Big O notation, we have five different categories of algorithms:</a:t>
            </a:r>
          </a:p>
          <a:p>
            <a:endParaRPr lang="en-US" sz="2400" dirty="0"/>
          </a:p>
          <a:p>
            <a:pPr lvl="1">
              <a:lnSpc>
                <a:spcPct val="150000"/>
              </a:lnSpc>
            </a:pPr>
            <a:r>
              <a:rPr lang="en-US" sz="2000" dirty="0"/>
              <a:t>Constant time algorithm: running time complexity given as	           	O(1)</a:t>
            </a:r>
          </a:p>
          <a:p>
            <a:pPr lvl="1">
              <a:lnSpc>
                <a:spcPct val="150000"/>
              </a:lnSpc>
            </a:pPr>
            <a:r>
              <a:rPr lang="en-US" sz="2000" dirty="0"/>
              <a:t>Linear time algorithm: running time complexity given as		O(n)</a:t>
            </a:r>
          </a:p>
          <a:p>
            <a:pPr lvl="1">
              <a:lnSpc>
                <a:spcPct val="150000"/>
              </a:lnSpc>
            </a:pPr>
            <a:r>
              <a:rPr lang="en-US" sz="2000" dirty="0"/>
              <a:t>Logarithmic time algorithm: running time complexity given as	O(log n)</a:t>
            </a:r>
          </a:p>
          <a:p>
            <a:pPr lvl="1">
              <a:lnSpc>
                <a:spcPct val="150000"/>
              </a:lnSpc>
            </a:pPr>
            <a:r>
              <a:rPr lang="en-US" sz="2000" dirty="0"/>
              <a:t>Polynomial time algorithm: running time complexity given as	O(</a:t>
            </a:r>
            <a:r>
              <a:rPr lang="en-US" sz="2000" dirty="0" err="1"/>
              <a:t>nk</a:t>
            </a:r>
            <a:r>
              <a:rPr lang="en-US" sz="2000" dirty="0"/>
              <a:t>) where k &gt; 1</a:t>
            </a:r>
          </a:p>
          <a:p>
            <a:pPr lvl="1">
              <a:lnSpc>
                <a:spcPct val="150000"/>
              </a:lnSpc>
            </a:pPr>
            <a:r>
              <a:rPr lang="en-US" sz="2000" dirty="0"/>
              <a:t>Exponential time algorithm: running time complexity given as	O(n ^2)</a:t>
            </a:r>
          </a:p>
          <a:p>
            <a:endParaRPr lang="en-US" sz="2400" dirty="0"/>
          </a:p>
        </p:txBody>
      </p:sp>
    </p:spTree>
    <p:extLst>
      <p:ext uri="{BB962C8B-B14F-4D97-AF65-F5344CB8AC3E}">
        <p14:creationId xmlns:p14="http://schemas.microsoft.com/office/powerpoint/2010/main" val="18312614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Omega Notation</a:t>
            </a:r>
          </a:p>
        </p:txBody>
      </p:sp>
      <p:sp>
        <p:nvSpPr>
          <p:cNvPr id="4" name="TextBox 3">
            <a:extLst>
              <a:ext uri="{FF2B5EF4-FFF2-40B4-BE49-F238E27FC236}">
                <a16:creationId xmlns:a16="http://schemas.microsoft.com/office/drawing/2014/main" id="{4A555567-35BD-A5AB-E1AF-C06BDC236760}"/>
              </a:ext>
            </a:extLst>
          </p:cNvPr>
          <p:cNvSpPr txBox="1"/>
          <p:nvPr/>
        </p:nvSpPr>
        <p:spPr>
          <a:xfrm>
            <a:off x="152400" y="649860"/>
            <a:ext cx="11811000" cy="1200329"/>
          </a:xfrm>
          <a:prstGeom prst="rect">
            <a:avLst/>
          </a:prstGeom>
          <a:noFill/>
        </p:spPr>
        <p:txBody>
          <a:bodyPr wrap="square">
            <a:spAutoFit/>
          </a:bodyPr>
          <a:lstStyle/>
          <a:p>
            <a:r>
              <a:rPr lang="en-IN" b="1" u="none" strike="noStrike" dirty="0">
                <a:effectLst/>
                <a:cs typeface="Times New Roman" panose="02020603050405020304" pitchFamily="18" charset="0"/>
              </a:rPr>
              <a:t>Omega notation (Ω)</a:t>
            </a:r>
            <a:r>
              <a:rPr lang="en-IN" dirty="0">
                <a:cs typeface="Times New Roman" panose="02020603050405020304" pitchFamily="18" charset="0"/>
              </a:rPr>
              <a:t> describes the asymptotic lower bound of an algorithm's running time, representing the best-case performance scenario. It guarantees that for a sufficiently large input size n, an algorithm will take </a:t>
            </a:r>
            <a:r>
              <a:rPr lang="en-IN" b="0" i="1" u="none" strike="noStrike" dirty="0">
                <a:effectLst/>
                <a:cs typeface="Times New Roman" panose="02020603050405020304" pitchFamily="18" charset="0"/>
              </a:rPr>
              <a:t>at least</a:t>
            </a:r>
            <a:r>
              <a:rPr lang="en-IN" dirty="0">
                <a:cs typeface="Times New Roman" panose="02020603050405020304" pitchFamily="18" charset="0"/>
              </a:rPr>
              <a:t> an amount of time proportional to g(n)</a:t>
            </a:r>
          </a:p>
        </p:txBody>
      </p:sp>
      <p:pic>
        <p:nvPicPr>
          <p:cNvPr id="7" name="Picture 6">
            <a:extLst>
              <a:ext uri="{FF2B5EF4-FFF2-40B4-BE49-F238E27FC236}">
                <a16:creationId xmlns:a16="http://schemas.microsoft.com/office/drawing/2014/main" id="{5E9151A3-C5BF-6478-2128-2946DBE358B5}"/>
              </a:ext>
            </a:extLst>
          </p:cNvPr>
          <p:cNvPicPr>
            <a:picLocks noChangeAspect="1"/>
          </p:cNvPicPr>
          <p:nvPr/>
        </p:nvPicPr>
        <p:blipFill>
          <a:blip r:embed="rId2"/>
          <a:stretch>
            <a:fillRect/>
          </a:stretch>
        </p:blipFill>
        <p:spPr>
          <a:xfrm>
            <a:off x="7315200" y="2667000"/>
            <a:ext cx="4495800" cy="2247900"/>
          </a:xfrm>
          <a:prstGeom prst="rect">
            <a:avLst/>
          </a:prstGeom>
        </p:spPr>
      </p:pic>
      <p:sp>
        <p:nvSpPr>
          <p:cNvPr id="9" name="TextBox 8">
            <a:extLst>
              <a:ext uri="{FF2B5EF4-FFF2-40B4-BE49-F238E27FC236}">
                <a16:creationId xmlns:a16="http://schemas.microsoft.com/office/drawing/2014/main" id="{6C27A6C5-54B0-D4E5-90CC-B3D1A96F67CC}"/>
              </a:ext>
            </a:extLst>
          </p:cNvPr>
          <p:cNvSpPr txBox="1"/>
          <p:nvPr/>
        </p:nvSpPr>
        <p:spPr>
          <a:xfrm>
            <a:off x="152400" y="2133600"/>
            <a:ext cx="6553200" cy="4231928"/>
          </a:xfrm>
          <a:prstGeom prst="rect">
            <a:avLst/>
          </a:prstGeom>
          <a:noFill/>
        </p:spPr>
        <p:txBody>
          <a:bodyPr wrap="square">
            <a:spAutoFit/>
          </a:bodyPr>
          <a:lstStyle/>
          <a:p>
            <a:pPr marL="228600" marR="0" indent="0" algn="l" fontAlgn="base">
              <a:spcAft>
                <a:spcPts val="1800"/>
              </a:spcAft>
              <a:buFont typeface="Arial" panose="020B0604020202020204" pitchFamily="34" charset="0"/>
              <a:buChar char="•"/>
            </a:pPr>
            <a:r>
              <a:rPr lang="en-IN" sz="1600" b="0" i="0" spc="12" dirty="0">
                <a:solidFill>
                  <a:srgbClr val="273239"/>
                </a:solidFill>
                <a:effectLst/>
                <a:cs typeface="Times New Roman" panose="02020603050405020304" pitchFamily="18" charset="0"/>
              </a:rPr>
              <a:t>It analyses the</a:t>
            </a:r>
            <a:r>
              <a:rPr lang="en-IN" sz="1600" b="1" i="0" spc="10" dirty="0">
                <a:solidFill>
                  <a:srgbClr val="273239"/>
                </a:solidFill>
                <a:effectLst/>
                <a:cs typeface="Times New Roman" panose="02020603050405020304" pitchFamily="18" charset="0"/>
              </a:rPr>
              <a:t> best-case</a:t>
            </a:r>
            <a:r>
              <a:rPr lang="en-IN" sz="1600" b="0" i="0" spc="12" dirty="0">
                <a:solidFill>
                  <a:srgbClr val="273239"/>
                </a:solidFill>
                <a:effectLst/>
                <a:cs typeface="Times New Roman" panose="02020603050405020304" pitchFamily="18" charset="0"/>
              </a:rPr>
              <a:t> situation of the algorithm. It provides an </a:t>
            </a:r>
            <a:r>
              <a:rPr lang="en-IN" sz="1600" b="1" i="0" spc="10" dirty="0">
                <a:solidFill>
                  <a:srgbClr val="273239"/>
                </a:solidFill>
                <a:effectLst/>
                <a:cs typeface="Times New Roman" panose="02020603050405020304" pitchFamily="18" charset="0"/>
              </a:rPr>
              <a:t>equal or</a:t>
            </a:r>
            <a:r>
              <a:rPr lang="en-IN" sz="1600" b="0" i="0" spc="12" dirty="0">
                <a:solidFill>
                  <a:srgbClr val="273239"/>
                </a:solidFill>
                <a:effectLst/>
                <a:cs typeface="Times New Roman" panose="02020603050405020304" pitchFamily="18" charset="0"/>
              </a:rPr>
              <a:t> </a:t>
            </a:r>
            <a:r>
              <a:rPr lang="en-IN" sz="1600" b="1" i="0" spc="10" dirty="0">
                <a:solidFill>
                  <a:srgbClr val="273239"/>
                </a:solidFill>
                <a:effectLst/>
                <a:cs typeface="Times New Roman" panose="02020603050405020304" pitchFamily="18" charset="0"/>
              </a:rPr>
              <a:t>lower limit</a:t>
            </a:r>
            <a:r>
              <a:rPr lang="en-IN" sz="1600" b="0" i="0" spc="12" dirty="0">
                <a:solidFill>
                  <a:srgbClr val="273239"/>
                </a:solidFill>
                <a:effectLst/>
                <a:cs typeface="Times New Roman" panose="02020603050405020304" pitchFamily="18" charset="0"/>
              </a:rPr>
              <a:t> on the time taken by an algorithm in terms of the size of the input.</a:t>
            </a:r>
            <a:endParaRPr lang="en-IN" sz="1600" b="0" i="0" spc="10" dirty="0">
              <a:solidFill>
                <a:srgbClr val="273239"/>
              </a:solidFill>
              <a:effectLst/>
              <a:cs typeface="Times New Roman" panose="02020603050405020304" pitchFamily="18" charset="0"/>
            </a:endParaRPr>
          </a:p>
          <a:p>
            <a:pPr marL="228600" marR="0" indent="0" algn="l" fontAlgn="base">
              <a:spcAft>
                <a:spcPts val="1800"/>
              </a:spcAft>
              <a:buFont typeface="Arial" panose="020B0604020202020204" pitchFamily="34" charset="0"/>
              <a:buChar char="•"/>
            </a:pPr>
            <a:r>
              <a:rPr lang="en-IN" sz="1600" b="1" i="0" spc="10" dirty="0">
                <a:solidFill>
                  <a:srgbClr val="273239"/>
                </a:solidFill>
                <a:effectLst/>
                <a:cs typeface="Times New Roman" panose="02020603050405020304" pitchFamily="18" charset="0"/>
              </a:rPr>
              <a:t>Definition :</a:t>
            </a:r>
            <a:r>
              <a:rPr lang="en-IN" sz="1600" b="0" i="0" spc="12" dirty="0">
                <a:solidFill>
                  <a:srgbClr val="273239"/>
                </a:solidFill>
                <a:effectLst/>
                <a:cs typeface="Times New Roman" panose="02020603050405020304" pitchFamily="18" charset="0"/>
              </a:rPr>
              <a:t> Given two functions </a:t>
            </a:r>
            <a:r>
              <a:rPr lang="en-IN" sz="1600" b="1" i="0" spc="10" dirty="0">
                <a:solidFill>
                  <a:srgbClr val="273239"/>
                </a:solidFill>
                <a:effectLst/>
                <a:cs typeface="Times New Roman" panose="02020603050405020304" pitchFamily="18" charset="0"/>
              </a:rPr>
              <a:t>g(n)</a:t>
            </a:r>
            <a:r>
              <a:rPr lang="en-IN" sz="1600" b="0" i="0" spc="12" dirty="0">
                <a:solidFill>
                  <a:srgbClr val="273239"/>
                </a:solidFill>
                <a:effectLst/>
                <a:cs typeface="Times New Roman" panose="02020603050405020304" pitchFamily="18" charset="0"/>
              </a:rPr>
              <a:t> and </a:t>
            </a:r>
            <a:r>
              <a:rPr lang="en-IN" sz="1600" b="1" i="0" spc="10" dirty="0">
                <a:solidFill>
                  <a:srgbClr val="273239"/>
                </a:solidFill>
                <a:effectLst/>
                <a:cs typeface="Times New Roman" panose="02020603050405020304" pitchFamily="18" charset="0"/>
              </a:rPr>
              <a:t>f(n)</a:t>
            </a:r>
            <a:r>
              <a:rPr lang="en-IN" sz="1600" b="0" i="0" spc="12" dirty="0">
                <a:solidFill>
                  <a:srgbClr val="273239"/>
                </a:solidFill>
                <a:effectLst/>
                <a:cs typeface="Times New Roman" panose="02020603050405020304" pitchFamily="18" charset="0"/>
              </a:rPr>
              <a:t>, we say that</a:t>
            </a:r>
            <a:r>
              <a:rPr lang="en-IN" sz="1600" b="1" i="0" spc="10" dirty="0">
                <a:solidFill>
                  <a:srgbClr val="273239"/>
                </a:solidFill>
                <a:effectLst/>
                <a:cs typeface="Times New Roman" panose="02020603050405020304" pitchFamily="18" charset="0"/>
              </a:rPr>
              <a:t> f(n) =</a:t>
            </a:r>
            <a:r>
              <a:rPr lang="en-IN" sz="1600" b="0" i="0" spc="12" dirty="0">
                <a:solidFill>
                  <a:srgbClr val="273239"/>
                </a:solidFill>
                <a:effectLst/>
                <a:cs typeface="Times New Roman" panose="02020603050405020304" pitchFamily="18" charset="0"/>
              </a:rPr>
              <a:t> </a:t>
            </a:r>
            <a:r>
              <a:rPr lang="en-IN" sz="1600" b="1" i="0" spc="10" dirty="0">
                <a:solidFill>
                  <a:srgbClr val="273239"/>
                </a:solidFill>
                <a:effectLst/>
                <a:cs typeface="Times New Roman" panose="02020603050405020304" pitchFamily="18" charset="0"/>
              </a:rPr>
              <a:t>Ω(g(n))</a:t>
            </a:r>
            <a:r>
              <a:rPr lang="en-IN" sz="1600" b="0" i="0" spc="12" dirty="0">
                <a:solidFill>
                  <a:srgbClr val="273239"/>
                </a:solidFill>
                <a:effectLst/>
                <a:cs typeface="Times New Roman" panose="02020603050405020304" pitchFamily="18" charset="0"/>
              </a:rPr>
              <a:t>, if there exists constants </a:t>
            </a:r>
            <a:r>
              <a:rPr lang="en-IN" sz="1600" b="1" i="0" spc="10" dirty="0">
                <a:solidFill>
                  <a:srgbClr val="273239"/>
                </a:solidFill>
                <a:effectLst/>
                <a:cs typeface="Times New Roman" panose="02020603050405020304" pitchFamily="18" charset="0"/>
              </a:rPr>
              <a:t>c &gt; 0</a:t>
            </a:r>
            <a:r>
              <a:rPr lang="en-IN" sz="1600" b="0" i="0" spc="12" dirty="0">
                <a:solidFill>
                  <a:srgbClr val="273239"/>
                </a:solidFill>
                <a:effectLst/>
                <a:cs typeface="Times New Roman" panose="02020603050405020304" pitchFamily="18" charset="0"/>
              </a:rPr>
              <a:t> and </a:t>
            </a:r>
            <a:r>
              <a:rPr lang="en-IN" sz="1600" b="1" i="0" spc="10" dirty="0">
                <a:solidFill>
                  <a:srgbClr val="273239"/>
                </a:solidFill>
                <a:effectLst/>
                <a:cs typeface="Times New Roman" panose="02020603050405020304" pitchFamily="18" charset="0"/>
              </a:rPr>
              <a:t>n</a:t>
            </a:r>
            <a:r>
              <a:rPr lang="en-IN" sz="1600" b="1" i="0" spc="10" baseline="-25000" dirty="0">
                <a:solidFill>
                  <a:srgbClr val="273239"/>
                </a:solidFill>
                <a:effectLst/>
                <a:cs typeface="Times New Roman" panose="02020603050405020304" pitchFamily="18" charset="0"/>
              </a:rPr>
              <a:t>0</a:t>
            </a:r>
            <a:r>
              <a:rPr lang="en-IN" sz="1600" b="1" i="0" spc="10" dirty="0">
                <a:solidFill>
                  <a:srgbClr val="273239"/>
                </a:solidFill>
                <a:effectLst/>
                <a:cs typeface="Times New Roman" panose="02020603050405020304" pitchFamily="18" charset="0"/>
              </a:rPr>
              <a:t> &gt;= </a:t>
            </a:r>
            <a:r>
              <a:rPr lang="en-IN" sz="1600" b="0" i="0" spc="12" dirty="0">
                <a:solidFill>
                  <a:srgbClr val="273239"/>
                </a:solidFill>
                <a:effectLst/>
                <a:cs typeface="Times New Roman" panose="02020603050405020304" pitchFamily="18" charset="0"/>
              </a:rPr>
              <a:t>0 such that</a:t>
            </a:r>
            <a:r>
              <a:rPr lang="en-IN" sz="1600" b="1" i="0" spc="10" dirty="0">
                <a:solidFill>
                  <a:srgbClr val="273239"/>
                </a:solidFill>
                <a:effectLst/>
                <a:cs typeface="Times New Roman" panose="02020603050405020304" pitchFamily="18" charset="0"/>
              </a:rPr>
              <a:t> f(n) &gt;= c*g(n)</a:t>
            </a:r>
            <a:r>
              <a:rPr lang="en-IN" sz="1600" b="0" i="0" spc="12" dirty="0">
                <a:solidFill>
                  <a:srgbClr val="273239"/>
                </a:solidFill>
                <a:effectLst/>
                <a:cs typeface="Times New Roman" panose="02020603050405020304" pitchFamily="18" charset="0"/>
              </a:rPr>
              <a:t> for all </a:t>
            </a:r>
            <a:r>
              <a:rPr lang="en-IN" sz="1600" b="1" i="0" spc="10" dirty="0">
                <a:solidFill>
                  <a:srgbClr val="273239"/>
                </a:solidFill>
                <a:effectLst/>
                <a:cs typeface="Times New Roman" panose="02020603050405020304" pitchFamily="18" charset="0"/>
              </a:rPr>
              <a:t>n &gt;= n</a:t>
            </a:r>
            <a:r>
              <a:rPr lang="en-IN" sz="1600" b="1" i="0" spc="10" baseline="-25000" dirty="0">
                <a:solidFill>
                  <a:srgbClr val="273239"/>
                </a:solidFill>
                <a:effectLst/>
                <a:cs typeface="Times New Roman" panose="02020603050405020304" pitchFamily="18" charset="0"/>
              </a:rPr>
              <a:t>0</a:t>
            </a:r>
            <a:r>
              <a:rPr lang="en-IN" sz="1600" b="0" i="0" spc="12" dirty="0">
                <a:solidFill>
                  <a:srgbClr val="273239"/>
                </a:solidFill>
                <a:effectLst/>
                <a:cs typeface="Times New Roman" panose="02020603050405020304" pitchFamily="18" charset="0"/>
              </a:rPr>
              <a:t>. In simpler terms,</a:t>
            </a:r>
            <a:r>
              <a:rPr lang="en-IN" sz="1600" b="1" i="0" spc="10" dirty="0">
                <a:solidFill>
                  <a:srgbClr val="273239"/>
                </a:solidFill>
                <a:effectLst/>
                <a:cs typeface="Times New Roman" panose="02020603050405020304" pitchFamily="18" charset="0"/>
              </a:rPr>
              <a:t> f(n)</a:t>
            </a:r>
            <a:r>
              <a:rPr lang="en-IN" sz="1600" b="0" i="0" spc="12" dirty="0">
                <a:solidFill>
                  <a:srgbClr val="273239"/>
                </a:solidFill>
                <a:effectLst/>
                <a:cs typeface="Times New Roman" panose="02020603050405020304" pitchFamily="18" charset="0"/>
              </a:rPr>
              <a:t> is </a:t>
            </a:r>
            <a:r>
              <a:rPr lang="en-IN" sz="1600" b="1" i="0" spc="10" dirty="0">
                <a:solidFill>
                  <a:srgbClr val="273239"/>
                </a:solidFill>
                <a:effectLst/>
                <a:cs typeface="Times New Roman" panose="02020603050405020304" pitchFamily="18" charset="0"/>
              </a:rPr>
              <a:t>Ω(g(n))</a:t>
            </a:r>
            <a:r>
              <a:rPr lang="en-IN" sz="1600" b="0" i="0" spc="12" dirty="0">
                <a:solidFill>
                  <a:srgbClr val="273239"/>
                </a:solidFill>
                <a:effectLst/>
                <a:cs typeface="Times New Roman" panose="02020603050405020304" pitchFamily="18" charset="0"/>
              </a:rPr>
              <a:t> if</a:t>
            </a:r>
            <a:r>
              <a:rPr lang="en-IN" sz="1600" b="1" i="0" spc="10" dirty="0">
                <a:solidFill>
                  <a:srgbClr val="273239"/>
                </a:solidFill>
                <a:effectLst/>
                <a:cs typeface="Times New Roman" panose="02020603050405020304" pitchFamily="18" charset="0"/>
              </a:rPr>
              <a:t> f(n) </a:t>
            </a:r>
            <a:r>
              <a:rPr lang="en-IN" sz="1600" b="0" i="0" spc="12" dirty="0">
                <a:solidFill>
                  <a:srgbClr val="273239"/>
                </a:solidFill>
                <a:effectLst/>
                <a:cs typeface="Times New Roman" panose="02020603050405020304" pitchFamily="18" charset="0"/>
              </a:rPr>
              <a:t>will always grow faster than</a:t>
            </a:r>
            <a:r>
              <a:rPr lang="en-IN" sz="1600" b="1" i="0" spc="10" dirty="0">
                <a:solidFill>
                  <a:srgbClr val="273239"/>
                </a:solidFill>
                <a:effectLst/>
                <a:cs typeface="Times New Roman" panose="02020603050405020304" pitchFamily="18" charset="0"/>
              </a:rPr>
              <a:t> c*g(n)</a:t>
            </a:r>
            <a:r>
              <a:rPr lang="en-IN" sz="1600" b="0" i="0" spc="12" dirty="0">
                <a:solidFill>
                  <a:srgbClr val="273239"/>
                </a:solidFill>
                <a:effectLst/>
                <a:cs typeface="Times New Roman" panose="02020603050405020304" pitchFamily="18" charset="0"/>
              </a:rPr>
              <a:t> for all n &gt;= n</a:t>
            </a:r>
            <a:r>
              <a:rPr lang="en-IN" sz="1600" b="0" i="0" spc="12" baseline="-25000" dirty="0">
                <a:solidFill>
                  <a:srgbClr val="273239"/>
                </a:solidFill>
                <a:effectLst/>
                <a:cs typeface="Times New Roman" panose="02020603050405020304" pitchFamily="18" charset="0"/>
              </a:rPr>
              <a:t>0,</a:t>
            </a:r>
            <a:r>
              <a:rPr lang="en-IN" sz="1600" b="0" i="0" spc="12" dirty="0">
                <a:solidFill>
                  <a:srgbClr val="273239"/>
                </a:solidFill>
                <a:effectLst/>
                <a:cs typeface="Times New Roman" panose="02020603050405020304" pitchFamily="18" charset="0"/>
              </a:rPr>
              <a:t> where c and n</a:t>
            </a:r>
            <a:r>
              <a:rPr lang="en-IN" sz="1600" b="0" i="0" spc="12" baseline="-25000" dirty="0">
                <a:solidFill>
                  <a:srgbClr val="273239"/>
                </a:solidFill>
                <a:effectLst/>
                <a:cs typeface="Times New Roman" panose="02020603050405020304" pitchFamily="18" charset="0"/>
              </a:rPr>
              <a:t>0</a:t>
            </a:r>
            <a:r>
              <a:rPr lang="en-IN" sz="1600" b="0" i="0" spc="12" dirty="0">
                <a:solidFill>
                  <a:srgbClr val="273239"/>
                </a:solidFill>
                <a:effectLst/>
                <a:cs typeface="Times New Roman" panose="02020603050405020304" pitchFamily="18" charset="0"/>
              </a:rPr>
              <a:t> are constants.</a:t>
            </a:r>
            <a:endParaRPr lang="en-IN" sz="1600" b="0" i="0" spc="10" dirty="0">
              <a:solidFill>
                <a:srgbClr val="273239"/>
              </a:solidFill>
              <a:effectLst/>
              <a:cs typeface="Times New Roman" panose="02020603050405020304" pitchFamily="18" charset="0"/>
            </a:endParaRPr>
          </a:p>
          <a:p>
            <a:pPr marL="228600" marR="0" indent="0" algn="l" fontAlgn="base">
              <a:spcAft>
                <a:spcPts val="1800"/>
              </a:spcAft>
              <a:buFont typeface="Arial" panose="020B0604020202020204" pitchFamily="34" charset="0"/>
              <a:buChar char="•"/>
            </a:pPr>
            <a:r>
              <a:rPr lang="en-IN" sz="1600" b="0" i="0" spc="12" dirty="0">
                <a:solidFill>
                  <a:srgbClr val="273239"/>
                </a:solidFill>
                <a:effectLst/>
                <a:cs typeface="Times New Roman" panose="02020603050405020304" pitchFamily="18" charset="0"/>
              </a:rPr>
              <a:t>We use it when we want to represent that the algorithm will take</a:t>
            </a:r>
            <a:r>
              <a:rPr lang="en-IN" sz="1600" b="1" i="0" spc="10" dirty="0">
                <a:solidFill>
                  <a:srgbClr val="273239"/>
                </a:solidFill>
                <a:effectLst/>
                <a:cs typeface="Times New Roman" panose="02020603050405020304" pitchFamily="18" charset="0"/>
              </a:rPr>
              <a:t> at least</a:t>
            </a:r>
            <a:r>
              <a:rPr lang="en-IN" sz="1600" b="0" i="0" spc="12" dirty="0">
                <a:solidFill>
                  <a:srgbClr val="273239"/>
                </a:solidFill>
                <a:effectLst/>
                <a:cs typeface="Times New Roman" panose="02020603050405020304" pitchFamily="18" charset="0"/>
              </a:rPr>
              <a:t> a certain amount of time or space.</a:t>
            </a:r>
            <a:endParaRPr lang="en-IN" sz="1600" b="0" i="0" spc="10" dirty="0">
              <a:solidFill>
                <a:srgbClr val="273239"/>
              </a:solidFill>
              <a:effectLst/>
              <a:cs typeface="Times New Roman" panose="02020603050405020304" pitchFamily="18" charset="0"/>
            </a:endParaRPr>
          </a:p>
          <a:p>
            <a:pPr marL="228600" marR="0" indent="0" algn="l" fontAlgn="base">
              <a:spcAft>
                <a:spcPts val="1800"/>
              </a:spcAft>
              <a:buFont typeface="Arial" panose="020B0604020202020204" pitchFamily="34" charset="0"/>
              <a:buChar char="•"/>
            </a:pPr>
            <a:r>
              <a:rPr lang="en-IN" sz="1600" b="0" i="0" spc="12" dirty="0">
                <a:solidFill>
                  <a:srgbClr val="273239"/>
                </a:solidFill>
                <a:effectLst/>
                <a:cs typeface="Times New Roman" panose="02020603050405020304" pitchFamily="18" charset="0"/>
              </a:rPr>
              <a:t>For any algorithm, we can say that its time complexity is  </a:t>
            </a:r>
            <a:r>
              <a:rPr lang="en-IN" sz="1600" b="1" i="0" spc="10" dirty="0">
                <a:solidFill>
                  <a:srgbClr val="273239"/>
                </a:solidFill>
                <a:effectLst/>
                <a:cs typeface="Times New Roman" panose="02020603050405020304" pitchFamily="18" charset="0"/>
              </a:rPr>
              <a:t>Ω</a:t>
            </a:r>
            <a:r>
              <a:rPr lang="en-IN" sz="1600" b="0" i="0" spc="12" dirty="0">
                <a:solidFill>
                  <a:srgbClr val="273239"/>
                </a:solidFill>
                <a:effectLst/>
                <a:cs typeface="Times New Roman" panose="02020603050405020304" pitchFamily="18" charset="0"/>
              </a:rPr>
              <a:t>(1) as it represents a constant value, and in this notation, we only have to guarantee a lower bound. However, it is always recommended to find as close to a lower bound as possible.</a:t>
            </a:r>
            <a:endParaRPr lang="en-IN" sz="1600" b="0" i="0" spc="10" dirty="0">
              <a:solidFill>
                <a:srgbClr val="273239"/>
              </a:solidFill>
              <a:effectLst/>
              <a:cs typeface="Times New Roman" panose="02020603050405020304" pitchFamily="18" charset="0"/>
            </a:endParaRPr>
          </a:p>
        </p:txBody>
      </p:sp>
    </p:spTree>
    <p:extLst>
      <p:ext uri="{BB962C8B-B14F-4D97-AF65-F5344CB8AC3E}">
        <p14:creationId xmlns:p14="http://schemas.microsoft.com/office/powerpoint/2010/main" val="9295744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Theta Notation</a:t>
            </a:r>
          </a:p>
        </p:txBody>
      </p:sp>
      <p:sp>
        <p:nvSpPr>
          <p:cNvPr id="5" name="TextBox 4">
            <a:extLst>
              <a:ext uri="{FF2B5EF4-FFF2-40B4-BE49-F238E27FC236}">
                <a16:creationId xmlns:a16="http://schemas.microsoft.com/office/drawing/2014/main" id="{38CADEE3-0FBF-50A9-B250-01A7EC7F6B06}"/>
              </a:ext>
            </a:extLst>
          </p:cNvPr>
          <p:cNvSpPr txBox="1"/>
          <p:nvPr/>
        </p:nvSpPr>
        <p:spPr>
          <a:xfrm>
            <a:off x="152400" y="609600"/>
            <a:ext cx="11506200" cy="1569660"/>
          </a:xfrm>
          <a:prstGeom prst="rect">
            <a:avLst/>
          </a:prstGeom>
          <a:noFill/>
        </p:spPr>
        <p:txBody>
          <a:bodyPr wrap="square">
            <a:spAutoFit/>
          </a:bodyPr>
          <a:lstStyle/>
          <a:p>
            <a:r>
              <a:rPr lang="en-IN" b="1" u="none" strike="noStrike" dirty="0">
                <a:effectLst/>
                <a:cs typeface="Times New Roman" panose="02020603050405020304" pitchFamily="18" charset="0"/>
              </a:rPr>
              <a:t>Theta (Θ) notation</a:t>
            </a:r>
            <a:r>
              <a:rPr lang="en-IN" dirty="0">
                <a:cs typeface="Times New Roman" panose="02020603050405020304" pitchFamily="18" charset="0"/>
              </a:rPr>
              <a:t> is used in computer science to describe the exact asymptotic growth rate of an algorithm's time or space complexity. It represents a "tight bound," meaning the function is bounded both from above and below by constant multiples of a given formula for sufficiently large inputs</a:t>
            </a:r>
          </a:p>
        </p:txBody>
      </p:sp>
      <p:sp>
        <p:nvSpPr>
          <p:cNvPr id="7" name="TextBox 6">
            <a:extLst>
              <a:ext uri="{FF2B5EF4-FFF2-40B4-BE49-F238E27FC236}">
                <a16:creationId xmlns:a16="http://schemas.microsoft.com/office/drawing/2014/main" id="{8B6CAFCA-DC91-92F7-3E6B-85ED157D7C1A}"/>
              </a:ext>
            </a:extLst>
          </p:cNvPr>
          <p:cNvSpPr txBox="1"/>
          <p:nvPr/>
        </p:nvSpPr>
        <p:spPr>
          <a:xfrm>
            <a:off x="0" y="2514600"/>
            <a:ext cx="6192520" cy="1985159"/>
          </a:xfrm>
          <a:prstGeom prst="rect">
            <a:avLst/>
          </a:prstGeom>
          <a:noFill/>
        </p:spPr>
        <p:txBody>
          <a:bodyPr wrap="square">
            <a:spAutoFit/>
          </a:bodyPr>
          <a:lstStyle/>
          <a:p>
            <a:pPr marL="228600" marR="0" indent="0" algn="l" fontAlgn="base">
              <a:spcAft>
                <a:spcPts val="1800"/>
              </a:spcAft>
              <a:buFont typeface="Arial" panose="020B0604020202020204" pitchFamily="34" charset="0"/>
              <a:buChar char="•"/>
            </a:pPr>
            <a:r>
              <a:rPr lang="en-IN" sz="1800" b="0" i="0" spc="12" dirty="0">
                <a:solidFill>
                  <a:srgbClr val="273239"/>
                </a:solidFill>
                <a:effectLst/>
                <a:cs typeface="Times New Roman" panose="02020603050405020304" pitchFamily="18" charset="0"/>
              </a:rPr>
              <a:t>Theta Notation provides an exact bound on time or space complexity as it bounds a function from both upper and lower sides,</a:t>
            </a:r>
            <a:endParaRPr lang="en-IN" sz="1800" b="0" i="0" spc="10" dirty="0">
              <a:solidFill>
                <a:srgbClr val="273239"/>
              </a:solidFill>
              <a:effectLst/>
              <a:cs typeface="Times New Roman" panose="02020603050405020304" pitchFamily="18" charset="0"/>
            </a:endParaRPr>
          </a:p>
          <a:p>
            <a:pPr marL="228600" marR="0" indent="0" algn="l" fontAlgn="base">
              <a:spcAft>
                <a:spcPts val="1800"/>
              </a:spcAft>
              <a:buFont typeface="Arial" panose="020B0604020202020204" pitchFamily="34" charset="0"/>
              <a:buChar char="•"/>
            </a:pPr>
            <a:r>
              <a:rPr lang="en-IN" sz="1800" b="0" i="0" spc="12" dirty="0">
                <a:solidFill>
                  <a:srgbClr val="273239"/>
                </a:solidFill>
                <a:effectLst/>
                <a:cs typeface="Times New Roman" panose="02020603050405020304" pitchFamily="18" charset="0"/>
              </a:rPr>
              <a:t>Compared to Big O or Big Omega, it gives more information in cases where we have an exact bound available and should be preferred.</a:t>
            </a:r>
            <a:endParaRPr lang="en-IN" sz="1800" b="0" i="0" spc="10" dirty="0">
              <a:solidFill>
                <a:srgbClr val="273239"/>
              </a:solidFill>
              <a:effectLst/>
              <a:cs typeface="Times New Roman" panose="02020603050405020304" pitchFamily="18" charset="0"/>
            </a:endParaRPr>
          </a:p>
        </p:txBody>
      </p:sp>
      <p:pic>
        <p:nvPicPr>
          <p:cNvPr id="9" name="Picture 8">
            <a:extLst>
              <a:ext uri="{FF2B5EF4-FFF2-40B4-BE49-F238E27FC236}">
                <a16:creationId xmlns:a16="http://schemas.microsoft.com/office/drawing/2014/main" id="{625B2C5D-F275-BE7A-4C7B-586585C4CD43}"/>
              </a:ext>
            </a:extLst>
          </p:cNvPr>
          <p:cNvPicPr>
            <a:picLocks noChangeAspect="1"/>
          </p:cNvPicPr>
          <p:nvPr/>
        </p:nvPicPr>
        <p:blipFill>
          <a:blip r:embed="rId2"/>
          <a:stretch>
            <a:fillRect/>
          </a:stretch>
        </p:blipFill>
        <p:spPr>
          <a:xfrm>
            <a:off x="8171662" y="2179260"/>
            <a:ext cx="3773476" cy="2880420"/>
          </a:xfrm>
          <a:prstGeom prst="rect">
            <a:avLst/>
          </a:prstGeom>
        </p:spPr>
      </p:pic>
    </p:spTree>
    <p:extLst>
      <p:ext uri="{BB962C8B-B14F-4D97-AF65-F5344CB8AC3E}">
        <p14:creationId xmlns:p14="http://schemas.microsoft.com/office/powerpoint/2010/main" val="15223509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Complexities of various algorithms</a:t>
            </a:r>
            <a:endParaRPr lang="en-US" dirty="0"/>
          </a:p>
        </p:txBody>
      </p:sp>
      <p:pic>
        <p:nvPicPr>
          <p:cNvPr id="4" name="image7.png"/>
          <p:cNvPicPr>
            <a:picLocks noGrp="1"/>
          </p:cNvPicPr>
          <p:nvPr>
            <p:ph idx="1"/>
          </p:nvPr>
        </p:nvPicPr>
        <p:blipFill>
          <a:blip r:embed="rId2" cstate="print"/>
          <a:stretch>
            <a:fillRect/>
          </a:stretch>
        </p:blipFill>
        <p:spPr>
          <a:xfrm>
            <a:off x="2133600" y="990600"/>
            <a:ext cx="6864824" cy="4505396"/>
          </a:xfrm>
          <a:prstGeom prst="rect">
            <a:avLst/>
          </a:prstGeom>
        </p:spPr>
      </p:pic>
    </p:spTree>
    <p:extLst>
      <p:ext uri="{BB962C8B-B14F-4D97-AF65-F5344CB8AC3E}">
        <p14:creationId xmlns:p14="http://schemas.microsoft.com/office/powerpoint/2010/main" val="33856321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B1424-3762-818A-7748-DE20E46F7FBD}"/>
              </a:ext>
            </a:extLst>
          </p:cNvPr>
          <p:cNvSpPr>
            <a:spLocks noGrp="1"/>
          </p:cNvSpPr>
          <p:nvPr>
            <p:ph type="title"/>
          </p:nvPr>
        </p:nvSpPr>
        <p:spPr/>
        <p:txBody>
          <a:bodyPr/>
          <a:lstStyle/>
          <a:p>
            <a:r>
              <a:rPr lang="en-US" dirty="0"/>
              <a:t>String Functions</a:t>
            </a:r>
            <a:endParaRPr lang="en-IN" dirty="0"/>
          </a:p>
        </p:txBody>
      </p:sp>
      <p:sp>
        <p:nvSpPr>
          <p:cNvPr id="3" name="Content Placeholder 2">
            <a:extLst>
              <a:ext uri="{FF2B5EF4-FFF2-40B4-BE49-F238E27FC236}">
                <a16:creationId xmlns:a16="http://schemas.microsoft.com/office/drawing/2014/main" id="{A76672F6-4228-3527-9543-0D13FAA0AB5F}"/>
              </a:ext>
            </a:extLst>
          </p:cNvPr>
          <p:cNvSpPr>
            <a:spLocks noGrp="1"/>
          </p:cNvSpPr>
          <p:nvPr>
            <p:ph idx="1"/>
          </p:nvPr>
        </p:nvSpPr>
        <p:spPr>
          <a:xfrm>
            <a:off x="228600" y="862577"/>
            <a:ext cx="11887200" cy="5428686"/>
          </a:xfrm>
        </p:spPr>
        <p:txBody>
          <a:bodyPr/>
          <a:lstStyle/>
          <a:p>
            <a:r>
              <a:rPr lang="en-IN" b="1" dirty="0"/>
              <a:t>Common String Operations</a:t>
            </a:r>
          </a:p>
          <a:p>
            <a:r>
              <a:rPr lang="en-IN" b="1" dirty="0"/>
              <a:t>Length:</a:t>
            </a:r>
            <a:r>
              <a:rPr lang="en-IN" dirty="0"/>
              <a:t> Calculates the total number of characters in a string.</a:t>
            </a:r>
          </a:p>
          <a:p>
            <a:r>
              <a:rPr lang="en-IN" b="1" dirty="0"/>
              <a:t>Concatenation:</a:t>
            </a:r>
            <a:r>
              <a:rPr lang="en-IN" dirty="0"/>
              <a:t> Joins two or more strings together to form a new one.</a:t>
            </a:r>
          </a:p>
          <a:p>
            <a:r>
              <a:rPr lang="en-IN" b="1" dirty="0"/>
              <a:t>Substring/Extraction:</a:t>
            </a:r>
            <a:r>
              <a:rPr lang="en-IN" dirty="0"/>
              <a:t> Retrieves a specific sequence of characters from within a larger string. </a:t>
            </a:r>
          </a:p>
          <a:p>
            <a:r>
              <a:rPr lang="en-IN" b="1" dirty="0"/>
              <a:t>Case Conversion:</a:t>
            </a:r>
            <a:r>
              <a:rPr lang="en-IN" dirty="0"/>
              <a:t> Converts the text entirely to uppercase or lowercase.</a:t>
            </a:r>
          </a:p>
          <a:p>
            <a:r>
              <a:rPr lang="en-IN" b="1" dirty="0"/>
              <a:t>Comparison:</a:t>
            </a:r>
            <a:r>
              <a:rPr lang="en-IN" dirty="0"/>
              <a:t> Checks if two strings are identical or determines their lexicographical (alphabetical) order.</a:t>
            </a:r>
          </a:p>
          <a:p>
            <a:r>
              <a:rPr lang="en-IN" b="1" dirty="0"/>
              <a:t>Search/Find:</a:t>
            </a:r>
            <a:r>
              <a:rPr lang="en-IN" dirty="0"/>
              <a:t> Locates the position of a specific character or substring within a string.</a:t>
            </a:r>
          </a:p>
          <a:p>
            <a:r>
              <a:rPr lang="en-IN" b="1" dirty="0"/>
              <a:t>Trim/Strip: </a:t>
            </a:r>
            <a:r>
              <a:rPr lang="en-IN" dirty="0"/>
              <a:t>Removes whitespace or specific characters from the beginning or end of a string</a:t>
            </a:r>
          </a:p>
          <a:p>
            <a:endParaRPr lang="en-IN" dirty="0"/>
          </a:p>
        </p:txBody>
      </p:sp>
    </p:spTree>
    <p:extLst>
      <p:ext uri="{BB962C8B-B14F-4D97-AF65-F5344CB8AC3E}">
        <p14:creationId xmlns:p14="http://schemas.microsoft.com/office/powerpoint/2010/main" val="27223669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C49F6-D3FB-8158-0CDA-3F01DC6E7491}"/>
              </a:ext>
            </a:extLst>
          </p:cNvPr>
          <p:cNvSpPr>
            <a:spLocks noGrp="1"/>
          </p:cNvSpPr>
          <p:nvPr>
            <p:ph type="title"/>
          </p:nvPr>
        </p:nvSpPr>
        <p:spPr/>
        <p:txBody>
          <a:bodyPr/>
          <a:lstStyle/>
          <a:p>
            <a:r>
              <a:rPr lang="en-US" dirty="0"/>
              <a:t>Bitwise Operators</a:t>
            </a:r>
            <a:endParaRPr lang="en-IN" dirty="0"/>
          </a:p>
        </p:txBody>
      </p:sp>
      <p:sp>
        <p:nvSpPr>
          <p:cNvPr id="3" name="Content Placeholder 2">
            <a:extLst>
              <a:ext uri="{FF2B5EF4-FFF2-40B4-BE49-F238E27FC236}">
                <a16:creationId xmlns:a16="http://schemas.microsoft.com/office/drawing/2014/main" id="{F154F603-D1E2-6669-B99D-501EC82AA93E}"/>
              </a:ext>
            </a:extLst>
          </p:cNvPr>
          <p:cNvSpPr>
            <a:spLocks noGrp="1"/>
          </p:cNvSpPr>
          <p:nvPr>
            <p:ph idx="1"/>
          </p:nvPr>
        </p:nvSpPr>
        <p:spPr>
          <a:xfrm>
            <a:off x="381000" y="862577"/>
            <a:ext cx="11734800" cy="5428686"/>
          </a:xfrm>
        </p:spPr>
        <p:txBody>
          <a:bodyPr/>
          <a:lstStyle/>
          <a:p>
            <a:r>
              <a:rPr lang="en-IN" sz="2000" dirty="0"/>
              <a:t>Bitwise operators in C operate directly on the binary representation of integer values, performing operations bit by bit instead of on whole numbers. These operators are widely used in low-level programming, optimization, and embedded systems.</a:t>
            </a:r>
          </a:p>
          <a:p>
            <a:pPr marL="457200" indent="-457200">
              <a:buClr>
                <a:schemeClr val="tx1"/>
              </a:buClr>
              <a:buFont typeface="+mj-lt"/>
              <a:buAutoNum type="arabicPeriod"/>
            </a:pPr>
            <a:r>
              <a:rPr lang="en-IN" sz="2000" dirty="0"/>
              <a:t>Work with integral data types like char, short, int, and long.</a:t>
            </a:r>
          </a:p>
          <a:p>
            <a:pPr marL="457200" indent="-457200">
              <a:buClr>
                <a:schemeClr val="tx1"/>
              </a:buClr>
              <a:buFont typeface="+mj-lt"/>
              <a:buAutoNum type="arabicPeriod"/>
            </a:pPr>
            <a:r>
              <a:rPr lang="en-IN" sz="2000" dirty="0"/>
              <a:t>Used in system programming, embedded systems, and bit masking.</a:t>
            </a:r>
          </a:p>
          <a:p>
            <a:pPr marL="457200" indent="-457200">
              <a:buClr>
                <a:schemeClr val="tx1"/>
              </a:buClr>
              <a:buFont typeface="+mj-lt"/>
              <a:buAutoNum type="arabicPeriod"/>
            </a:pPr>
            <a:r>
              <a:rPr lang="en-IN" sz="2000" dirty="0"/>
              <a:t>Help perform fast operations such as shifting, toggling, and checking bits.</a:t>
            </a:r>
          </a:p>
          <a:p>
            <a:endParaRPr lang="en-IN" sz="2000" dirty="0"/>
          </a:p>
        </p:txBody>
      </p:sp>
      <p:graphicFrame>
        <p:nvGraphicFramePr>
          <p:cNvPr id="4" name="Table 3">
            <a:extLst>
              <a:ext uri="{FF2B5EF4-FFF2-40B4-BE49-F238E27FC236}">
                <a16:creationId xmlns:a16="http://schemas.microsoft.com/office/drawing/2014/main" id="{B4CB009E-4B19-EA1B-C64C-956443AACCB2}"/>
              </a:ext>
            </a:extLst>
          </p:cNvPr>
          <p:cNvGraphicFramePr>
            <a:graphicFrameLocks noGrp="1"/>
          </p:cNvGraphicFramePr>
          <p:nvPr>
            <p:extLst>
              <p:ext uri="{D42A27DB-BD31-4B8C-83A1-F6EECF244321}">
                <p14:modId xmlns:p14="http://schemas.microsoft.com/office/powerpoint/2010/main" val="3284646328"/>
              </p:ext>
            </p:extLst>
          </p:nvPr>
        </p:nvGraphicFramePr>
        <p:xfrm>
          <a:off x="1828800" y="3429000"/>
          <a:ext cx="7620000" cy="2227834"/>
        </p:xfrm>
        <a:graphic>
          <a:graphicData uri="http://schemas.openxmlformats.org/drawingml/2006/table">
            <a:tbl>
              <a:tblPr firstRow="1" firstCol="1" bandRow="1">
                <a:tableStyleId>{68D230F3-CF80-4859-8CE7-A43EE81993B5}</a:tableStyleId>
              </a:tblPr>
              <a:tblGrid>
                <a:gridCol w="2133600">
                  <a:extLst>
                    <a:ext uri="{9D8B030D-6E8A-4147-A177-3AD203B41FA5}">
                      <a16:colId xmlns:a16="http://schemas.microsoft.com/office/drawing/2014/main" val="2910723782"/>
                    </a:ext>
                  </a:extLst>
                </a:gridCol>
                <a:gridCol w="990600">
                  <a:extLst>
                    <a:ext uri="{9D8B030D-6E8A-4147-A177-3AD203B41FA5}">
                      <a16:colId xmlns:a16="http://schemas.microsoft.com/office/drawing/2014/main" val="492334593"/>
                    </a:ext>
                  </a:extLst>
                </a:gridCol>
                <a:gridCol w="3276600">
                  <a:extLst>
                    <a:ext uri="{9D8B030D-6E8A-4147-A177-3AD203B41FA5}">
                      <a16:colId xmlns:a16="http://schemas.microsoft.com/office/drawing/2014/main" val="3330442539"/>
                    </a:ext>
                  </a:extLst>
                </a:gridCol>
                <a:gridCol w="1219200">
                  <a:extLst>
                    <a:ext uri="{9D8B030D-6E8A-4147-A177-3AD203B41FA5}">
                      <a16:colId xmlns:a16="http://schemas.microsoft.com/office/drawing/2014/main" val="1182743165"/>
                    </a:ext>
                  </a:extLst>
                </a:gridCol>
              </a:tblGrid>
              <a:tr h="0">
                <a:tc>
                  <a:txBody>
                    <a:bodyPr/>
                    <a:lstStyle/>
                    <a:p>
                      <a:pPr algn="ctr">
                        <a:lnSpc>
                          <a:spcPct val="115000"/>
                        </a:lnSpc>
                        <a:spcAft>
                          <a:spcPts val="800"/>
                        </a:spcAft>
                        <a:buNone/>
                      </a:pPr>
                      <a:r>
                        <a:rPr lang="en-IN" sz="1800" kern="0">
                          <a:effectLst/>
                        </a:rPr>
                        <a:t>Operator</a:t>
                      </a: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1800" kern="0">
                          <a:effectLst/>
                        </a:rPr>
                        <a:t>Symbol</a:t>
                      </a: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1800" kern="0">
                          <a:effectLst/>
                        </a:rPr>
                        <a:t>Description</a:t>
                      </a: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1800" kern="0">
                          <a:effectLst/>
                        </a:rPr>
                        <a:t>Example</a:t>
                      </a: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775327482"/>
                  </a:ext>
                </a:extLst>
              </a:tr>
              <a:tr h="0">
                <a:tc>
                  <a:txBody>
                    <a:bodyPr/>
                    <a:lstStyle/>
                    <a:p>
                      <a:pPr>
                        <a:lnSpc>
                          <a:spcPct val="115000"/>
                        </a:lnSpc>
                        <a:spcAft>
                          <a:spcPts val="800"/>
                        </a:spcAft>
                        <a:buNone/>
                      </a:pPr>
                      <a:r>
                        <a:rPr lang="en-IN" sz="1800" kern="0">
                          <a:effectLst/>
                        </a:rPr>
                        <a:t>AND</a:t>
                      </a: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1800" kern="0" dirty="0">
                          <a:effectLst/>
                        </a:rPr>
                        <a:t>&amp;</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1800" kern="0">
                          <a:effectLst/>
                        </a:rPr>
                        <a:t>Sets bit to 1 if both bits are 1</a:t>
                      </a: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1800" kern="0" dirty="0">
                          <a:effectLst/>
                        </a:rPr>
                        <a:t>a &amp; b</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276943"/>
                  </a:ext>
                </a:extLst>
              </a:tr>
              <a:tr h="0">
                <a:tc>
                  <a:txBody>
                    <a:bodyPr/>
                    <a:lstStyle/>
                    <a:p>
                      <a:pPr>
                        <a:lnSpc>
                          <a:spcPct val="115000"/>
                        </a:lnSpc>
                        <a:spcAft>
                          <a:spcPts val="800"/>
                        </a:spcAft>
                        <a:buNone/>
                      </a:pPr>
                      <a:r>
                        <a:rPr lang="en-IN" sz="1800" kern="0">
                          <a:effectLst/>
                        </a:rPr>
                        <a:t>OR</a:t>
                      </a: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1800" kern="0" dirty="0">
                          <a:effectLst/>
                        </a:rPr>
                        <a: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1800" kern="0">
                          <a:effectLst/>
                        </a:rPr>
                        <a:t>Sets bit to 1 if either bit is 1</a:t>
                      </a: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1800" kern="0" dirty="0">
                          <a:effectLst/>
                        </a:rPr>
                        <a:t>a | b</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83161996"/>
                  </a:ext>
                </a:extLst>
              </a:tr>
              <a:tr h="0">
                <a:tc>
                  <a:txBody>
                    <a:bodyPr/>
                    <a:lstStyle/>
                    <a:p>
                      <a:pPr>
                        <a:lnSpc>
                          <a:spcPct val="115000"/>
                        </a:lnSpc>
                        <a:spcAft>
                          <a:spcPts val="800"/>
                        </a:spcAft>
                        <a:buNone/>
                      </a:pPr>
                      <a:r>
                        <a:rPr lang="en-IN" sz="1800" kern="0">
                          <a:effectLst/>
                        </a:rPr>
                        <a:t>XOR</a:t>
                      </a: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1800" kern="0">
                          <a:effectLst/>
                        </a:rPr>
                        <a:t>^</a:t>
                      </a: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1800" kern="0">
                          <a:effectLst/>
                        </a:rPr>
                        <a:t>Sets bit to 1 if bits are different</a:t>
                      </a: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1800" kern="0" dirty="0">
                          <a:effectLst/>
                        </a:rPr>
                        <a:t>a ^ b</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4386135"/>
                  </a:ext>
                </a:extLst>
              </a:tr>
              <a:tr h="0">
                <a:tc>
                  <a:txBody>
                    <a:bodyPr/>
                    <a:lstStyle/>
                    <a:p>
                      <a:pPr>
                        <a:lnSpc>
                          <a:spcPct val="115000"/>
                        </a:lnSpc>
                        <a:spcAft>
                          <a:spcPts val="800"/>
                        </a:spcAft>
                        <a:buNone/>
                      </a:pPr>
                      <a:r>
                        <a:rPr lang="en-IN" sz="1800" kern="0">
                          <a:effectLst/>
                        </a:rPr>
                        <a:t>NOT (Complement)</a:t>
                      </a: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1800" kern="0" dirty="0">
                          <a:effectLst/>
                        </a:rPr>
                        <a: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1800" kern="0" dirty="0">
                          <a:effectLst/>
                        </a:rPr>
                        <a:t>Inverts all bits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1800" kern="0" dirty="0">
                          <a:effectLst/>
                        </a:rPr>
                        <a:t>~a</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627188405"/>
                  </a:ext>
                </a:extLst>
              </a:tr>
              <a:tr h="0">
                <a:tc>
                  <a:txBody>
                    <a:bodyPr/>
                    <a:lstStyle/>
                    <a:p>
                      <a:pPr>
                        <a:lnSpc>
                          <a:spcPct val="115000"/>
                        </a:lnSpc>
                        <a:spcAft>
                          <a:spcPts val="800"/>
                        </a:spcAft>
                        <a:buNone/>
                      </a:pPr>
                      <a:r>
                        <a:rPr lang="en-IN" sz="1800" kern="0">
                          <a:effectLst/>
                        </a:rPr>
                        <a:t>Left Shift</a:t>
                      </a: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1800" kern="0" dirty="0">
                          <a:effectLst/>
                        </a:rPr>
                        <a:t>&lt;&lt;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1800" kern="0">
                          <a:effectLst/>
                        </a:rPr>
                        <a:t>Shifts bits to the left</a:t>
                      </a: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1800" kern="0" dirty="0">
                          <a:effectLst/>
                        </a:rPr>
                        <a:t>a &lt;&lt; 2</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87378127"/>
                  </a:ext>
                </a:extLst>
              </a:tr>
              <a:tr h="0">
                <a:tc>
                  <a:txBody>
                    <a:bodyPr/>
                    <a:lstStyle/>
                    <a:p>
                      <a:pPr>
                        <a:lnSpc>
                          <a:spcPct val="115000"/>
                        </a:lnSpc>
                        <a:spcAft>
                          <a:spcPts val="800"/>
                        </a:spcAft>
                        <a:buNone/>
                      </a:pPr>
                      <a:r>
                        <a:rPr lang="en-IN" sz="1800" kern="0">
                          <a:effectLst/>
                        </a:rPr>
                        <a:t>Right Shift</a:t>
                      </a: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1800" kern="0" dirty="0">
                          <a:effectLst/>
                        </a:rPr>
                        <a:t>&gt;&gt;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1800" kern="0">
                          <a:effectLst/>
                        </a:rPr>
                        <a:t>Shifts bits to the right</a:t>
                      </a:r>
                      <a:endParaRPr lang="en-IN"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1800" kern="0" dirty="0">
                          <a:effectLst/>
                        </a:rPr>
                        <a:t>a &gt;&gt; 2</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425736520"/>
                  </a:ext>
                </a:extLst>
              </a:tr>
            </a:tbl>
          </a:graphicData>
        </a:graphic>
      </p:graphicFrame>
    </p:spTree>
    <p:extLst>
      <p:ext uri="{BB962C8B-B14F-4D97-AF65-F5344CB8AC3E}">
        <p14:creationId xmlns:p14="http://schemas.microsoft.com/office/powerpoint/2010/main" val="22298740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636ED-A52B-A33A-FC17-58081B632E2B}"/>
              </a:ext>
            </a:extLst>
          </p:cNvPr>
          <p:cNvSpPr>
            <a:spLocks noGrp="1"/>
          </p:cNvSpPr>
          <p:nvPr>
            <p:ph type="title"/>
          </p:nvPr>
        </p:nvSpPr>
        <p:spPr/>
        <p:txBody>
          <a:bodyPr/>
          <a:lstStyle/>
          <a:p>
            <a:r>
              <a:rPr lang="en-US" dirty="0"/>
              <a:t>Bitwise Operators</a:t>
            </a:r>
            <a:endParaRPr lang="en-IN" dirty="0"/>
          </a:p>
        </p:txBody>
      </p:sp>
      <p:graphicFrame>
        <p:nvGraphicFramePr>
          <p:cNvPr id="4" name="Content Placeholder 3">
            <a:extLst>
              <a:ext uri="{FF2B5EF4-FFF2-40B4-BE49-F238E27FC236}">
                <a16:creationId xmlns:a16="http://schemas.microsoft.com/office/drawing/2014/main" id="{7468DE95-B4EB-BA43-C72B-60FC2CCF90BD}"/>
              </a:ext>
            </a:extLst>
          </p:cNvPr>
          <p:cNvGraphicFramePr>
            <a:graphicFrameLocks noGrp="1"/>
          </p:cNvGraphicFramePr>
          <p:nvPr>
            <p:ph idx="1"/>
            <p:extLst>
              <p:ext uri="{D42A27DB-BD31-4B8C-83A1-F6EECF244321}">
                <p14:modId xmlns:p14="http://schemas.microsoft.com/office/powerpoint/2010/main" val="2768077131"/>
              </p:ext>
            </p:extLst>
          </p:nvPr>
        </p:nvGraphicFramePr>
        <p:xfrm>
          <a:off x="1371600" y="1295400"/>
          <a:ext cx="9585833" cy="4053800"/>
        </p:xfrm>
        <a:graphic>
          <a:graphicData uri="http://schemas.openxmlformats.org/drawingml/2006/table">
            <a:tbl>
              <a:tblPr firstRow="1" firstCol="1" bandRow="1">
                <a:tableStyleId>{68D230F3-CF80-4859-8CE7-A43EE81993B5}</a:tableStyleId>
              </a:tblPr>
              <a:tblGrid>
                <a:gridCol w="1295400">
                  <a:extLst>
                    <a:ext uri="{9D8B030D-6E8A-4147-A177-3AD203B41FA5}">
                      <a16:colId xmlns:a16="http://schemas.microsoft.com/office/drawing/2014/main" val="2038663102"/>
                    </a:ext>
                  </a:extLst>
                </a:gridCol>
                <a:gridCol w="2895600">
                  <a:extLst>
                    <a:ext uri="{9D8B030D-6E8A-4147-A177-3AD203B41FA5}">
                      <a16:colId xmlns:a16="http://schemas.microsoft.com/office/drawing/2014/main" val="4271266260"/>
                    </a:ext>
                  </a:extLst>
                </a:gridCol>
                <a:gridCol w="2880233">
                  <a:extLst>
                    <a:ext uri="{9D8B030D-6E8A-4147-A177-3AD203B41FA5}">
                      <a16:colId xmlns:a16="http://schemas.microsoft.com/office/drawing/2014/main" val="2882553183"/>
                    </a:ext>
                  </a:extLst>
                </a:gridCol>
                <a:gridCol w="2514600">
                  <a:extLst>
                    <a:ext uri="{9D8B030D-6E8A-4147-A177-3AD203B41FA5}">
                      <a16:colId xmlns:a16="http://schemas.microsoft.com/office/drawing/2014/main" val="4267274911"/>
                    </a:ext>
                  </a:extLst>
                </a:gridCol>
              </a:tblGrid>
              <a:tr h="579100">
                <a:tc>
                  <a:txBody>
                    <a:bodyPr/>
                    <a:lstStyle/>
                    <a:p>
                      <a:pPr algn="ct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Operation</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Binary Calculation</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Result (Binary)</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Result (Decimal)</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926765649"/>
                  </a:ext>
                </a:extLst>
              </a:tr>
              <a:tr h="579100">
                <a:tc>
                  <a:txBody>
                    <a:bodyPr/>
                    <a:lstStyle/>
                    <a:p>
                      <a:pPr algn="ct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a &amp; b</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00000101 &amp; 00000011</a:t>
                      </a:r>
                      <a:endParaRPr lang="en-IN"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00000001</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1</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4774242"/>
                  </a:ext>
                </a:extLst>
              </a:tr>
              <a:tr h="579100">
                <a:tc>
                  <a:txBody>
                    <a:bodyPr/>
                    <a:lstStyle/>
                    <a:p>
                      <a:pPr algn="ct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a | b</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00000101 | 00000011</a:t>
                      </a:r>
                      <a:endParaRPr lang="en-IN"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00000111</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7</a:t>
                      </a:r>
                      <a:endParaRPr lang="en-IN"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216004430"/>
                  </a:ext>
                </a:extLst>
              </a:tr>
              <a:tr h="579100">
                <a:tc>
                  <a:txBody>
                    <a:bodyPr/>
                    <a:lstStyle/>
                    <a:p>
                      <a:pPr algn="ct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a ^ b</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00000101 ^ 00000011</a:t>
                      </a:r>
                      <a:endParaRPr lang="en-IN"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00000110</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6</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13116478"/>
                  </a:ext>
                </a:extLst>
              </a:tr>
              <a:tr h="579200">
                <a:tc>
                  <a:txBody>
                    <a:bodyPr/>
                    <a:lstStyle/>
                    <a:p>
                      <a:pPr algn="ct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~a</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~00000101</a:t>
                      </a:r>
                      <a:endParaRPr lang="en-IN"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11111010 (2's complement)</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-6</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90259875"/>
                  </a:ext>
                </a:extLst>
              </a:tr>
              <a:tr h="579100">
                <a:tc>
                  <a:txBody>
                    <a:bodyPr/>
                    <a:lstStyle/>
                    <a:p>
                      <a:pPr algn="ct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a &lt;&lt; 1</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00000101 &lt;&lt; 1</a:t>
                      </a:r>
                      <a:endParaRPr lang="en-IN"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00001010</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10</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66442582"/>
                  </a:ext>
                </a:extLst>
              </a:tr>
              <a:tr h="579100">
                <a:tc>
                  <a:txBody>
                    <a:bodyPr/>
                    <a:lstStyle/>
                    <a:p>
                      <a:pPr algn="ct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a &gt;&gt; 1</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2000" kern="100">
                          <a:effectLst/>
                          <a:latin typeface="Times New Roman" panose="02020603050405020304" pitchFamily="18" charset="0"/>
                          <a:cs typeface="Times New Roman" panose="02020603050405020304" pitchFamily="18" charset="0"/>
                        </a:rPr>
                        <a:t>00000101 &gt;&gt; 1</a:t>
                      </a:r>
                      <a:endParaRPr lang="en-IN"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00000010</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N" sz="2000" kern="100" dirty="0">
                          <a:effectLst/>
                          <a:latin typeface="Times New Roman" panose="02020603050405020304" pitchFamily="18" charset="0"/>
                          <a:cs typeface="Times New Roman" panose="02020603050405020304" pitchFamily="18" charset="0"/>
                        </a:rPr>
                        <a:t>2</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580165640"/>
                  </a:ext>
                </a:extLst>
              </a:tr>
            </a:tbl>
          </a:graphicData>
        </a:graphic>
      </p:graphicFrame>
      <p:sp>
        <p:nvSpPr>
          <p:cNvPr id="6" name="TextBox 5">
            <a:extLst>
              <a:ext uri="{FF2B5EF4-FFF2-40B4-BE49-F238E27FC236}">
                <a16:creationId xmlns:a16="http://schemas.microsoft.com/office/drawing/2014/main" id="{4947C7AF-7160-2001-1DF4-CC2A4ED715C4}"/>
              </a:ext>
            </a:extLst>
          </p:cNvPr>
          <p:cNvSpPr txBox="1"/>
          <p:nvPr/>
        </p:nvSpPr>
        <p:spPr>
          <a:xfrm>
            <a:off x="152400" y="729734"/>
            <a:ext cx="6192520" cy="400110"/>
          </a:xfrm>
          <a:prstGeom prst="rect">
            <a:avLst/>
          </a:prstGeom>
          <a:noFill/>
        </p:spPr>
        <p:txBody>
          <a:bodyPr wrap="square">
            <a:spAutoFit/>
          </a:bodyPr>
          <a:lstStyle/>
          <a:p>
            <a:pPr>
              <a:buNone/>
            </a:pPr>
            <a:r>
              <a:rPr lang="en-IN" sz="2000" dirty="0">
                <a:cs typeface="Times New Roman" panose="02020603050405020304" pitchFamily="18" charset="0"/>
              </a:rPr>
              <a:t>Let:    a = 5 → 00000101 		b = 3 → 00000011</a:t>
            </a:r>
          </a:p>
        </p:txBody>
      </p:sp>
    </p:spTree>
    <p:extLst>
      <p:ext uri="{BB962C8B-B14F-4D97-AF65-F5344CB8AC3E}">
        <p14:creationId xmlns:p14="http://schemas.microsoft.com/office/powerpoint/2010/main" val="14292541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40EC3-4CC9-00B1-9F51-421A29B683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E7D8E-B641-D117-7933-BFBD284BE4E0}"/>
              </a:ext>
            </a:extLst>
          </p:cNvPr>
          <p:cNvSpPr>
            <a:spLocks noGrp="1"/>
          </p:cNvSpPr>
          <p:nvPr>
            <p:ph type="title"/>
          </p:nvPr>
        </p:nvSpPr>
        <p:spPr/>
        <p:txBody>
          <a:bodyPr>
            <a:normAutofit/>
          </a:bodyPr>
          <a:lstStyle/>
          <a:p>
            <a:pPr eaLnBrk="1" fontAlgn="auto" hangingPunct="1">
              <a:spcAft>
                <a:spcPts val="0"/>
              </a:spcAft>
              <a:defRPr/>
            </a:pPr>
            <a:r>
              <a:rPr lang="en-US" b="1" dirty="0">
                <a:solidFill>
                  <a:schemeClr val="tx1">
                    <a:lumMod val="75000"/>
                    <a:lumOff val="25000"/>
                  </a:schemeClr>
                </a:solidFill>
              </a:rPr>
              <a:t>Check</a:t>
            </a:r>
          </a:p>
        </p:txBody>
      </p:sp>
      <p:sp>
        <p:nvSpPr>
          <p:cNvPr id="9" name="TextBox 8">
            <a:extLst>
              <a:ext uri="{FF2B5EF4-FFF2-40B4-BE49-F238E27FC236}">
                <a16:creationId xmlns:a16="http://schemas.microsoft.com/office/drawing/2014/main" id="{FC743CF6-A480-0FB6-C53D-7D7E851B6EA5}"/>
              </a:ext>
            </a:extLst>
          </p:cNvPr>
          <p:cNvSpPr txBox="1"/>
          <p:nvPr/>
        </p:nvSpPr>
        <p:spPr>
          <a:xfrm>
            <a:off x="304800" y="762000"/>
            <a:ext cx="4876800" cy="5472011"/>
          </a:xfrm>
          <a:prstGeom prst="rect">
            <a:avLst/>
          </a:prstGeom>
          <a:noFill/>
        </p:spPr>
        <p:txBody>
          <a:bodyPr wrap="square">
            <a:spAutoFit/>
          </a:bodyPr>
          <a:lstStyle/>
          <a:p>
            <a:pPr>
              <a:lnSpc>
                <a:spcPct val="115000"/>
              </a:lnSpc>
              <a:spcAft>
                <a:spcPts val="800"/>
              </a:spcAft>
              <a:buNone/>
            </a:pPr>
            <a:r>
              <a:rPr lang="en-IN" sz="1200" b="1" kern="100" dirty="0">
                <a:effectLst/>
                <a:ea typeface="Aptos" panose="020B0004020202020204" pitchFamily="34" charset="0"/>
                <a:cs typeface="Times New Roman" panose="02020603050405020304" pitchFamily="18" charset="0"/>
              </a:rPr>
              <a:t>Q1. What is the primary purpose of a data structure?</a:t>
            </a:r>
            <a:endParaRPr lang="en-IN" sz="1200" kern="100" dirty="0">
              <a:effectLst/>
              <a:ea typeface="Aptos" panose="020B0004020202020204" pitchFamily="34" charset="0"/>
              <a:cs typeface="Times New Roman" panose="02020603050405020304" pitchFamily="18" charset="0"/>
            </a:endParaRPr>
          </a:p>
          <a:p>
            <a:pPr>
              <a:lnSpc>
                <a:spcPct val="115000"/>
              </a:lnSpc>
              <a:spcAft>
                <a:spcPts val="800"/>
              </a:spcAft>
              <a:buNone/>
            </a:pPr>
            <a:r>
              <a:rPr lang="en-IN" sz="1200" kern="100" dirty="0">
                <a:effectLst/>
                <a:ea typeface="Aptos" panose="020B0004020202020204" pitchFamily="34" charset="0"/>
                <a:cs typeface="Times New Roman" panose="02020603050405020304" pitchFamily="18" charset="0"/>
              </a:rPr>
              <a:t>A) To increase computer speed only</a:t>
            </a:r>
            <a:br>
              <a:rPr lang="en-IN" sz="1200" kern="100" dirty="0">
                <a:effectLst/>
                <a:ea typeface="Aptos" panose="020B0004020202020204" pitchFamily="34" charset="0"/>
                <a:cs typeface="Times New Roman" panose="02020603050405020304" pitchFamily="18" charset="0"/>
              </a:rPr>
            </a:br>
            <a:r>
              <a:rPr lang="en-IN" sz="1200" kern="100" dirty="0">
                <a:effectLst/>
                <a:ea typeface="Aptos" panose="020B0004020202020204" pitchFamily="34" charset="0"/>
                <a:cs typeface="Times New Roman" panose="02020603050405020304" pitchFamily="18" charset="0"/>
              </a:rPr>
              <a:t>B) To organize and store data efficiently</a:t>
            </a:r>
            <a:br>
              <a:rPr lang="en-IN" sz="1200" kern="100" dirty="0">
                <a:effectLst/>
                <a:ea typeface="Aptos" panose="020B0004020202020204" pitchFamily="34" charset="0"/>
                <a:cs typeface="Times New Roman" panose="02020603050405020304" pitchFamily="18" charset="0"/>
              </a:rPr>
            </a:br>
            <a:r>
              <a:rPr lang="en-IN" sz="1200" kern="100" dirty="0">
                <a:effectLst/>
                <a:ea typeface="Aptos" panose="020B0004020202020204" pitchFamily="34" charset="0"/>
                <a:cs typeface="Times New Roman" panose="02020603050405020304" pitchFamily="18" charset="0"/>
              </a:rPr>
              <a:t>C) To reduce the size of programs</a:t>
            </a:r>
            <a:br>
              <a:rPr lang="en-IN" sz="1200" kern="100" dirty="0">
                <a:effectLst/>
                <a:ea typeface="Aptos" panose="020B0004020202020204" pitchFamily="34" charset="0"/>
                <a:cs typeface="Times New Roman" panose="02020603050405020304" pitchFamily="18" charset="0"/>
              </a:rPr>
            </a:br>
            <a:r>
              <a:rPr lang="en-IN" sz="1200" kern="100" dirty="0">
                <a:effectLst/>
                <a:ea typeface="Aptos" panose="020B0004020202020204" pitchFamily="34" charset="0"/>
                <a:cs typeface="Times New Roman" panose="02020603050405020304" pitchFamily="18" charset="0"/>
              </a:rPr>
              <a:t>D) To write shorter code</a:t>
            </a:r>
          </a:p>
          <a:p>
            <a:pPr>
              <a:lnSpc>
                <a:spcPct val="115000"/>
              </a:lnSpc>
              <a:spcAft>
                <a:spcPts val="800"/>
              </a:spcAft>
              <a:buNone/>
            </a:pPr>
            <a:r>
              <a:rPr lang="en-IN" sz="1200" b="1" kern="100" dirty="0">
                <a:effectLst/>
                <a:ea typeface="Aptos" panose="020B0004020202020204" pitchFamily="34" charset="0"/>
                <a:cs typeface="Times New Roman" panose="02020603050405020304" pitchFamily="18" charset="0"/>
              </a:rPr>
              <a:t>Q2. Which of the following is an example of an Abstract Data Type (ADT)?</a:t>
            </a:r>
            <a:endParaRPr lang="en-IN" sz="1200" kern="100" dirty="0">
              <a:effectLst/>
              <a:ea typeface="Aptos" panose="020B0004020202020204" pitchFamily="34" charset="0"/>
              <a:cs typeface="Times New Roman" panose="02020603050405020304" pitchFamily="18" charset="0"/>
            </a:endParaRPr>
          </a:p>
          <a:p>
            <a:pPr>
              <a:lnSpc>
                <a:spcPct val="115000"/>
              </a:lnSpc>
              <a:spcAft>
                <a:spcPts val="800"/>
              </a:spcAft>
              <a:buNone/>
            </a:pPr>
            <a:r>
              <a:rPr lang="en-IN" sz="1200" kern="100" dirty="0">
                <a:effectLst/>
                <a:ea typeface="Aptos" panose="020B0004020202020204" pitchFamily="34" charset="0"/>
                <a:cs typeface="Times New Roman" panose="02020603050405020304" pitchFamily="18" charset="0"/>
              </a:rPr>
              <a:t>A) Array</a:t>
            </a:r>
            <a:br>
              <a:rPr lang="en-IN" sz="1200" kern="100" dirty="0">
                <a:effectLst/>
                <a:ea typeface="Aptos" panose="020B0004020202020204" pitchFamily="34" charset="0"/>
                <a:cs typeface="Times New Roman" panose="02020603050405020304" pitchFamily="18" charset="0"/>
              </a:rPr>
            </a:br>
            <a:r>
              <a:rPr lang="en-IN" sz="1200" kern="100" dirty="0">
                <a:effectLst/>
                <a:ea typeface="Aptos" panose="020B0004020202020204" pitchFamily="34" charset="0"/>
                <a:cs typeface="Times New Roman" panose="02020603050405020304" pitchFamily="18" charset="0"/>
              </a:rPr>
              <a:t>B) Linked List</a:t>
            </a:r>
            <a:br>
              <a:rPr lang="en-IN" sz="1200" kern="100" dirty="0">
                <a:effectLst/>
                <a:ea typeface="Aptos" panose="020B0004020202020204" pitchFamily="34" charset="0"/>
                <a:cs typeface="Times New Roman" panose="02020603050405020304" pitchFamily="18" charset="0"/>
              </a:rPr>
            </a:br>
            <a:r>
              <a:rPr lang="en-IN" sz="1200" kern="100" dirty="0">
                <a:effectLst/>
                <a:ea typeface="Aptos" panose="020B0004020202020204" pitchFamily="34" charset="0"/>
                <a:cs typeface="Times New Roman" panose="02020603050405020304" pitchFamily="18" charset="0"/>
              </a:rPr>
              <a:t>C) Stack</a:t>
            </a:r>
            <a:br>
              <a:rPr lang="en-IN" sz="1200" kern="100" dirty="0">
                <a:effectLst/>
                <a:ea typeface="Aptos" panose="020B0004020202020204" pitchFamily="34" charset="0"/>
                <a:cs typeface="Times New Roman" panose="02020603050405020304" pitchFamily="18" charset="0"/>
              </a:rPr>
            </a:br>
            <a:r>
              <a:rPr lang="en-IN" sz="1200" kern="100" dirty="0">
                <a:effectLst/>
                <a:ea typeface="Aptos" panose="020B0004020202020204" pitchFamily="34" charset="0"/>
                <a:cs typeface="Times New Roman" panose="02020603050405020304" pitchFamily="18" charset="0"/>
              </a:rPr>
              <a:t>D) Structure</a:t>
            </a:r>
          </a:p>
          <a:p>
            <a:pPr>
              <a:lnSpc>
                <a:spcPct val="115000"/>
              </a:lnSpc>
              <a:spcAft>
                <a:spcPts val="800"/>
              </a:spcAft>
              <a:buNone/>
            </a:pPr>
            <a:r>
              <a:rPr lang="en-IN" sz="1200" b="1" kern="100" dirty="0">
                <a:effectLst/>
                <a:ea typeface="Aptos" panose="020B0004020202020204" pitchFamily="34" charset="0"/>
                <a:cs typeface="Times New Roman" panose="02020603050405020304" pitchFamily="18" charset="0"/>
              </a:rPr>
              <a:t>Q3. Which of the following is a non-linear data structure?</a:t>
            </a:r>
            <a:endParaRPr lang="en-IN" sz="1200" kern="100" dirty="0">
              <a:effectLst/>
              <a:ea typeface="Aptos" panose="020B0004020202020204" pitchFamily="34" charset="0"/>
              <a:cs typeface="Times New Roman" panose="02020603050405020304" pitchFamily="18" charset="0"/>
            </a:endParaRPr>
          </a:p>
          <a:p>
            <a:pPr>
              <a:lnSpc>
                <a:spcPct val="115000"/>
              </a:lnSpc>
              <a:spcAft>
                <a:spcPts val="800"/>
              </a:spcAft>
              <a:buNone/>
            </a:pPr>
            <a:r>
              <a:rPr lang="en-IN" sz="1200" kern="100" dirty="0">
                <a:effectLst/>
                <a:ea typeface="Aptos" panose="020B0004020202020204" pitchFamily="34" charset="0"/>
                <a:cs typeface="Times New Roman" panose="02020603050405020304" pitchFamily="18" charset="0"/>
              </a:rPr>
              <a:t>A) Array</a:t>
            </a:r>
            <a:br>
              <a:rPr lang="en-IN" sz="1200" kern="100" dirty="0">
                <a:effectLst/>
                <a:ea typeface="Aptos" panose="020B0004020202020204" pitchFamily="34" charset="0"/>
                <a:cs typeface="Times New Roman" panose="02020603050405020304" pitchFamily="18" charset="0"/>
              </a:rPr>
            </a:br>
            <a:r>
              <a:rPr lang="en-IN" sz="1200" kern="100" dirty="0">
                <a:effectLst/>
                <a:ea typeface="Aptos" panose="020B0004020202020204" pitchFamily="34" charset="0"/>
                <a:cs typeface="Times New Roman" panose="02020603050405020304" pitchFamily="18" charset="0"/>
              </a:rPr>
              <a:t>B) Queue</a:t>
            </a:r>
            <a:br>
              <a:rPr lang="en-IN" sz="1200" kern="100" dirty="0">
                <a:effectLst/>
                <a:ea typeface="Aptos" panose="020B0004020202020204" pitchFamily="34" charset="0"/>
                <a:cs typeface="Times New Roman" panose="02020603050405020304" pitchFamily="18" charset="0"/>
              </a:rPr>
            </a:br>
            <a:r>
              <a:rPr lang="en-IN" sz="1200" kern="100" dirty="0">
                <a:effectLst/>
                <a:ea typeface="Aptos" panose="020B0004020202020204" pitchFamily="34" charset="0"/>
                <a:cs typeface="Times New Roman" panose="02020603050405020304" pitchFamily="18" charset="0"/>
              </a:rPr>
              <a:t>C) Linked List</a:t>
            </a:r>
            <a:br>
              <a:rPr lang="en-IN" sz="1200" kern="100" dirty="0">
                <a:effectLst/>
                <a:ea typeface="Aptos" panose="020B0004020202020204" pitchFamily="34" charset="0"/>
                <a:cs typeface="Times New Roman" panose="02020603050405020304" pitchFamily="18" charset="0"/>
              </a:rPr>
            </a:br>
            <a:r>
              <a:rPr lang="en-IN" sz="1200" kern="100" dirty="0">
                <a:effectLst/>
                <a:ea typeface="Aptos" panose="020B0004020202020204" pitchFamily="34" charset="0"/>
                <a:cs typeface="Times New Roman" panose="02020603050405020304" pitchFamily="18" charset="0"/>
              </a:rPr>
              <a:t>D) Tree</a:t>
            </a:r>
          </a:p>
          <a:p>
            <a:pPr>
              <a:lnSpc>
                <a:spcPct val="115000"/>
              </a:lnSpc>
              <a:spcAft>
                <a:spcPts val="800"/>
              </a:spcAft>
              <a:buNone/>
            </a:pPr>
            <a:r>
              <a:rPr lang="en-IN" sz="1200" b="1" kern="100" dirty="0">
                <a:effectLst/>
                <a:ea typeface="Aptos" panose="020B0004020202020204" pitchFamily="34" charset="0"/>
                <a:cs typeface="Times New Roman" panose="02020603050405020304" pitchFamily="18" charset="0"/>
              </a:rPr>
              <a:t>Q4. Which operation is used to visit each element of a data structure exactly once?</a:t>
            </a:r>
            <a:endParaRPr lang="en-IN" sz="1200" kern="100" dirty="0">
              <a:effectLst/>
              <a:ea typeface="Aptos" panose="020B0004020202020204" pitchFamily="34" charset="0"/>
              <a:cs typeface="Times New Roman" panose="02020603050405020304" pitchFamily="18" charset="0"/>
            </a:endParaRPr>
          </a:p>
          <a:p>
            <a:pPr>
              <a:lnSpc>
                <a:spcPct val="115000"/>
              </a:lnSpc>
              <a:spcAft>
                <a:spcPts val="800"/>
              </a:spcAft>
              <a:buNone/>
            </a:pPr>
            <a:r>
              <a:rPr lang="en-IN" sz="1200" kern="100" dirty="0">
                <a:effectLst/>
                <a:ea typeface="Aptos" panose="020B0004020202020204" pitchFamily="34" charset="0"/>
                <a:cs typeface="Times New Roman" panose="02020603050405020304" pitchFamily="18" charset="0"/>
              </a:rPr>
              <a:t>A) Insertion</a:t>
            </a:r>
            <a:br>
              <a:rPr lang="en-IN" sz="1200" kern="100" dirty="0">
                <a:effectLst/>
                <a:ea typeface="Aptos" panose="020B0004020202020204" pitchFamily="34" charset="0"/>
                <a:cs typeface="Times New Roman" panose="02020603050405020304" pitchFamily="18" charset="0"/>
              </a:rPr>
            </a:br>
            <a:r>
              <a:rPr lang="en-IN" sz="1200" kern="100" dirty="0">
                <a:effectLst/>
                <a:ea typeface="Aptos" panose="020B0004020202020204" pitchFamily="34" charset="0"/>
                <a:cs typeface="Times New Roman" panose="02020603050405020304" pitchFamily="18" charset="0"/>
              </a:rPr>
              <a:t>B) Traversing</a:t>
            </a:r>
            <a:br>
              <a:rPr lang="en-IN" sz="1200" kern="100" dirty="0">
                <a:effectLst/>
                <a:ea typeface="Aptos" panose="020B0004020202020204" pitchFamily="34" charset="0"/>
                <a:cs typeface="Times New Roman" panose="02020603050405020304" pitchFamily="18" charset="0"/>
              </a:rPr>
            </a:br>
            <a:r>
              <a:rPr lang="en-IN" sz="1200" kern="100" dirty="0">
                <a:effectLst/>
                <a:ea typeface="Aptos" panose="020B0004020202020204" pitchFamily="34" charset="0"/>
                <a:cs typeface="Times New Roman" panose="02020603050405020304" pitchFamily="18" charset="0"/>
              </a:rPr>
              <a:t>C) Deletion</a:t>
            </a:r>
            <a:br>
              <a:rPr lang="en-IN" sz="1200" kern="100" dirty="0">
                <a:effectLst/>
                <a:ea typeface="Aptos" panose="020B0004020202020204" pitchFamily="34" charset="0"/>
                <a:cs typeface="Times New Roman" panose="02020603050405020304" pitchFamily="18" charset="0"/>
              </a:rPr>
            </a:br>
            <a:r>
              <a:rPr lang="en-IN" sz="1200" kern="100" dirty="0">
                <a:effectLst/>
                <a:ea typeface="Aptos" panose="020B0004020202020204" pitchFamily="34" charset="0"/>
                <a:cs typeface="Times New Roman" panose="02020603050405020304" pitchFamily="18" charset="0"/>
              </a:rPr>
              <a:t>D) Searching</a:t>
            </a:r>
          </a:p>
        </p:txBody>
      </p:sp>
      <p:sp>
        <p:nvSpPr>
          <p:cNvPr id="11" name="TextBox 10">
            <a:extLst>
              <a:ext uri="{FF2B5EF4-FFF2-40B4-BE49-F238E27FC236}">
                <a16:creationId xmlns:a16="http://schemas.microsoft.com/office/drawing/2014/main" id="{6287040D-3634-8150-24F6-B46FA5CB60EC}"/>
              </a:ext>
            </a:extLst>
          </p:cNvPr>
          <p:cNvSpPr txBox="1"/>
          <p:nvPr/>
        </p:nvSpPr>
        <p:spPr>
          <a:xfrm>
            <a:off x="5313680" y="639229"/>
            <a:ext cx="6497320" cy="5786969"/>
          </a:xfrm>
          <a:prstGeom prst="rect">
            <a:avLst/>
          </a:prstGeom>
          <a:noFill/>
        </p:spPr>
        <p:txBody>
          <a:bodyPr wrap="square">
            <a:spAutoFit/>
          </a:bodyPr>
          <a:lstStyle/>
          <a:p>
            <a:pPr>
              <a:lnSpc>
                <a:spcPct val="115000"/>
              </a:lnSpc>
              <a:spcAft>
                <a:spcPts val="800"/>
              </a:spcAft>
              <a:buNone/>
            </a:pPr>
            <a:r>
              <a:rPr lang="en-IN" sz="1200" b="1" kern="100" dirty="0">
                <a:effectLst/>
                <a:ea typeface="Aptos" panose="020B0004020202020204" pitchFamily="34" charset="0"/>
                <a:cs typeface="Times New Roman" panose="02020603050405020304" pitchFamily="18" charset="0"/>
              </a:rPr>
              <a:t>Q5. Which of the following control structures is commonly used for repeating a set of statements in an algorithm?</a:t>
            </a:r>
            <a:endParaRPr lang="en-IN" sz="1200" kern="100" dirty="0">
              <a:effectLst/>
              <a:ea typeface="Aptos" panose="020B0004020202020204" pitchFamily="34" charset="0"/>
              <a:cs typeface="Times New Roman" panose="02020603050405020304" pitchFamily="18" charset="0"/>
            </a:endParaRPr>
          </a:p>
          <a:p>
            <a:pPr>
              <a:lnSpc>
                <a:spcPct val="115000"/>
              </a:lnSpc>
              <a:spcAft>
                <a:spcPts val="800"/>
              </a:spcAft>
              <a:buNone/>
            </a:pPr>
            <a:r>
              <a:rPr lang="en-IN" sz="1200" kern="100" dirty="0">
                <a:effectLst/>
                <a:ea typeface="Aptos" panose="020B0004020202020204" pitchFamily="34" charset="0"/>
                <a:cs typeface="Times New Roman" panose="02020603050405020304" pitchFamily="18" charset="0"/>
              </a:rPr>
              <a:t>A) Selection</a:t>
            </a:r>
            <a:br>
              <a:rPr lang="en-IN" sz="1200" kern="100" dirty="0">
                <a:effectLst/>
                <a:ea typeface="Aptos" panose="020B0004020202020204" pitchFamily="34" charset="0"/>
                <a:cs typeface="Times New Roman" panose="02020603050405020304" pitchFamily="18" charset="0"/>
              </a:rPr>
            </a:br>
            <a:r>
              <a:rPr lang="en-IN" sz="1200" kern="100" dirty="0">
                <a:effectLst/>
                <a:ea typeface="Aptos" panose="020B0004020202020204" pitchFamily="34" charset="0"/>
                <a:cs typeface="Times New Roman" panose="02020603050405020304" pitchFamily="18" charset="0"/>
              </a:rPr>
              <a:t>B) Loop (Iteration)</a:t>
            </a:r>
            <a:br>
              <a:rPr lang="en-IN" sz="1200" kern="100" dirty="0">
                <a:effectLst/>
                <a:ea typeface="Aptos" panose="020B0004020202020204" pitchFamily="34" charset="0"/>
                <a:cs typeface="Times New Roman" panose="02020603050405020304" pitchFamily="18" charset="0"/>
              </a:rPr>
            </a:br>
            <a:r>
              <a:rPr lang="en-IN" sz="1200" kern="100" dirty="0">
                <a:effectLst/>
                <a:ea typeface="Aptos" panose="020B0004020202020204" pitchFamily="34" charset="0"/>
                <a:cs typeface="Times New Roman" panose="02020603050405020304" pitchFamily="18" charset="0"/>
              </a:rPr>
              <a:t>C) Function Call</a:t>
            </a:r>
            <a:br>
              <a:rPr lang="en-IN" sz="1200" kern="100" dirty="0">
                <a:effectLst/>
                <a:ea typeface="Aptos" panose="020B0004020202020204" pitchFamily="34" charset="0"/>
                <a:cs typeface="Times New Roman" panose="02020603050405020304" pitchFamily="18" charset="0"/>
              </a:rPr>
            </a:br>
            <a:r>
              <a:rPr lang="en-IN" sz="1200" kern="100" dirty="0">
                <a:effectLst/>
                <a:ea typeface="Aptos" panose="020B0004020202020204" pitchFamily="34" charset="0"/>
                <a:cs typeface="Times New Roman" panose="02020603050405020304" pitchFamily="18" charset="0"/>
              </a:rPr>
              <a:t>D) Declaration</a:t>
            </a:r>
          </a:p>
          <a:p>
            <a:pPr>
              <a:lnSpc>
                <a:spcPct val="115000"/>
              </a:lnSpc>
              <a:spcAft>
                <a:spcPts val="800"/>
              </a:spcAft>
              <a:buNone/>
            </a:pPr>
            <a:r>
              <a:rPr lang="en-IN" sz="1200" b="1" kern="100" dirty="0">
                <a:effectLst/>
                <a:ea typeface="Aptos" panose="020B0004020202020204" pitchFamily="34" charset="0"/>
                <a:cs typeface="Times New Roman" panose="02020603050405020304" pitchFamily="18" charset="0"/>
              </a:rPr>
              <a:t>Q6. Which time complexity represents the maximum time an algorithm may take for any input of size </a:t>
            </a:r>
            <a:r>
              <a:rPr lang="en-IN" sz="1200" b="1" i="1" kern="100" dirty="0">
                <a:effectLst/>
                <a:ea typeface="Aptos" panose="020B0004020202020204" pitchFamily="34" charset="0"/>
                <a:cs typeface="Times New Roman" panose="02020603050405020304" pitchFamily="18" charset="0"/>
              </a:rPr>
              <a:t>n</a:t>
            </a:r>
            <a:r>
              <a:rPr lang="en-IN" sz="1200" b="1" kern="100" dirty="0">
                <a:effectLst/>
                <a:ea typeface="Aptos" panose="020B0004020202020204" pitchFamily="34" charset="0"/>
                <a:cs typeface="Times New Roman" panose="02020603050405020304" pitchFamily="18" charset="0"/>
              </a:rPr>
              <a:t>?</a:t>
            </a:r>
            <a:endParaRPr lang="en-IN" sz="1200" kern="100" dirty="0">
              <a:effectLst/>
              <a:ea typeface="Aptos" panose="020B0004020202020204" pitchFamily="34" charset="0"/>
              <a:cs typeface="Times New Roman" panose="02020603050405020304" pitchFamily="18" charset="0"/>
            </a:endParaRPr>
          </a:p>
          <a:p>
            <a:pPr>
              <a:lnSpc>
                <a:spcPct val="115000"/>
              </a:lnSpc>
              <a:spcAft>
                <a:spcPts val="800"/>
              </a:spcAft>
              <a:buNone/>
            </a:pPr>
            <a:r>
              <a:rPr lang="en-IN" sz="1200" kern="100" dirty="0">
                <a:effectLst/>
                <a:ea typeface="Aptos" panose="020B0004020202020204" pitchFamily="34" charset="0"/>
                <a:cs typeface="Times New Roman" panose="02020603050405020304" pitchFamily="18" charset="0"/>
              </a:rPr>
              <a:t>A) Best Case</a:t>
            </a:r>
            <a:br>
              <a:rPr lang="en-IN" sz="1200" kern="100" dirty="0">
                <a:effectLst/>
                <a:ea typeface="Aptos" panose="020B0004020202020204" pitchFamily="34" charset="0"/>
                <a:cs typeface="Times New Roman" panose="02020603050405020304" pitchFamily="18" charset="0"/>
              </a:rPr>
            </a:br>
            <a:r>
              <a:rPr lang="en-IN" sz="1200" kern="100" dirty="0">
                <a:effectLst/>
                <a:ea typeface="Aptos" panose="020B0004020202020204" pitchFamily="34" charset="0"/>
                <a:cs typeface="Times New Roman" panose="02020603050405020304" pitchFamily="18" charset="0"/>
              </a:rPr>
              <a:t>B) Average Case</a:t>
            </a:r>
            <a:br>
              <a:rPr lang="en-IN" sz="1200" kern="100" dirty="0">
                <a:effectLst/>
                <a:ea typeface="Aptos" panose="020B0004020202020204" pitchFamily="34" charset="0"/>
                <a:cs typeface="Times New Roman" panose="02020603050405020304" pitchFamily="18" charset="0"/>
              </a:rPr>
            </a:br>
            <a:r>
              <a:rPr lang="en-IN" sz="1200" kern="100" dirty="0">
                <a:effectLst/>
                <a:ea typeface="Aptos" panose="020B0004020202020204" pitchFamily="34" charset="0"/>
                <a:cs typeface="Times New Roman" panose="02020603050405020304" pitchFamily="18" charset="0"/>
              </a:rPr>
              <a:t>C) Worst Case</a:t>
            </a:r>
            <a:br>
              <a:rPr lang="en-IN" sz="1200" kern="100" dirty="0">
                <a:effectLst/>
                <a:ea typeface="Aptos" panose="020B0004020202020204" pitchFamily="34" charset="0"/>
                <a:cs typeface="Times New Roman" panose="02020603050405020304" pitchFamily="18" charset="0"/>
              </a:rPr>
            </a:br>
            <a:r>
              <a:rPr lang="en-IN" sz="1200" kern="100" dirty="0">
                <a:effectLst/>
                <a:ea typeface="Aptos" panose="020B0004020202020204" pitchFamily="34" charset="0"/>
                <a:cs typeface="Times New Roman" panose="02020603050405020304" pitchFamily="18" charset="0"/>
              </a:rPr>
              <a:t>D) Amortized Case</a:t>
            </a:r>
          </a:p>
          <a:p>
            <a:pPr>
              <a:lnSpc>
                <a:spcPct val="115000"/>
              </a:lnSpc>
              <a:spcAft>
                <a:spcPts val="800"/>
              </a:spcAft>
              <a:buNone/>
            </a:pPr>
            <a:r>
              <a:rPr lang="en-IN" sz="1200" b="1" kern="100" dirty="0">
                <a:effectLst/>
                <a:ea typeface="Aptos" panose="020B0004020202020204" pitchFamily="34" charset="0"/>
                <a:cs typeface="Times New Roman" panose="02020603050405020304" pitchFamily="18" charset="0"/>
              </a:rPr>
              <a:t>Q7. Which string function returns the length of a string in C?</a:t>
            </a:r>
            <a:endParaRPr lang="en-IN" sz="1200" kern="100" dirty="0">
              <a:effectLst/>
              <a:ea typeface="Aptos" panose="020B0004020202020204" pitchFamily="34" charset="0"/>
              <a:cs typeface="Times New Roman" panose="02020603050405020304" pitchFamily="18" charset="0"/>
            </a:endParaRPr>
          </a:p>
          <a:p>
            <a:pPr>
              <a:lnSpc>
                <a:spcPct val="115000"/>
              </a:lnSpc>
              <a:spcAft>
                <a:spcPts val="800"/>
              </a:spcAft>
              <a:buNone/>
            </a:pPr>
            <a:r>
              <a:rPr lang="en-IN" sz="1200" kern="100" dirty="0">
                <a:effectLst/>
                <a:ea typeface="Aptos" panose="020B0004020202020204" pitchFamily="34" charset="0"/>
                <a:cs typeface="Times New Roman" panose="02020603050405020304" pitchFamily="18" charset="0"/>
              </a:rPr>
              <a:t>A) </a:t>
            </a:r>
            <a:r>
              <a:rPr lang="en-IN" sz="1200" kern="100" dirty="0" err="1">
                <a:effectLst/>
                <a:ea typeface="Aptos" panose="020B0004020202020204" pitchFamily="34" charset="0"/>
                <a:cs typeface="Times New Roman" panose="02020603050405020304" pitchFamily="18" charset="0"/>
              </a:rPr>
              <a:t>strcpy</a:t>
            </a:r>
            <a:r>
              <a:rPr lang="en-IN" sz="1200" kern="100" dirty="0">
                <a:effectLst/>
                <a:ea typeface="Aptos" panose="020B0004020202020204" pitchFamily="34" charset="0"/>
                <a:cs typeface="Times New Roman" panose="02020603050405020304" pitchFamily="18" charset="0"/>
              </a:rPr>
              <a:t>()</a:t>
            </a:r>
            <a:br>
              <a:rPr lang="en-IN" sz="1200" kern="100" dirty="0">
                <a:effectLst/>
                <a:ea typeface="Aptos" panose="020B0004020202020204" pitchFamily="34" charset="0"/>
                <a:cs typeface="Times New Roman" panose="02020603050405020304" pitchFamily="18" charset="0"/>
              </a:rPr>
            </a:br>
            <a:r>
              <a:rPr lang="en-IN" sz="1200" kern="100" dirty="0">
                <a:effectLst/>
                <a:ea typeface="Aptos" panose="020B0004020202020204" pitchFamily="34" charset="0"/>
                <a:cs typeface="Times New Roman" panose="02020603050405020304" pitchFamily="18" charset="0"/>
              </a:rPr>
              <a:t>B) </a:t>
            </a:r>
            <a:r>
              <a:rPr lang="en-IN" sz="1200" kern="100" dirty="0" err="1">
                <a:effectLst/>
                <a:ea typeface="Aptos" panose="020B0004020202020204" pitchFamily="34" charset="0"/>
                <a:cs typeface="Times New Roman" panose="02020603050405020304" pitchFamily="18" charset="0"/>
              </a:rPr>
              <a:t>strcmp</a:t>
            </a:r>
            <a:r>
              <a:rPr lang="en-IN" sz="1200" kern="100" dirty="0">
                <a:effectLst/>
                <a:ea typeface="Aptos" panose="020B0004020202020204" pitchFamily="34" charset="0"/>
                <a:cs typeface="Times New Roman" panose="02020603050405020304" pitchFamily="18" charset="0"/>
              </a:rPr>
              <a:t>()</a:t>
            </a:r>
            <a:br>
              <a:rPr lang="en-IN" sz="1200" kern="100" dirty="0">
                <a:effectLst/>
                <a:ea typeface="Aptos" panose="020B0004020202020204" pitchFamily="34" charset="0"/>
                <a:cs typeface="Times New Roman" panose="02020603050405020304" pitchFamily="18" charset="0"/>
              </a:rPr>
            </a:br>
            <a:r>
              <a:rPr lang="en-IN" sz="1200" kern="100" dirty="0">
                <a:effectLst/>
                <a:ea typeface="Aptos" panose="020B0004020202020204" pitchFamily="34" charset="0"/>
                <a:cs typeface="Times New Roman" panose="02020603050405020304" pitchFamily="18" charset="0"/>
              </a:rPr>
              <a:t>C) </a:t>
            </a:r>
            <a:r>
              <a:rPr lang="en-IN" sz="1200" kern="100" dirty="0" err="1">
                <a:effectLst/>
                <a:ea typeface="Aptos" panose="020B0004020202020204" pitchFamily="34" charset="0"/>
                <a:cs typeface="Times New Roman" panose="02020603050405020304" pitchFamily="18" charset="0"/>
              </a:rPr>
              <a:t>strlen</a:t>
            </a:r>
            <a:r>
              <a:rPr lang="en-IN" sz="1200" kern="100" dirty="0">
                <a:effectLst/>
                <a:ea typeface="Aptos" panose="020B0004020202020204" pitchFamily="34" charset="0"/>
                <a:cs typeface="Times New Roman" panose="02020603050405020304" pitchFamily="18" charset="0"/>
              </a:rPr>
              <a:t>()</a:t>
            </a:r>
            <a:br>
              <a:rPr lang="en-IN" sz="1200" kern="100" dirty="0">
                <a:effectLst/>
                <a:ea typeface="Aptos" panose="020B0004020202020204" pitchFamily="34" charset="0"/>
                <a:cs typeface="Times New Roman" panose="02020603050405020304" pitchFamily="18" charset="0"/>
              </a:rPr>
            </a:br>
            <a:r>
              <a:rPr lang="en-IN" sz="1200" kern="100" dirty="0">
                <a:effectLst/>
                <a:ea typeface="Aptos" panose="020B0004020202020204" pitchFamily="34" charset="0"/>
                <a:cs typeface="Times New Roman" panose="02020603050405020304" pitchFamily="18" charset="0"/>
              </a:rPr>
              <a:t>D) </a:t>
            </a:r>
            <a:r>
              <a:rPr lang="en-IN" sz="1200" kern="100" dirty="0" err="1">
                <a:effectLst/>
                <a:ea typeface="Aptos" panose="020B0004020202020204" pitchFamily="34" charset="0"/>
                <a:cs typeface="Times New Roman" panose="02020603050405020304" pitchFamily="18" charset="0"/>
              </a:rPr>
              <a:t>strcat</a:t>
            </a:r>
            <a:r>
              <a:rPr lang="en-IN" sz="1200" kern="100" dirty="0">
                <a:effectLst/>
                <a:ea typeface="Aptos" panose="020B0004020202020204" pitchFamily="34" charset="0"/>
                <a:cs typeface="Times New Roman" panose="02020603050405020304" pitchFamily="18" charset="0"/>
              </a:rPr>
              <a:t>()</a:t>
            </a:r>
          </a:p>
          <a:p>
            <a:pPr>
              <a:lnSpc>
                <a:spcPct val="115000"/>
              </a:lnSpc>
              <a:spcAft>
                <a:spcPts val="800"/>
              </a:spcAft>
              <a:buNone/>
            </a:pPr>
            <a:r>
              <a:rPr lang="en-IN" sz="1200" b="1" kern="100" dirty="0">
                <a:effectLst/>
                <a:ea typeface="Aptos" panose="020B0004020202020204" pitchFamily="34" charset="0"/>
                <a:cs typeface="Times New Roman" panose="02020603050405020304" pitchFamily="18" charset="0"/>
              </a:rPr>
              <a:t>Q8. Which bitwise operator is used to perform the AND operation?</a:t>
            </a:r>
            <a:endParaRPr lang="en-IN" sz="1200" kern="100" dirty="0">
              <a:effectLst/>
              <a:ea typeface="Aptos" panose="020B0004020202020204" pitchFamily="34" charset="0"/>
              <a:cs typeface="Times New Roman" panose="02020603050405020304" pitchFamily="18" charset="0"/>
            </a:endParaRPr>
          </a:p>
          <a:p>
            <a:pPr>
              <a:lnSpc>
                <a:spcPct val="115000"/>
              </a:lnSpc>
              <a:spcAft>
                <a:spcPts val="800"/>
              </a:spcAft>
              <a:buNone/>
            </a:pPr>
            <a:r>
              <a:rPr lang="en-IN" sz="1200" kern="100" dirty="0">
                <a:effectLst/>
                <a:ea typeface="Aptos" panose="020B0004020202020204" pitchFamily="34" charset="0"/>
                <a:cs typeface="Times New Roman" panose="02020603050405020304" pitchFamily="18" charset="0"/>
              </a:rPr>
              <a:t>A) |</a:t>
            </a:r>
            <a:br>
              <a:rPr lang="en-IN" sz="1200" kern="100" dirty="0">
                <a:effectLst/>
                <a:ea typeface="Aptos" panose="020B0004020202020204" pitchFamily="34" charset="0"/>
                <a:cs typeface="Times New Roman" panose="02020603050405020304" pitchFamily="18" charset="0"/>
              </a:rPr>
            </a:br>
            <a:r>
              <a:rPr lang="en-IN" sz="1200" kern="100" dirty="0">
                <a:effectLst/>
                <a:ea typeface="Aptos" panose="020B0004020202020204" pitchFamily="34" charset="0"/>
                <a:cs typeface="Times New Roman" panose="02020603050405020304" pitchFamily="18" charset="0"/>
              </a:rPr>
              <a:t>B) &amp;</a:t>
            </a:r>
            <a:br>
              <a:rPr lang="en-IN" sz="1200" kern="100" dirty="0">
                <a:effectLst/>
                <a:ea typeface="Aptos" panose="020B0004020202020204" pitchFamily="34" charset="0"/>
                <a:cs typeface="Times New Roman" panose="02020603050405020304" pitchFamily="18" charset="0"/>
              </a:rPr>
            </a:br>
            <a:r>
              <a:rPr lang="en-IN" sz="1200" kern="100" dirty="0">
                <a:effectLst/>
                <a:ea typeface="Aptos" panose="020B0004020202020204" pitchFamily="34" charset="0"/>
                <a:cs typeface="Times New Roman" panose="02020603050405020304" pitchFamily="18" charset="0"/>
              </a:rPr>
              <a:t>C) ^</a:t>
            </a:r>
            <a:br>
              <a:rPr lang="en-IN" sz="1200" kern="100" dirty="0">
                <a:effectLst/>
                <a:ea typeface="Aptos" panose="020B0004020202020204" pitchFamily="34" charset="0"/>
                <a:cs typeface="Times New Roman" panose="02020603050405020304" pitchFamily="18" charset="0"/>
              </a:rPr>
            </a:br>
            <a:r>
              <a:rPr lang="en-IN" sz="1200" kern="100" dirty="0">
                <a:effectLst/>
                <a:ea typeface="Aptos" panose="020B0004020202020204" pitchFamily="34" charset="0"/>
                <a:cs typeface="Times New Roman" panose="02020603050405020304" pitchFamily="18" charset="0"/>
              </a:rPr>
              <a:t>D) ~</a:t>
            </a:r>
          </a:p>
          <a:p>
            <a:pPr>
              <a:lnSpc>
                <a:spcPct val="115000"/>
              </a:lnSpc>
              <a:spcAft>
                <a:spcPts val="800"/>
              </a:spcAft>
              <a:buNone/>
            </a:pPr>
            <a:endParaRPr lang="en-IN"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692273604"/>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9727A-7FD0-545D-14D6-4671720CC7F4}"/>
              </a:ext>
            </a:extLst>
          </p:cNvPr>
          <p:cNvSpPr>
            <a:spLocks noGrp="1"/>
          </p:cNvSpPr>
          <p:nvPr>
            <p:ph type="title"/>
          </p:nvPr>
        </p:nvSpPr>
        <p:spPr/>
        <p:txBody>
          <a:bodyPr/>
          <a:lstStyle/>
          <a:p>
            <a:r>
              <a:rPr lang="en-US" dirty="0"/>
              <a:t>Check</a:t>
            </a:r>
            <a:endParaRPr lang="en-IN" dirty="0"/>
          </a:p>
        </p:txBody>
      </p:sp>
      <p:sp>
        <p:nvSpPr>
          <p:cNvPr id="3" name="Content Placeholder 2">
            <a:extLst>
              <a:ext uri="{FF2B5EF4-FFF2-40B4-BE49-F238E27FC236}">
                <a16:creationId xmlns:a16="http://schemas.microsoft.com/office/drawing/2014/main" id="{406C78F6-30EE-1319-E08F-77C6F2C0F210}"/>
              </a:ext>
            </a:extLst>
          </p:cNvPr>
          <p:cNvSpPr>
            <a:spLocks noGrp="1"/>
          </p:cNvSpPr>
          <p:nvPr>
            <p:ph idx="1"/>
          </p:nvPr>
        </p:nvSpPr>
        <p:spPr>
          <a:xfrm>
            <a:off x="228600" y="714657"/>
            <a:ext cx="12086734" cy="3208955"/>
          </a:xfrm>
          <a:noFill/>
        </p:spPr>
        <p:txBody>
          <a:bodyPr wrap="square">
            <a:spAutoFit/>
          </a:bodyPr>
          <a:lstStyle/>
          <a:p>
            <a:pPr>
              <a:lnSpc>
                <a:spcPct val="115000"/>
              </a:lnSpc>
              <a:spcBef>
                <a:spcPct val="0"/>
              </a:spcBef>
              <a:spcAft>
                <a:spcPts val="800"/>
              </a:spcAft>
              <a:buNone/>
            </a:pPr>
            <a:r>
              <a:rPr lang="en-IN" sz="1600" b="1" kern="100" dirty="0">
                <a:solidFill>
                  <a:schemeClr val="tx1"/>
                </a:solidFill>
                <a:ea typeface="Aptos" panose="020B0004020202020204" pitchFamily="34" charset="0"/>
              </a:rPr>
              <a:t>Q9. What is the result of the expression 5 &lt;&lt; 1?</a:t>
            </a:r>
          </a:p>
          <a:p>
            <a:pPr>
              <a:lnSpc>
                <a:spcPct val="115000"/>
              </a:lnSpc>
              <a:spcBef>
                <a:spcPct val="0"/>
              </a:spcBef>
              <a:spcAft>
                <a:spcPts val="800"/>
              </a:spcAft>
              <a:buNone/>
            </a:pPr>
            <a:r>
              <a:rPr lang="en-IN" sz="1600" b="1" kern="100" dirty="0">
                <a:solidFill>
                  <a:schemeClr val="tx1"/>
                </a:solidFill>
                <a:ea typeface="Aptos" panose="020B0004020202020204" pitchFamily="34" charset="0"/>
              </a:rPr>
              <a:t>  A) 2</a:t>
            </a:r>
            <a:br>
              <a:rPr lang="en-IN" sz="1600" b="1" kern="100" dirty="0">
                <a:solidFill>
                  <a:schemeClr val="tx1"/>
                </a:solidFill>
                <a:ea typeface="Aptos" panose="020B0004020202020204" pitchFamily="34" charset="0"/>
              </a:rPr>
            </a:br>
            <a:r>
              <a:rPr lang="en-IN" sz="1600" b="1" kern="100" dirty="0">
                <a:solidFill>
                  <a:schemeClr val="tx1"/>
                </a:solidFill>
                <a:ea typeface="Aptos" panose="020B0004020202020204" pitchFamily="34" charset="0"/>
              </a:rPr>
              <a:t>B) 5</a:t>
            </a:r>
            <a:br>
              <a:rPr lang="en-IN" sz="1600" b="1" kern="100" dirty="0">
                <a:solidFill>
                  <a:schemeClr val="tx1"/>
                </a:solidFill>
                <a:ea typeface="Aptos" panose="020B0004020202020204" pitchFamily="34" charset="0"/>
              </a:rPr>
            </a:br>
            <a:r>
              <a:rPr lang="en-IN" sz="1600" b="1" kern="100" dirty="0">
                <a:solidFill>
                  <a:schemeClr val="tx1"/>
                </a:solidFill>
                <a:ea typeface="Aptos" panose="020B0004020202020204" pitchFamily="34" charset="0"/>
              </a:rPr>
              <a:t>C) 10</a:t>
            </a:r>
            <a:br>
              <a:rPr lang="en-IN" sz="1600" b="1" kern="100" dirty="0">
                <a:solidFill>
                  <a:schemeClr val="tx1"/>
                </a:solidFill>
                <a:ea typeface="Aptos" panose="020B0004020202020204" pitchFamily="34" charset="0"/>
              </a:rPr>
            </a:br>
            <a:r>
              <a:rPr lang="en-IN" sz="1600" b="1" kern="100" dirty="0">
                <a:solidFill>
                  <a:schemeClr val="tx1"/>
                </a:solidFill>
                <a:ea typeface="Aptos" panose="020B0004020202020204" pitchFamily="34" charset="0"/>
              </a:rPr>
              <a:t>D) 20</a:t>
            </a:r>
          </a:p>
          <a:p>
            <a:pPr>
              <a:lnSpc>
                <a:spcPct val="115000"/>
              </a:lnSpc>
              <a:spcBef>
                <a:spcPct val="0"/>
              </a:spcBef>
              <a:spcAft>
                <a:spcPts val="800"/>
              </a:spcAft>
              <a:buNone/>
            </a:pPr>
            <a:r>
              <a:rPr lang="en-IN" sz="1600" b="1" kern="100" dirty="0">
                <a:solidFill>
                  <a:schemeClr val="tx1"/>
                </a:solidFill>
                <a:ea typeface="Aptos" panose="020B0004020202020204" pitchFamily="34" charset="0"/>
              </a:rPr>
              <a:t>Q10. Which bitwise operator is used to toggle specific bits of a number?</a:t>
            </a:r>
          </a:p>
          <a:p>
            <a:pPr>
              <a:lnSpc>
                <a:spcPct val="115000"/>
              </a:lnSpc>
              <a:spcBef>
                <a:spcPct val="0"/>
              </a:spcBef>
              <a:spcAft>
                <a:spcPts val="800"/>
              </a:spcAft>
              <a:buNone/>
            </a:pPr>
            <a:r>
              <a:rPr lang="en-IN" sz="1600" b="1" kern="100" dirty="0">
                <a:solidFill>
                  <a:schemeClr val="tx1"/>
                </a:solidFill>
                <a:ea typeface="Aptos" panose="020B0004020202020204" pitchFamily="34" charset="0"/>
              </a:rPr>
              <a:t>  A) &amp;</a:t>
            </a:r>
            <a:br>
              <a:rPr lang="en-IN" sz="1600" b="1" kern="100" dirty="0">
                <a:solidFill>
                  <a:schemeClr val="tx1"/>
                </a:solidFill>
                <a:ea typeface="Aptos" panose="020B0004020202020204" pitchFamily="34" charset="0"/>
              </a:rPr>
            </a:br>
            <a:r>
              <a:rPr lang="en-IN" sz="1600" b="1" kern="100" dirty="0">
                <a:solidFill>
                  <a:schemeClr val="tx1"/>
                </a:solidFill>
                <a:ea typeface="Aptos" panose="020B0004020202020204" pitchFamily="34" charset="0"/>
              </a:rPr>
              <a:t>B) |</a:t>
            </a:r>
            <a:br>
              <a:rPr lang="en-IN" sz="1600" b="1" kern="100" dirty="0">
                <a:solidFill>
                  <a:schemeClr val="tx1"/>
                </a:solidFill>
                <a:ea typeface="Aptos" panose="020B0004020202020204" pitchFamily="34" charset="0"/>
              </a:rPr>
            </a:br>
            <a:r>
              <a:rPr lang="en-IN" sz="1600" b="1" kern="100" dirty="0">
                <a:solidFill>
                  <a:schemeClr val="tx1"/>
                </a:solidFill>
                <a:ea typeface="Aptos" panose="020B0004020202020204" pitchFamily="34" charset="0"/>
              </a:rPr>
              <a:t>C) ^</a:t>
            </a:r>
            <a:br>
              <a:rPr lang="en-IN" sz="1600" b="1" kern="100" dirty="0">
                <a:solidFill>
                  <a:schemeClr val="tx1"/>
                </a:solidFill>
                <a:ea typeface="Aptos" panose="020B0004020202020204" pitchFamily="34" charset="0"/>
              </a:rPr>
            </a:br>
            <a:r>
              <a:rPr lang="en-IN" sz="1600" b="1" kern="100" dirty="0">
                <a:solidFill>
                  <a:schemeClr val="tx1"/>
                </a:solidFill>
                <a:ea typeface="Aptos" panose="020B0004020202020204" pitchFamily="34" charset="0"/>
              </a:rPr>
              <a:t>D) &gt;&gt;</a:t>
            </a:r>
          </a:p>
        </p:txBody>
      </p:sp>
      <p:sp>
        <p:nvSpPr>
          <p:cNvPr id="5" name="TextBox 4">
            <a:extLst>
              <a:ext uri="{FF2B5EF4-FFF2-40B4-BE49-F238E27FC236}">
                <a16:creationId xmlns:a16="http://schemas.microsoft.com/office/drawing/2014/main" id="{6F0E130B-857E-B796-9880-83E2A7A6278B}"/>
              </a:ext>
            </a:extLst>
          </p:cNvPr>
          <p:cNvSpPr txBox="1"/>
          <p:nvPr/>
        </p:nvSpPr>
        <p:spPr>
          <a:xfrm>
            <a:off x="6553200" y="838200"/>
            <a:ext cx="5486400" cy="4154984"/>
          </a:xfrm>
          <a:prstGeom prst="rect">
            <a:avLst/>
          </a:prstGeom>
          <a:noFill/>
        </p:spPr>
        <p:txBody>
          <a:bodyPr wrap="square">
            <a:spAutoFit/>
          </a:bodyPr>
          <a:lstStyle/>
          <a:p>
            <a:pPr>
              <a:buNone/>
            </a:pPr>
            <a:r>
              <a:rPr lang="en-IN" b="1" dirty="0"/>
              <a:t>Answer Key</a:t>
            </a:r>
          </a:p>
          <a:p>
            <a:pPr>
              <a:buFont typeface="+mj-lt"/>
              <a:buAutoNum type="arabicPeriod"/>
            </a:pPr>
            <a:r>
              <a:rPr lang="en-IN" b="1" dirty="0"/>
              <a:t>B</a:t>
            </a:r>
            <a:r>
              <a:rPr lang="en-IN" dirty="0"/>
              <a:t> – To organize and store data efficiently </a:t>
            </a:r>
          </a:p>
          <a:p>
            <a:pPr>
              <a:buFont typeface="+mj-lt"/>
              <a:buAutoNum type="arabicPeriod"/>
            </a:pPr>
            <a:r>
              <a:rPr lang="en-IN" b="1" dirty="0"/>
              <a:t>C</a:t>
            </a:r>
            <a:r>
              <a:rPr lang="en-IN" dirty="0"/>
              <a:t> – Stack </a:t>
            </a:r>
          </a:p>
          <a:p>
            <a:pPr>
              <a:buFont typeface="+mj-lt"/>
              <a:buAutoNum type="arabicPeriod"/>
            </a:pPr>
            <a:r>
              <a:rPr lang="en-IN" b="1" dirty="0"/>
              <a:t>D</a:t>
            </a:r>
            <a:r>
              <a:rPr lang="en-IN" dirty="0"/>
              <a:t> – Tree </a:t>
            </a:r>
          </a:p>
          <a:p>
            <a:pPr>
              <a:buFont typeface="+mj-lt"/>
              <a:buAutoNum type="arabicPeriod"/>
            </a:pPr>
            <a:r>
              <a:rPr lang="en-IN" b="1" dirty="0"/>
              <a:t>B</a:t>
            </a:r>
            <a:r>
              <a:rPr lang="en-IN" dirty="0"/>
              <a:t> – Traversing </a:t>
            </a:r>
          </a:p>
          <a:p>
            <a:pPr>
              <a:buFont typeface="+mj-lt"/>
              <a:buAutoNum type="arabicPeriod"/>
            </a:pPr>
            <a:r>
              <a:rPr lang="en-IN" b="1" dirty="0"/>
              <a:t>B</a:t>
            </a:r>
            <a:r>
              <a:rPr lang="en-IN" dirty="0"/>
              <a:t> – Loop (Iteration) </a:t>
            </a:r>
          </a:p>
          <a:p>
            <a:pPr>
              <a:buFont typeface="+mj-lt"/>
              <a:buAutoNum type="arabicPeriod"/>
            </a:pPr>
            <a:r>
              <a:rPr lang="en-IN" b="1" dirty="0"/>
              <a:t>C</a:t>
            </a:r>
            <a:r>
              <a:rPr lang="en-IN" dirty="0"/>
              <a:t> – Worst Case </a:t>
            </a:r>
          </a:p>
          <a:p>
            <a:pPr>
              <a:buFont typeface="+mj-lt"/>
              <a:buAutoNum type="arabicPeriod"/>
            </a:pPr>
            <a:r>
              <a:rPr lang="en-IN" b="1" dirty="0"/>
              <a:t>C</a:t>
            </a:r>
            <a:r>
              <a:rPr lang="en-IN" dirty="0"/>
              <a:t> – </a:t>
            </a:r>
            <a:r>
              <a:rPr lang="en-IN" dirty="0" err="1">
                <a:latin typeface="Courier New" panose="02070309020205020404" pitchFamily="49" charset="0"/>
              </a:rPr>
              <a:t>strlen</a:t>
            </a:r>
            <a:r>
              <a:rPr lang="en-IN" dirty="0">
                <a:latin typeface="Courier New" panose="02070309020205020404" pitchFamily="49" charset="0"/>
              </a:rPr>
              <a:t>()</a:t>
            </a:r>
            <a:r>
              <a:rPr lang="en-IN" dirty="0"/>
              <a:t> </a:t>
            </a:r>
          </a:p>
          <a:p>
            <a:pPr>
              <a:buFont typeface="+mj-lt"/>
              <a:buAutoNum type="arabicPeriod"/>
            </a:pPr>
            <a:r>
              <a:rPr lang="en-IN" b="1" dirty="0"/>
              <a:t>B</a:t>
            </a:r>
            <a:r>
              <a:rPr lang="en-IN" dirty="0"/>
              <a:t> – </a:t>
            </a:r>
            <a:r>
              <a:rPr lang="en-IN" dirty="0">
                <a:latin typeface="Courier New" panose="02070309020205020404" pitchFamily="49" charset="0"/>
              </a:rPr>
              <a:t>&amp;</a:t>
            </a:r>
            <a:r>
              <a:rPr lang="en-IN" dirty="0"/>
              <a:t> </a:t>
            </a:r>
          </a:p>
          <a:p>
            <a:pPr>
              <a:buFont typeface="+mj-lt"/>
              <a:buAutoNum type="arabicPeriod"/>
            </a:pPr>
            <a:r>
              <a:rPr lang="en-IN" b="1" dirty="0"/>
              <a:t>C</a:t>
            </a:r>
            <a:r>
              <a:rPr lang="en-IN" dirty="0"/>
              <a:t> – 10 </a:t>
            </a:r>
          </a:p>
          <a:p>
            <a:pPr>
              <a:buFont typeface="+mj-lt"/>
              <a:buAutoNum type="arabicPeriod"/>
            </a:pPr>
            <a:r>
              <a:rPr lang="en-IN" b="1" dirty="0"/>
              <a:t>C</a:t>
            </a:r>
            <a:r>
              <a:rPr lang="en-IN" dirty="0"/>
              <a:t> – </a:t>
            </a:r>
            <a:r>
              <a:rPr lang="en-IN" dirty="0">
                <a:latin typeface="Courier New" panose="02070309020205020404" pitchFamily="49" charset="0"/>
              </a:rPr>
              <a:t>^</a:t>
            </a:r>
            <a:endParaRPr lang="en-IN" dirty="0"/>
          </a:p>
        </p:txBody>
      </p:sp>
    </p:spTree>
    <p:extLst>
      <p:ext uri="{BB962C8B-B14F-4D97-AF65-F5344CB8AC3E}">
        <p14:creationId xmlns:p14="http://schemas.microsoft.com/office/powerpoint/2010/main" val="2502354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42DE4-CF0D-B954-89AB-E7807C6D3142}"/>
              </a:ext>
            </a:extLst>
          </p:cNvPr>
          <p:cNvSpPr>
            <a:spLocks noGrp="1"/>
          </p:cNvSpPr>
          <p:nvPr>
            <p:ph type="title"/>
          </p:nvPr>
        </p:nvSpPr>
        <p:spPr/>
        <p:txBody>
          <a:bodyPr/>
          <a:lstStyle/>
          <a:p>
            <a:r>
              <a:rPr lang="en-US" dirty="0"/>
              <a:t>Check</a:t>
            </a:r>
            <a:endParaRPr lang="en-IN" dirty="0"/>
          </a:p>
        </p:txBody>
      </p:sp>
      <p:sp>
        <p:nvSpPr>
          <p:cNvPr id="3" name="Content Placeholder 2">
            <a:extLst>
              <a:ext uri="{FF2B5EF4-FFF2-40B4-BE49-F238E27FC236}">
                <a16:creationId xmlns:a16="http://schemas.microsoft.com/office/drawing/2014/main" id="{A097FA60-9ED8-5777-856E-10FD504BF0B0}"/>
              </a:ext>
            </a:extLst>
          </p:cNvPr>
          <p:cNvSpPr>
            <a:spLocks noGrp="1"/>
          </p:cNvSpPr>
          <p:nvPr>
            <p:ph idx="1"/>
          </p:nvPr>
        </p:nvSpPr>
        <p:spPr>
          <a:xfrm>
            <a:off x="29066" y="862577"/>
            <a:ext cx="2104534" cy="5428686"/>
          </a:xfrm>
        </p:spPr>
        <p:txBody>
          <a:bodyPr/>
          <a:lstStyle/>
          <a:p>
            <a:r>
              <a:rPr lang="pt-BR" dirty="0"/>
              <a:t>A = 12 (1100)</a:t>
            </a:r>
          </a:p>
          <a:p>
            <a:r>
              <a:rPr lang="pt-BR" dirty="0"/>
              <a:t>B = 10 (1010)</a:t>
            </a:r>
          </a:p>
          <a:p>
            <a:r>
              <a:rPr lang="pt-BR" dirty="0"/>
              <a:t>Calculate</a:t>
            </a:r>
          </a:p>
          <a:p>
            <a:r>
              <a:rPr lang="en-IN" dirty="0"/>
              <a:t>A &amp; B </a:t>
            </a:r>
          </a:p>
          <a:p>
            <a:r>
              <a:rPr lang="en-IN" dirty="0"/>
              <a:t>A | B </a:t>
            </a:r>
          </a:p>
          <a:p>
            <a:r>
              <a:rPr lang="en-IN" dirty="0"/>
              <a:t>A ^ B </a:t>
            </a:r>
          </a:p>
          <a:p>
            <a:r>
              <a:rPr lang="en-IN" dirty="0"/>
              <a:t>A &lt;&lt; 1 </a:t>
            </a:r>
          </a:p>
          <a:p>
            <a:r>
              <a:rPr lang="en-IN" dirty="0"/>
              <a:t>A &gt;&gt; 1</a:t>
            </a:r>
          </a:p>
        </p:txBody>
      </p:sp>
      <p:sp>
        <p:nvSpPr>
          <p:cNvPr id="5" name="TextBox 4">
            <a:extLst>
              <a:ext uri="{FF2B5EF4-FFF2-40B4-BE49-F238E27FC236}">
                <a16:creationId xmlns:a16="http://schemas.microsoft.com/office/drawing/2014/main" id="{C86310AB-128C-0E10-5709-A8E10F238933}"/>
              </a:ext>
            </a:extLst>
          </p:cNvPr>
          <p:cNvSpPr txBox="1"/>
          <p:nvPr/>
        </p:nvSpPr>
        <p:spPr>
          <a:xfrm>
            <a:off x="2924666" y="862577"/>
            <a:ext cx="2104534" cy="1569660"/>
          </a:xfrm>
          <a:prstGeom prst="rect">
            <a:avLst/>
          </a:prstGeom>
          <a:noFill/>
        </p:spPr>
        <p:txBody>
          <a:bodyPr wrap="square">
            <a:spAutoFit/>
          </a:bodyPr>
          <a:lstStyle/>
          <a:p>
            <a:r>
              <a:rPr lang="en-IN" dirty="0"/>
              <a:t>     1100   (12)</a:t>
            </a:r>
          </a:p>
          <a:p>
            <a:r>
              <a:rPr lang="en-IN" dirty="0"/>
              <a:t>&amp;  1010   (10)</a:t>
            </a:r>
          </a:p>
          <a:p>
            <a:r>
              <a:rPr lang="en-IN" dirty="0"/>
              <a:t>      ---------</a:t>
            </a:r>
          </a:p>
          <a:p>
            <a:r>
              <a:rPr lang="en-IN" dirty="0"/>
              <a:t>     1000   (8)</a:t>
            </a:r>
          </a:p>
        </p:txBody>
      </p:sp>
      <p:sp>
        <p:nvSpPr>
          <p:cNvPr id="7" name="TextBox 6">
            <a:extLst>
              <a:ext uri="{FF2B5EF4-FFF2-40B4-BE49-F238E27FC236}">
                <a16:creationId xmlns:a16="http://schemas.microsoft.com/office/drawing/2014/main" id="{E6F410CE-56A2-0A80-4FA8-C53BD9353E25}"/>
              </a:ext>
            </a:extLst>
          </p:cNvPr>
          <p:cNvSpPr txBox="1"/>
          <p:nvPr/>
        </p:nvSpPr>
        <p:spPr>
          <a:xfrm>
            <a:off x="6073140" y="881874"/>
            <a:ext cx="1600200" cy="1569660"/>
          </a:xfrm>
          <a:prstGeom prst="rect">
            <a:avLst/>
          </a:prstGeom>
          <a:noFill/>
        </p:spPr>
        <p:txBody>
          <a:bodyPr wrap="square">
            <a:spAutoFit/>
          </a:bodyPr>
          <a:lstStyle/>
          <a:p>
            <a:r>
              <a:rPr lang="en-IN" dirty="0"/>
              <a:t>  1100 (12) </a:t>
            </a:r>
          </a:p>
          <a:p>
            <a:r>
              <a:rPr lang="en-IN" dirty="0"/>
              <a:t>| 1010 (10) </a:t>
            </a:r>
          </a:p>
          <a:p>
            <a:r>
              <a:rPr lang="en-IN" dirty="0"/>
              <a:t>--------- </a:t>
            </a:r>
          </a:p>
          <a:p>
            <a:r>
              <a:rPr lang="en-IN" dirty="0"/>
              <a:t>  1110 (14)</a:t>
            </a:r>
          </a:p>
        </p:txBody>
      </p:sp>
      <p:sp>
        <p:nvSpPr>
          <p:cNvPr id="9" name="TextBox 8">
            <a:extLst>
              <a:ext uri="{FF2B5EF4-FFF2-40B4-BE49-F238E27FC236}">
                <a16:creationId xmlns:a16="http://schemas.microsoft.com/office/drawing/2014/main" id="{58C509AF-C752-22F9-65DE-30B1C8F744E1}"/>
              </a:ext>
            </a:extLst>
          </p:cNvPr>
          <p:cNvSpPr txBox="1"/>
          <p:nvPr/>
        </p:nvSpPr>
        <p:spPr>
          <a:xfrm>
            <a:off x="8839200" y="862577"/>
            <a:ext cx="1887220" cy="1569660"/>
          </a:xfrm>
          <a:prstGeom prst="rect">
            <a:avLst/>
          </a:prstGeom>
          <a:noFill/>
        </p:spPr>
        <p:txBody>
          <a:bodyPr wrap="square">
            <a:spAutoFit/>
          </a:bodyPr>
          <a:lstStyle/>
          <a:p>
            <a:r>
              <a:rPr lang="en-IN" dirty="0"/>
              <a:t>    1100   (12)</a:t>
            </a:r>
          </a:p>
          <a:p>
            <a:r>
              <a:rPr lang="en-IN" dirty="0"/>
              <a:t>^  1010   (10)</a:t>
            </a:r>
          </a:p>
          <a:p>
            <a:r>
              <a:rPr lang="en-IN" dirty="0"/>
              <a:t>---------</a:t>
            </a:r>
          </a:p>
          <a:p>
            <a:r>
              <a:rPr lang="en-IN" dirty="0"/>
              <a:t>    0110   (6)</a:t>
            </a:r>
          </a:p>
        </p:txBody>
      </p:sp>
      <p:sp>
        <p:nvSpPr>
          <p:cNvPr id="11" name="TextBox 10">
            <a:extLst>
              <a:ext uri="{FF2B5EF4-FFF2-40B4-BE49-F238E27FC236}">
                <a16:creationId xmlns:a16="http://schemas.microsoft.com/office/drawing/2014/main" id="{5D8A441B-C5B3-1568-2076-2BDC90FDDCB2}"/>
              </a:ext>
            </a:extLst>
          </p:cNvPr>
          <p:cNvSpPr txBox="1"/>
          <p:nvPr/>
        </p:nvSpPr>
        <p:spPr>
          <a:xfrm>
            <a:off x="4343400" y="3429000"/>
            <a:ext cx="2209800" cy="1569660"/>
          </a:xfrm>
          <a:prstGeom prst="rect">
            <a:avLst/>
          </a:prstGeom>
          <a:noFill/>
        </p:spPr>
        <p:txBody>
          <a:bodyPr wrap="square">
            <a:spAutoFit/>
          </a:bodyPr>
          <a:lstStyle/>
          <a:p>
            <a:r>
              <a:rPr lang="en-IN" dirty="0"/>
              <a:t> 1100   (12)</a:t>
            </a:r>
          </a:p>
          <a:p>
            <a:r>
              <a:rPr lang="en-IN" dirty="0"/>
              <a:t>&lt;&lt; 1</a:t>
            </a:r>
          </a:p>
          <a:p>
            <a:r>
              <a:rPr lang="en-IN" dirty="0"/>
              <a:t>---------</a:t>
            </a:r>
          </a:p>
          <a:p>
            <a:r>
              <a:rPr lang="en-IN" dirty="0"/>
              <a:t>  11000   (24)</a:t>
            </a:r>
          </a:p>
        </p:txBody>
      </p:sp>
      <p:sp>
        <p:nvSpPr>
          <p:cNvPr id="13" name="TextBox 12">
            <a:extLst>
              <a:ext uri="{FF2B5EF4-FFF2-40B4-BE49-F238E27FC236}">
                <a16:creationId xmlns:a16="http://schemas.microsoft.com/office/drawing/2014/main" id="{FC7EBB5B-C66E-6211-D11A-8B3E4E55772B}"/>
              </a:ext>
            </a:extLst>
          </p:cNvPr>
          <p:cNvSpPr txBox="1"/>
          <p:nvPr/>
        </p:nvSpPr>
        <p:spPr>
          <a:xfrm>
            <a:off x="7630160" y="3403600"/>
            <a:ext cx="1887220" cy="1569660"/>
          </a:xfrm>
          <a:prstGeom prst="rect">
            <a:avLst/>
          </a:prstGeom>
          <a:noFill/>
        </p:spPr>
        <p:txBody>
          <a:bodyPr wrap="square">
            <a:spAutoFit/>
          </a:bodyPr>
          <a:lstStyle/>
          <a:p>
            <a:r>
              <a:rPr lang="en-IN" dirty="0"/>
              <a:t> 1100   (12)</a:t>
            </a:r>
          </a:p>
          <a:p>
            <a:r>
              <a:rPr lang="en-IN" dirty="0"/>
              <a:t>&gt;&gt; 1</a:t>
            </a:r>
          </a:p>
          <a:p>
            <a:r>
              <a:rPr lang="en-IN" dirty="0"/>
              <a:t>---------</a:t>
            </a:r>
          </a:p>
          <a:p>
            <a:r>
              <a:rPr lang="en-IN" dirty="0"/>
              <a:t>   0110   (6)</a:t>
            </a:r>
          </a:p>
        </p:txBody>
      </p:sp>
    </p:spTree>
    <p:extLst>
      <p:ext uri="{BB962C8B-B14F-4D97-AF65-F5344CB8AC3E}">
        <p14:creationId xmlns:p14="http://schemas.microsoft.com/office/powerpoint/2010/main" val="1209205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P spid="13" grpId="0"/>
    </p:bld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1279</TotalTime>
  <Words>3612</Words>
  <Application>Microsoft Office PowerPoint</Application>
  <PresentationFormat>Widescreen</PresentationFormat>
  <Paragraphs>470</Paragraphs>
  <Slides>51</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51</vt:i4>
      </vt:variant>
    </vt:vector>
  </HeadingPairs>
  <TitlesOfParts>
    <vt:vector size="60" baseType="lpstr">
      <vt:lpstr>Aptos</vt:lpstr>
      <vt:lpstr>Arial</vt:lpstr>
      <vt:lpstr>Calibri</vt:lpstr>
      <vt:lpstr>Calibri Light</vt:lpstr>
      <vt:lpstr>Courier New</vt:lpstr>
      <vt:lpstr>Google Sans</vt:lpstr>
      <vt:lpstr>Roboto</vt:lpstr>
      <vt:lpstr>Times New Roman</vt:lpstr>
      <vt:lpstr>Retrospect</vt:lpstr>
      <vt:lpstr>      Chapter1 Introduction to Data Structure</vt:lpstr>
      <vt:lpstr>Course Outcome</vt:lpstr>
      <vt:lpstr>Learning Outcomes </vt:lpstr>
      <vt:lpstr>What will we Learn</vt:lpstr>
      <vt:lpstr> The Need for Data Structures</vt:lpstr>
      <vt:lpstr>The Need for Data Structures</vt:lpstr>
      <vt:lpstr>Applications</vt:lpstr>
      <vt:lpstr>Need of Organization</vt:lpstr>
      <vt:lpstr>Selecting A Data Structure</vt:lpstr>
      <vt:lpstr>Data Structure Philosophy</vt:lpstr>
      <vt:lpstr>Definitions</vt:lpstr>
      <vt:lpstr>Abstract Data Types</vt:lpstr>
      <vt:lpstr>Difference between ADT and Data Structure</vt:lpstr>
      <vt:lpstr>Difference between ADT and UDT</vt:lpstr>
      <vt:lpstr>Classification </vt:lpstr>
      <vt:lpstr>Classification </vt:lpstr>
      <vt:lpstr>Classification </vt:lpstr>
      <vt:lpstr>Data Structures</vt:lpstr>
      <vt:lpstr>Array Representation</vt:lpstr>
      <vt:lpstr>Stack </vt:lpstr>
      <vt:lpstr>Stack Example </vt:lpstr>
      <vt:lpstr>Queue</vt:lpstr>
      <vt:lpstr>Queue example</vt:lpstr>
      <vt:lpstr>Graphs </vt:lpstr>
      <vt:lpstr>Graph Example</vt:lpstr>
      <vt:lpstr>Trees </vt:lpstr>
      <vt:lpstr>Tree Example </vt:lpstr>
      <vt:lpstr>OPERATIONS ON DATA STRUCTURES</vt:lpstr>
      <vt:lpstr>Operations </vt:lpstr>
      <vt:lpstr>Operations </vt:lpstr>
      <vt:lpstr>Operations </vt:lpstr>
      <vt:lpstr>Operations </vt:lpstr>
      <vt:lpstr>Operations </vt:lpstr>
      <vt:lpstr>Operations </vt:lpstr>
      <vt:lpstr>Analysis of Algorithms</vt:lpstr>
      <vt:lpstr>Time complexity</vt:lpstr>
      <vt:lpstr>Algorithmic Analysis Scenarios</vt:lpstr>
      <vt:lpstr>Expressing Time and Space complexity</vt:lpstr>
      <vt:lpstr>Expressing Time and Space complexity</vt:lpstr>
      <vt:lpstr>Asymptotic Notations </vt:lpstr>
      <vt:lpstr>Big - Oh </vt:lpstr>
      <vt:lpstr>Categories of Algorithm</vt:lpstr>
      <vt:lpstr>Omega Notation</vt:lpstr>
      <vt:lpstr>Theta Notation</vt:lpstr>
      <vt:lpstr>Complexities of various algorithms</vt:lpstr>
      <vt:lpstr>String Functions</vt:lpstr>
      <vt:lpstr>Bitwise Operators</vt:lpstr>
      <vt:lpstr>Bitwise Operators</vt:lpstr>
      <vt:lpstr>Check</vt:lpstr>
      <vt:lpstr>Check</vt:lpstr>
      <vt:lpstr>Check</vt:lpstr>
    </vt:vector>
  </TitlesOfParts>
  <Company>Winthrop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Need for Data Structures</dc:title>
  <dc:creator>Will Thacker</dc:creator>
  <cp:lastModifiedBy>Mrunal Fatangare</cp:lastModifiedBy>
  <cp:revision>54</cp:revision>
  <dcterms:created xsi:type="dcterms:W3CDTF">1999-01-12T01:21:59Z</dcterms:created>
  <dcterms:modified xsi:type="dcterms:W3CDTF">2026-07-10T05:10:45Z</dcterms:modified>
</cp:coreProperties>
</file>